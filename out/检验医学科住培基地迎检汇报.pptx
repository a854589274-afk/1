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B2A41"/>
                </a:solidFill>
                <a:latin typeface="+mn-lt"/>
              </a:rPr>
              <a:t>带教师资职称构成（人）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职称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bubble3D val="0"/>
            <c:spPr>
              <a:solidFill>
                <a:srgbClr val="2E8B9A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Pt>
            <c:idx val="3"/>
            <c:bubble3D val="0"/>
            <c:spPr>
              <a:solidFill>
                <a:srgbClr val="B3202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正高</c:v>
                </c:pt>
                <c:pt idx="1">
                  <c:v>副高</c:v>
                </c:pt>
                <c:pt idx="2">
                  <c:v>中级</c:v>
                </c:pt>
                <c:pt idx="3">
                  <c:v>初级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B2A41"/>
                </a:solidFill>
                <a:latin typeface="+mn-lt"/>
              </a:rPr>
              <a:t>各年级学员人数（人）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在培学员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2022级</c:v>
                  </c:pt>
                  <c:pt idx="1">
                    <c:v>2023级</c:v>
                  </c:pt>
                  <c:pt idx="2">
                    <c:v>2024级</c:v>
                  </c:pt>
                  <c:pt idx="3">
                    <c:v>2025级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结业学员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2022级</c:v>
                  </c:pt>
                  <c:pt idx="1">
                    <c:v>2023级</c:v>
                  </c:pt>
                  <c:pt idx="2">
                    <c:v>2024级</c:v>
                  </c:pt>
                  <c:pt idx="3">
                    <c:v>2025级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基地条件：数据为占位，请按实际替换。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A3"/>
                </a:solidFill>
              </a:rPr>
              <a:t>联勤保障部队第九四〇医院 · 检验医学科住培基地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029200" cy="5029200"/>
          </a:xfrm>
          <a:prstGeom prst="ellipse">
            <a:avLst/>
          </a:prstGeom>
          <a:solidFill>
            <a:srgbClr val="B3202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291840" cy="3291840"/>
          </a:xfrm>
          <a:prstGeom prst="ellipse">
            <a:avLst/>
          </a:prstGeom>
          <a:solidFill>
            <a:srgbClr val="2E8B9A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联勤保障部队第九四〇医院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2026年度国家住培评估迎检汇报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检验医学科专业基地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迎接国家住培基地检查汇报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548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汇报人：哈小琴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科　室：检验科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汇报日期：2026年10月28日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</a:rPr>
              <a:t>目录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7A8CA3"/>
                </a:solidFill>
              </a:rPr>
              <a:t>CONTENTS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37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基地概况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48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99"/>
                </a:solidFill>
              </a:rPr>
              <a:t>基地条件 · 师资结构 · 学员规模 · 结业情况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645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9A"/>
                </a:solidFill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737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教学管理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148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99"/>
                </a:solidFill>
              </a:rPr>
              <a:t>教学小组 · 会议 · 出科考核 · 管理制度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743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2834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师资队伍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99"/>
                </a:solidFill>
              </a:rPr>
              <a:t>带教分配 · 培训考核 · 激励 · 退出机制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2743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9A"/>
                </a:solidFill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834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轮转管理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99"/>
                </a:solidFill>
              </a:rPr>
              <a:t>轮转计划 · 入科教育 · 出科考核 · 交叉印证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8404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931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教学活动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343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99"/>
                </a:solidFill>
              </a:rPr>
              <a:t>教学查房 · 病例讨论 · 小讲课 · 技能训练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8404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38404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9A"/>
                </a:solidFill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3931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考核与病历管理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4343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99"/>
                </a:solidFill>
              </a:rPr>
              <a:t>考核资料 · 报告规范 · 技能训练 · 抽考准备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49377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07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1554480" y="5029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学员权益保障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440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99"/>
                </a:solidFill>
              </a:rPr>
              <a:t>待遇保障 · 合理排班 · 投诉反馈 · 宣教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49377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55080" y="49377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9A"/>
                </a:solidFill>
              </a:rPr>
              <a:t>08</a:t>
            </a:r>
            <a:endParaRPr lang="en-US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5029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持续改进与展望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5440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99"/>
                </a:solidFill>
              </a:rPr>
              <a:t>问题整改 · 不足 · 改进计划 · 发展目标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</a:rPr>
              <a:t>基地概况：基地条件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57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CA3"/>
                </a:solidFill>
              </a:rPr>
              <a:t>基地条件 · 师资结构 · 学员规模 · 结业情况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727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XX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年检测标本量（万份）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91840" y="15727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XX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开展检测项目（项）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15727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XX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实验室面积（㎡）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778240" y="146304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0" y="15727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XX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2286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核定住培容量（人）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20040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专业设置与布局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8862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临床体液血液、临床生化、临床免疫、临床微生物、分子诊断五大专业组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设置学员示教室、技能训练室、电子阅览与资料室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配备显微镜互动教学系统与教学数据库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320040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E6F1F3"/>
          </a:solidFill>
          <a:ln w="12700">
            <a:solidFill>
              <a:srgbClr val="E6F1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3337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设备与质量保障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8862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拥有全自动生化免疫流水线、血球及凝血、微生物质谱与自动培养系统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通过实验室质量管理体系认证，室内质控与室间质评持续合格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满足住培学员全流程操作与结果分析需求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</a:rPr>
              <a:t>基地概况：师资结构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57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CA3"/>
                </a:solidFill>
              </a:rPr>
              <a:t>示例数据，汇报前替换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71600"/>
          <a:ext cx="5120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463040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63640" y="1600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师资配置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1488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基地主任 1 名、教学主任 1 名、教学秘书 1 名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带教师资均具备中级及以上职称，从事检验工作 5 年以上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高级职称带教比例 XX%，硕博学历占比 XX%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384048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E6F1F3"/>
          </a:solidFill>
          <a:ln w="12700">
            <a:solidFill>
              <a:srgbClr val="E6F1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师资资质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45262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全部带教师资取得省级及以上师资培训合格证书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师生比 1 : X，满足国家基地标准要求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近三年承担院级以上教学课题 X 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</a:rPr>
              <a:t>基地概况：学员规模与结业情况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57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CA3"/>
                </a:solidFill>
              </a:rPr>
              <a:t>示例数据，汇报前替换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7160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4630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15727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XX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在培学员（人）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692640" y="14630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92640" y="157276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100%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969264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结业考核通过率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498080" y="310896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E6F1F3"/>
          </a:solidFill>
          <a:ln w="12700">
            <a:solidFill>
              <a:srgbClr val="E6F1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2668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结业去向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37947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本院及军队医院检验岗位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继续攻读专业型硕博士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学员满意度 XX%，岗位胜任力评价良好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</a:rPr>
              <a:t>教学管理：组织架构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57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CA3"/>
                </a:solidFill>
              </a:rPr>
              <a:t>教学小组 · 会议 · 出科考核 · 管理制度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80560" y="137160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B320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80560" y="1371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科室教学管理小组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组长：科主任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80760" y="2194560"/>
            <a:ext cx="0" cy="365760"/>
          </a:xfrm>
          <a:prstGeom prst="line">
            <a:avLst/>
          </a:prstGeom>
          <a:noFill/>
          <a:ln w="19050">
            <a:solidFill>
              <a:srgbClr val="7A8C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2560320"/>
            <a:ext cx="8138160" cy="0"/>
          </a:xfrm>
          <a:prstGeom prst="line">
            <a:avLst/>
          </a:prstGeom>
          <a:noFill/>
          <a:ln w="19050">
            <a:solidFill>
              <a:srgbClr val="7A8C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2560320"/>
            <a:ext cx="0" cy="365760"/>
          </a:xfrm>
          <a:prstGeom prst="line">
            <a:avLst/>
          </a:prstGeom>
          <a:noFill/>
          <a:ln w="19050">
            <a:solidFill>
              <a:srgbClr val="7A8C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26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926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教学主任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977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统筹培养方案与质量控制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2560320"/>
            <a:ext cx="0" cy="365760"/>
          </a:xfrm>
          <a:prstGeom prst="line">
            <a:avLst/>
          </a:prstGeom>
          <a:noFill/>
          <a:ln w="19050">
            <a:solidFill>
              <a:srgbClr val="7A8C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2926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83280" y="2926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教学秘书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383280" y="39776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20440" y="3977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日常管理、档案资料、排班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35240" y="2560320"/>
            <a:ext cx="0" cy="365760"/>
          </a:xfrm>
          <a:prstGeom prst="line">
            <a:avLst/>
          </a:prstGeom>
          <a:noFill/>
          <a:ln w="19050">
            <a:solidFill>
              <a:srgbClr val="7A8C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926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2926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专业组带教组长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17920" y="39776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3977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各亚专业带教落实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469880" y="2560320"/>
            <a:ext cx="0" cy="365760"/>
          </a:xfrm>
          <a:prstGeom prst="line">
            <a:avLst/>
          </a:prstGeom>
          <a:noFill/>
          <a:ln w="19050">
            <a:solidFill>
              <a:srgbClr val="7A8C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52560" y="2926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052560" y="2926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考核与督导员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052560" y="39776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89720" y="3977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出科考核与过程督导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职责明确、分工到人，形成“科主任负总责—教学主任抓落实—带教组长管过程”的三级管理链条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</a:rPr>
              <a:t>教学管理：会议与制度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57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CA3"/>
                </a:solidFill>
              </a:rPr>
              <a:t>教学小组 · 会议 · 出科考核 · 管理制度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教学例会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每月召开教学小组会议，总结培训进展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每季度召开师生座谈会，收集意见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会议记录完整、问题闭环、持续跟踪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E6F1F3"/>
          </a:solidFill>
          <a:ln w="12700">
            <a:solidFill>
              <a:srgbClr val="E6F1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出科考核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1488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理论 + 操作技能 + 综合评价三位一体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出科考核由带教组长与教学主任共同评定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结果及时反馈学员并归档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管理制度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148840"/>
            <a:ext cx="31089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住院医师规范化培训实施细则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带教师资管理与考核办法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轮转、请假、考勤与考核管理规定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教学档案与质量控制制度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</a:rPr>
              <a:t>师资队伍：带教分配与培训考核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57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CA3"/>
                </a:solidFill>
              </a:rPr>
              <a:t>带教分配 · 培训考核 · 激励 · 退出机制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822960" cy="82296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</a:rPr>
              <a:t>选拔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EF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7432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满足职称、工龄、教学能力条件，个人申请、科室推荐、医院审定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1554480"/>
            <a:ext cx="822960" cy="822960"/>
          </a:xfrm>
          <a:prstGeom prst="ellipse">
            <a:avLst/>
          </a:prstGeom>
          <a:solidFill>
            <a:srgbClr val="2E8B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</a:rPr>
              <a:t>分配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83280" y="26517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EF2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66160" y="27432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按专业组实行“一对一”或“一对二”带教，明确责任导师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822960" cy="82296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</a:rPr>
              <a:t>培训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17920" y="26517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EF2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27432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参加院级、省级及国家级师资培训，定期开展教学法与教学评价培训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0" y="1554480"/>
            <a:ext cx="822960" cy="822960"/>
          </a:xfrm>
          <a:prstGeom prst="ellipse">
            <a:avLst/>
          </a:prstGeom>
          <a:solidFill>
            <a:srgbClr val="2E8B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0104120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</a:rPr>
              <a:t>考核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052560" y="26517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EF2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35440" y="27432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学员评教、同行评议、教学督导、教学成果综合评价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全程可追溯：师资档案、培训证书、带教记录与考核结果均纳入教学档案管理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</a:rPr>
              <a:t>师资队伍：激励与退出机制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57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CA3"/>
                </a:solidFill>
              </a:rPr>
              <a:t>带教分配 · 培训考核 · 激励 · 退出机制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激励机制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设立带教津贴，按带教人数与质量核发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教学成果纳入职称晋升、评优评先和绩效考核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每年评选“优秀带教老师”，予以表彰奖励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支持师资外出进修、参加教学竞赛与学术交流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退出机制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4884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学员评教或教学督导连续不达标者，暂停带教资格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无故缺席教学活动、教学档案不完整者，限期整改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整改后仍不合格者，取消带教资格并重新培训考核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动态调整师资库，保证带教质量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</a:rPr>
              <a:t>轮转管理：轮转计划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57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CA3"/>
                </a:solidFill>
              </a:rPr>
              <a:t>轮转计划 · 入科教育 · 出科考核 · 交叉印证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1F4E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临床体液血液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2个月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23160" y="182880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2E8B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2316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临床生化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2个月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1F4E7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9768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临床免疫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2个月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2E8B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临床微生物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3个月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182880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1F4E7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分子诊断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1个月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921240" y="182880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2E8B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92124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质量管理与综合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92124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2个月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383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CA3"/>
                </a:solidFill>
              </a:rPr>
              <a:t>以上为示例轮转时长，请按本基地《培养方案》调整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制定原则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5262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严格依据国家《住院医师规范化培训内容与标准（检验医学科）》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个性化轮转表，保证各专业组学习时长与病种、技能要求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38404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E6F1F3"/>
          </a:solidFill>
          <a:ln w="12700">
            <a:solidFill>
              <a:srgbClr val="E6F1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3977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执行与调整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4526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轮转计划提前公示，轮转变更须经教学主任审批备案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教学秘书全程跟踪，轮转手册随时查阅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</a:rPr>
              <a:t>轮转管理：入科、出科与交叉印证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57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CA3"/>
                </a:solidFill>
              </a:rPr>
              <a:t>轮转计划 · 入科教育 · 出科考核 · 交叉印证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743200" cy="914400"/>
          </a:xfrm>
          <a:prstGeom prst="homePlate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入科教育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生物安全、医院感染、实验室规章、培训目标与考核要求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743200" cy="914400"/>
          </a:xfrm>
          <a:prstGeom prst="homePlate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554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过程带教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83280" y="26974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专业组带教老师按轮转大纲实施，登记轮转手册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743200" cy="914400"/>
          </a:xfrm>
          <a:prstGeom prst="homePlate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554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出科考核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26974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理论考试 + 操作技能 + 病例分析，形成书面评价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52560" y="1554480"/>
            <a:ext cx="2743200" cy="914400"/>
          </a:xfrm>
          <a:prstGeom prst="homePlate">
            <a:avLst/>
          </a:prstGeom>
          <a:solidFill>
            <a:srgbClr val="B320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0" y="1554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交叉印证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052560" y="26974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3544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轮转手册、考核成绩、操作登记、学员访谈相互印证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6F1F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交叉印证要点：学员自述记录 ↔ 带教老师签字 ↔ LIS 系统操作痕迹 ↔ 出科成绩，保证“记录真实、过程可溯、结果可信”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</a:rPr>
              <a:t>教学活动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57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CA3"/>
                </a:solidFill>
              </a:rPr>
              <a:t>教学查房 · 病例讨论 · 小讲课 · 技能训练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224028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教学查房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每月 1–2 次，结合临床科室疑难检验结果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学员汇报、带教点评、检验与临床联合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E6F1F3"/>
          </a:solidFill>
          <a:ln w="12700">
            <a:solidFill>
              <a:srgbClr val="E6F1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病例讨论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488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每月 1 次检验—临床联合病例讨论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围绕危急值、异常结果与项目选择解读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486400" cy="2240280"/>
          </a:xfrm>
          <a:prstGeom prst="roundRect">
            <a:avLst>
              <a:gd name="adj" fmla="val 4082"/>
            </a:avLst>
          </a:prstGeom>
          <a:solidFill>
            <a:srgbClr val="E6F1F3"/>
          </a:solidFill>
          <a:ln w="12700">
            <a:solidFill>
              <a:srgbClr val="E6F1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023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小讲课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720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每周 1 次，涵盖标准、质控、新技术与前沿进展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学员轮流主讲，带教老师点评并记录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8862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4023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技能训练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57200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显微镜镜检、血涂片、细菌鉴定、标本前处理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技能训练室定期开放，操作考核留痕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</a:rPr>
              <a:t>考核与病历管理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57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CA3"/>
                </a:solidFill>
              </a:rPr>
              <a:t>考核资料 · 报告规范 · 技能训练 · 抽考准备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考核资料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理论考试、操作考核、过程考核试题库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考核结果统一归档，一人一档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E6F1F3"/>
          </a:solidFill>
          <a:ln w="12700">
            <a:solidFill>
              <a:srgbClr val="E6F1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报告规范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1488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检验报告书写规范、结果审核与危急值记录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学员报告须经带教老师审核签发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技能训练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1488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必备操作项目清单与例数要求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操作登记、带教签字、定期核查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617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抽考准备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组织模拟抽考与技能演练，学员熟悉国家标准要求；资料、记录、示范操作三项提前预检，查缺补漏。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</a:rPr>
              <a:t>学员权益保障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57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CA3"/>
                </a:solidFill>
              </a:rPr>
              <a:t>待遇保障 · 合理排班 · 投诉反馈 · 宣教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EEF2F6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920240"/>
            <a:ext cx="914400" cy="9144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17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</a:rPr>
              <a:t>待遇保障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576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按规定足额发放工资、津贴及社保公积金，落实各项福利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64592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E6F1F3"/>
          </a:solidFill>
          <a:ln/>
        </p:spPr>
      </p:sp>
      <p:sp>
        <p:nvSpPr>
          <p:cNvPr id="12" name="Shape 10"/>
          <p:cNvSpPr/>
          <p:nvPr/>
        </p:nvSpPr>
        <p:spPr>
          <a:xfrm>
            <a:off x="4251960" y="1920240"/>
            <a:ext cx="914400" cy="914400"/>
          </a:xfrm>
          <a:prstGeom prst="ellipse">
            <a:avLst/>
          </a:prstGeom>
          <a:solidFill>
            <a:srgbClr val="2E8B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5196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017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</a:rPr>
              <a:t>合理排班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6576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严格执行工作时间规定，夜班值班与休息合理安排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EEF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1920240"/>
            <a:ext cx="914400" cy="9144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8660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017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</a:rPr>
              <a:t>投诉反馈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6576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设立意见箱与投诉渠道，教学秘书限时受理、答复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52560" y="164592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E6F1F3"/>
          </a:solidFill>
          <a:ln/>
        </p:spPr>
      </p:sp>
      <p:sp>
        <p:nvSpPr>
          <p:cNvPr id="22" name="Shape 20"/>
          <p:cNvSpPr/>
          <p:nvPr/>
        </p:nvSpPr>
        <p:spPr>
          <a:xfrm>
            <a:off x="9921240" y="1920240"/>
            <a:ext cx="914400" cy="914400"/>
          </a:xfrm>
          <a:prstGeom prst="ellipse">
            <a:avLst/>
          </a:prstGeom>
          <a:solidFill>
            <a:srgbClr val="2E8B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2124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3017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</a:rPr>
              <a:t>宣教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36576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入科宣讲学员权利义务，公示规章制度与培训标准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</a:rPr>
              <a:t>持续改进：问题整改与不足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57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CA3"/>
                </a:solidFill>
              </a:rPr>
              <a:t>问题整改 · 不足 · 改进计划 · 发展目标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E6F1F3"/>
          </a:solidFill>
          <a:ln w="12700">
            <a:solidFill>
              <a:srgbClr val="E6F1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既往问题整改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对上一轮督导反馈问题建立台账，逐项整改销号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完善带教记录与轮转手册填写规范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增设分子诊断与质量管理轮转内容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整改措施落实情况已纳入月度教学例会通报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当前不足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4884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高层次师资比例与教学科研能力有待提升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信息化教学与过程评价手段仍需完善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学员临床思维与检验—临床沟通能力培养需加强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教学资源与学员规模增长之间存在压力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</a:rPr>
              <a:t>持续改进：改进计划与发展目标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57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CA3"/>
                </a:solidFill>
              </a:rPr>
              <a:t>问题整改 · 不足 · 改进计划 · 发展目标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改进计划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建立带教师资梯队，引进与培养并重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上线住培过程管理信息系统，实现数据化督导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推进检验—临床联合教学，强化临床思维训练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E6F1F3"/>
          </a:solidFill>
          <a:ln w="12700">
            <a:solidFill>
              <a:srgbClr val="E6F1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发展目标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4884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建成国内一流的军队检验医学住培示范基地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师资全员达到省级及以上培训标准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学员结业考核通过率保持 100%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526280"/>
            <a:ext cx="274320" cy="27432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4434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2026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5029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夯实基础，通过国家评估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29000" y="4526280"/>
            <a:ext cx="274320" cy="27432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40480" y="4434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2027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5029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信息化平台上线运行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4526280"/>
            <a:ext cx="274320" cy="27432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4434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2028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5029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师资梯队建成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98280" y="4526280"/>
            <a:ext cx="274320" cy="274320"/>
          </a:xfrm>
          <a:prstGeom prst="ellipse">
            <a:avLst/>
          </a:prstGeom>
          <a:solidFill>
            <a:srgbClr val="B320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09760" y="4434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2030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5029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示范基地目标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4663440"/>
            <a:ext cx="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B3202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097280"/>
            <a:ext cx="3840480" cy="3840480"/>
          </a:xfrm>
          <a:prstGeom prst="ellipse">
            <a:avLst/>
          </a:prstGeom>
          <a:solidFill>
            <a:srgbClr val="2E8B9A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恳请各位专家批评指正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联勤保障部队第九四〇医院 · 检验医学科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spital940">
  <a:themeElements>
    <a:clrScheme name="Hospital940">
      <a:dk1>
        <a:srgbClr val="1B2A41"/>
      </a:dk1>
      <a:lt1>
        <a:srgbClr val="FFFFFF"/>
      </a:lt1>
      <a:dk2>
        <a:srgbClr val="1F4E79"/>
      </a:dk2>
      <a:lt2>
        <a:srgbClr val="EEF2F6"/>
      </a:lt2>
      <a:accent1>
        <a:srgbClr val="1F4E79"/>
      </a:accent1>
      <a:accent2>
        <a:srgbClr val="B3202A"/>
      </a:accent2>
      <a:accent3>
        <a:srgbClr val="2E8B9A"/>
      </a:accent3>
      <a:accent4>
        <a:srgbClr val="D9A441"/>
      </a:accent4>
      <a:accent5>
        <a:srgbClr val="5B7C99"/>
      </a:accent5>
      <a:accent6>
        <a:srgbClr val="7A8CA3"/>
      </a:accent6>
      <a:hlink>
        <a:srgbClr val="1F4E79"/>
      </a:hlink>
      <a:folHlink>
        <a:srgbClr val="5B7C99"/>
      </a:folHlink>
    </a:clrScheme>
    <a:fontScheme name="Hospital940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检验医学科专业基地迎接国家住培基地检查汇报</dc:title>
  <dc:subject>PptxGenJS Presentation</dc:subject>
  <dc:creator>PptxGenJS</dc:creator>
  <cp:lastModifiedBy>PptxGenJS</cp:lastModifiedBy>
  <cp:revision>1</cp:revision>
  <dcterms:created xsi:type="dcterms:W3CDTF">2026-10-24T09:33:56Z</dcterms:created>
  <dcterms:modified xsi:type="dcterms:W3CDTF">2026-10-24T09:33:56Z</dcterms:modified>
</cp:coreProperties>
</file>