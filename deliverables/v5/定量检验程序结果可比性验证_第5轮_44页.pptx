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61" r:id="rId4"/>
    <p:sldId id="259" r:id="rId5"/>
    <p:sldId id="294" r:id="rId6"/>
    <p:sldId id="295" r:id="rId7"/>
    <p:sldId id="296" r:id="rId8"/>
    <p:sldId id="260" r:id="rId9"/>
    <p:sldId id="262" r:id="rId10"/>
    <p:sldId id="263" r:id="rId11"/>
    <p:sldId id="264" r:id="rId12"/>
    <p:sldId id="265" r:id="rId13"/>
    <p:sldId id="266" r:id="rId14"/>
    <p:sldId id="297" r:id="rId15"/>
    <p:sldId id="267" r:id="rId16"/>
    <p:sldId id="298" r:id="rId17"/>
    <p:sldId id="268" r:id="rId18"/>
    <p:sldId id="299" r:id="rId19"/>
    <p:sldId id="304" r:id="rId46"/>
    <p:sldId id="305" r:id="rId47"/>
    <p:sldId id="306" r:id="rId48"/>
    <p:sldId id="279" r:id="rId35"/>
    <p:sldId id="301" r:id="rId36"/>
    <p:sldId id="280" r:id="rId37"/>
    <p:sldId id="288" r:id="rId38"/>
    <p:sldId id="289" r:id="rId39"/>
    <p:sldId id="290" r:id="rId40"/>
    <p:sldId id="307" r:id="rId49"/>
    <p:sldId id="272" r:id="rId20"/>
    <p:sldId id="269" r:id="rId21"/>
    <p:sldId id="270" r:id="rId22"/>
    <p:sldId id="300" r:id="rId23"/>
    <p:sldId id="273" r:id="rId24"/>
    <p:sldId id="271" r:id="rId25"/>
    <p:sldId id="274" r:id="rId26"/>
    <p:sldId id="283" r:id="rId27"/>
    <p:sldId id="284" r:id="rId28"/>
    <p:sldId id="285" r:id="rId29"/>
    <p:sldId id="286" r:id="rId30"/>
    <p:sldId id="275" r:id="rId31"/>
    <p:sldId id="287" r:id="rId32"/>
    <p:sldId id="276" r:id="rId33"/>
    <p:sldId id="277" r:id="rId34"/>
    <p:sldId id="302" r:id="rId41"/>
    <p:sldId id="303" r:id="rId42"/>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93" d="100"/>
          <a:sy n="93" d="100"/>
        </p:scale>
        <p:origin x="72"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28.xml"/><Relationship Id="rId21" Type="http://schemas.openxmlformats.org/officeDocument/2006/relationships/slide" Target="slides/slide29.xml"/><Relationship Id="rId22" Type="http://schemas.openxmlformats.org/officeDocument/2006/relationships/slide" Target="slides/slide30.xml"/><Relationship Id="rId23" Type="http://schemas.openxmlformats.org/officeDocument/2006/relationships/slide" Target="slides/slide31.xml"/><Relationship Id="rId24" Type="http://schemas.openxmlformats.org/officeDocument/2006/relationships/slide" Target="slides/slide32.xml"/><Relationship Id="rId25" Type="http://schemas.openxmlformats.org/officeDocument/2006/relationships/slide" Target="slides/slide33.xml"/><Relationship Id="rId26" Type="http://schemas.openxmlformats.org/officeDocument/2006/relationships/slide" Target="slides/slide34.xml"/><Relationship Id="rId27" Type="http://schemas.openxmlformats.org/officeDocument/2006/relationships/slide" Target="slides/slide35.xml"/><Relationship Id="rId28" Type="http://schemas.openxmlformats.org/officeDocument/2006/relationships/slide" Target="slides/slide36.xml"/><Relationship Id="rId29" Type="http://schemas.openxmlformats.org/officeDocument/2006/relationships/slide" Target="slides/slide37.xml"/><Relationship Id="rId30" Type="http://schemas.openxmlformats.org/officeDocument/2006/relationships/slide" Target="slides/slide38.xml"/><Relationship Id="rId31" Type="http://schemas.openxmlformats.org/officeDocument/2006/relationships/slide" Target="slides/slide39.xml"/><Relationship Id="rId32" Type="http://schemas.openxmlformats.org/officeDocument/2006/relationships/slide" Target="slides/slide40.xml"/><Relationship Id="rId33" Type="http://schemas.openxmlformats.org/officeDocument/2006/relationships/slide" Target="slides/slide41.xml"/><Relationship Id="rId34" Type="http://schemas.openxmlformats.org/officeDocument/2006/relationships/slide" Target="slides/slide42.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43.xml"/><Relationship Id="rId42" Type="http://schemas.openxmlformats.org/officeDocument/2006/relationships/slide" Target="slides/slide44.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ableStyles" Target="tableStyles.xml"/><Relationship Id="rId46" Type="http://schemas.openxmlformats.org/officeDocument/2006/relationships/slide" Target="slides/slide18.xml"/><Relationship Id="rId47" Type="http://schemas.openxmlformats.org/officeDocument/2006/relationships/slide" Target="slides/slide19.xml"/><Relationship Id="rId48" Type="http://schemas.openxmlformats.org/officeDocument/2006/relationships/slide" Target="slides/slide20.xml"/><Relationship Id="rId49"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条数</c:v>
                </c:pt>
              </c:strCache>
            </c:strRef>
          </c:tx>
          <c:explosion val="0"/>
          <c:dPt>
            <c:idx val="0"/>
            <c:bubble3D val="0"/>
            <c:spPr>
              <a:solidFill>
                <a:srgbClr val="1F3A5F"/>
              </a:solidFill>
              <a:ln>
                <a:solidFill>
                  <a:srgbClr val="FFFFFF"/>
                </a:solidFill>
              </a:ln>
            </c:spPr>
          </c:dPt>
          <c:dPt>
            <c:idx val="1"/>
            <c:bubble3D val="0"/>
            <c:spPr>
              <a:solidFill>
                <a:srgbClr val="2E5482"/>
              </a:solidFill>
              <a:ln>
                <a:solidFill>
                  <a:srgbClr val="FFFFFF"/>
                </a:solidFill>
              </a:ln>
            </c:spPr>
          </c:dPt>
          <c:dPt>
            <c:idx val="2"/>
            <c:bubble3D val="0"/>
            <c:spPr>
              <a:solidFill>
                <a:srgbClr val="E8833A"/>
              </a:solidFill>
              <a:ln>
                <a:solidFill>
                  <a:srgbClr val="FFFFFF"/>
                </a:solidFill>
              </a:ln>
            </c:spPr>
          </c:dPt>
          <c:dPt>
            <c:idx val="3"/>
            <c:bubble3D val="0"/>
            <c:spPr>
              <a:solidFill>
                <a:srgbClr val="5B7FA8"/>
              </a:solidFill>
              <a:ln>
                <a:solidFill>
                  <a:srgbClr val="FFFFFF"/>
                </a:solidFill>
              </a:ln>
            </c:spPr>
          </c:dPt>
          <c:dPt>
            <c:idx val="4"/>
            <c:bubble3D val="0"/>
            <c:spPr>
              <a:solidFill>
                <a:srgbClr val="7C98BB"/>
              </a:solidFill>
              <a:ln>
                <a:solidFill>
                  <a:srgbClr val="FFFFFF"/>
                </a:solidFill>
              </a:ln>
            </c:spPr>
          </c:dPt>
          <c:dPt>
            <c:idx val="5"/>
            <c:bubble3D val="0"/>
            <c:spPr>
              <a:solidFill>
                <a:srgbClr val="A3B6CE"/>
              </a:solidFill>
              <a:ln>
                <a:solidFill>
                  <a:srgbClr val="FFFFFF"/>
                </a:solidFill>
              </a:ln>
            </c:spPr>
          </c:dPt>
          <c:dLbls>
            <c:delete val="1"/>
          </c:dLbls>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pt idx="0" c:formatCode="General">
                  <c:v>5</c:v>
                </c:pt>
                <c:pt idx="1" c:formatCode="General">
                  <c:v>16</c:v>
                </c:pt>
                <c:pt idx="2" c:formatCode="General">
                  <c:v>11</c:v>
                </c:pt>
                <c:pt idx="3" c:formatCode="General">
                  <c:v>11</c:v>
                </c:pt>
                <c:pt idx="4" c:formatCode="General">
                  <c:v>9</c:v>
                </c:pt>
                <c:pt idx="5" c:formatCode="General">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值</c:v>
                </c:pt>
              </c:strCache>
            </c:strRef>
          </c:tx>
          <c:invertIfNegative val="0"/>
          <c:dPt>
            <c:idx val="0"/>
            <c:invertIfNegative val="0"/>
            <c:bubble3D val="0"/>
            <c:spPr>
              <a:solidFill>
                <a:srgbClr val="1F3A5F"/>
              </a:solidFill>
            </c:spPr>
          </c:dPt>
          <c:dPt>
            <c:idx val="1"/>
            <c:invertIfNegative val="0"/>
            <c:bubble3D val="0"/>
            <c:spPr>
              <a:solidFill>
                <a:srgbClr val="1F3A5F"/>
              </a:solidFill>
            </c:spPr>
          </c:dPt>
          <c:dPt>
            <c:idx val="2"/>
            <c:invertIfNegative val="0"/>
            <c:bubble3D val="0"/>
            <c:spPr>
              <a:solidFill>
                <a:srgbClr val="E8833A"/>
              </a:solidFill>
            </c:spPr>
          </c:dPt>
          <c:dPt>
            <c:idx val="3"/>
            <c:invertIfNegative val="0"/>
            <c:bubble3D val="0"/>
            <c:spPr>
              <a:solidFill>
                <a:srgbClr val="E8833A"/>
              </a:solidFill>
            </c:spPr>
          </c:dPt>
          <c:dPt>
            <c:idx val="4"/>
            <c:invertIfNegative val="0"/>
            <c:bubble3D val="0"/>
            <c:spPr>
              <a:solidFill>
                <a:srgbClr val="1F3A5F"/>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zh-CN" sz="1200" kern="1200">
                    <a:solidFill>
                      <a:schemeClr val="tx1"/>
                    </a:solidFill>
                    <a:latin typeface="Arial"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formatCode="General">
                  <c:v>5.05</c:v>
                </c:pt>
                <c:pt idx="1" c:formatCode="General">
                  <c:v>5.2</c:v>
                </c:pt>
                <c:pt idx="2" c:formatCode="General">
                  <c:v>4.85</c:v>
                </c:pt>
                <c:pt idx="3" c:formatCode="General">
                  <c:v>5.45</c:v>
                </c:pt>
                <c:pt idx="4" c:formatCode="General">
                  <c:v>5.1</c:v>
                </c:pt>
              </c:numCache>
            </c:numRef>
          </c:val>
        </c:ser>
        <c:dLbls>
          <c:showLegendKey val="0"/>
          <c:showVal val="1"/>
          <c:showCatName val="0"/>
          <c:showSerName val="0"/>
          <c:showPercent val="0"/>
          <c:showBubbleSize val="0"/>
        </c:dLbls>
        <c:gapWidth val="80"/>
        <c:axId val="-2068027336"/>
        <c:axId val="-2113994440"/>
      </c:barChart>
      <c:catAx>
        <c:axId val="-2068027336"/>
        <c:scaling>
          <c:orientation val="minMax"/>
        </c:scaling>
        <c:delete val="0"/>
        <c:axPos val="b"/>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113994440"/>
        <c:crosses val="autoZero"/>
        <c:auto val="1"/>
        <c:lblAlgn val="ctr"/>
        <c:lblOffset val="100"/>
        <c:noMultiLvlLbl val="0"/>
      </c:catAx>
      <c:valAx>
        <c:axId val="-2113994440"/>
        <c:scaling>
          <c:orientation val="minMax"/>
          <c:max val="6"/>
          <c:min val="0"/>
        </c:scaling>
        <c:delete val="0"/>
        <c:axPos val="l"/>
        <c:numFmt formatCode="General" sourceLinked="1"/>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068027336"/>
        <c:crosses val="autoZero"/>
        <c:crossBetween val="between"/>
      </c:valAx>
    </c:plotArea>
    <c:plotVisOnly val="1"/>
    <c:dispBlanksAs val="gap"/>
    <c:showDLblsOverMax val="0"/>
  </c:chart>
  <c:txPr>
    <a:bodyPr/>
    <a:lstStyle/>
    <a:p>
      <a:pPr>
        <a:defRPr lang="zh-CN" sz="1200">
          <a:latin typeface="Arial" charset="0"/>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
          <c:y val="0.08"/>
          <c:w val="0.82"/>
          <c:h val="0.76"/>
        </c:manualLayout>
      </c:layout>
      <c:barChart>
        <c:barDir val="col"/>
        <c:grouping val="clustered"/>
        <c:varyColors val="0"/>
        <c:ser>
          <c:idx val="0"/>
          <c:order val="0"/>
          <c:tx>
            <c:strRef>
              <c:f>Sheet1!$B$1</c:f>
              <c:strCache>
                <c:ptCount val="1"/>
                <c:pt idx="0">
                  <c:v>值</c:v>
                </c:pt>
              </c:strCache>
            </c:strRef>
          </c:tx>
          <c:invertIfNegative val="0"/>
          <c:dPt>
            <c:idx val="0"/>
            <c:invertIfNegative val="0"/>
            <c:bubble3D val="0"/>
            <c:spPr>
              <a:solidFill>
                <a:srgbClr val="2E9E5B"/>
              </a:solidFill>
            </c:spPr>
          </c:dPt>
          <c:dPt>
            <c:idx val="1"/>
            <c:invertIfNegative val="0"/>
            <c:bubble3D val="0"/>
            <c:spPr>
              <a:solidFill>
                <a:srgbClr val="2E9E5B"/>
              </a:solidFill>
            </c:spPr>
          </c:dPt>
          <c:dLbls>
            <c:numFmt formatCode="0.00&quot;%&quot;" sourceLinked="0"/>
            <c:spPr>
              <a:noFill/>
              <a:ln>
                <a:noFill/>
              </a:ln>
              <a:effectLst/>
            </c:spPr>
            <c:txPr>
              <a:bodyPr rot="0" spcFirstLastPara="0" vertOverflow="ellipsis" vert="horz" wrap="square" lIns="38100" tIns="19050" rIns="38100" bIns="19050" anchor="ctr" anchorCtr="1"/>
              <a:lstStyle/>
              <a:p>
                <a:pPr>
                  <a:defRPr lang="zh-CN" sz="1200" kern="1200">
                    <a:solidFill>
                      <a:schemeClr val="tx1"/>
                    </a:solidFill>
                    <a:latin typeface="Arial"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水平1</c:v>
                </c:pt>
                <c:pt idx="1">
                  <c:v>水平2</c:v>
                </c:pt>
              </c:strCache>
            </c:strRef>
          </c:cat>
          <c:val>
            <c:numRef>
              <c:f>Sheet1!$B$2:$B$3</c:f>
              <c:numCache>
                <c:formatCode>General</c:formatCode>
                <c:ptCount val="2"/>
                <c:pt idx="0" c:formatCode="General">
                  <c:v>2.64</c:v>
                </c:pt>
                <c:pt idx="1" c:formatCode="General">
                  <c:v>1.92</c:v>
                </c:pt>
              </c:numCache>
            </c:numRef>
          </c:val>
        </c:ser>
        <c:dLbls>
          <c:showLegendKey val="0"/>
          <c:showVal val="1"/>
          <c:showCatName val="0"/>
          <c:showSerName val="0"/>
          <c:showPercent val="0"/>
          <c:showBubbleSize val="0"/>
        </c:dLbls>
        <c:gapWidth val="80"/>
        <c:axId val="-2068027336"/>
        <c:axId val="-2113994440"/>
      </c:barChart>
      <c:catAx>
        <c:axId val="-2068027336"/>
        <c:scaling>
          <c:orientation val="minMax"/>
        </c:scaling>
        <c:delete val="0"/>
        <c:axPos val="b"/>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113994440"/>
        <c:crosses val="autoZero"/>
        <c:auto val="1"/>
        <c:lblAlgn val="ctr"/>
        <c:lblOffset val="100"/>
        <c:noMultiLvlLbl val="0"/>
      </c:catAx>
      <c:valAx>
        <c:axId val="-2113994440"/>
        <c:scaling>
          <c:orientation val="minMax"/>
          <c:max val="8"/>
          <c:min val="0"/>
        </c:scaling>
        <c:delete val="0"/>
        <c:axPos val="l"/>
        <c:numFmt formatCode="General" sourceLinked="1"/>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068027336"/>
        <c:crosses val="autoZero"/>
        <c:crossBetween val="between"/>
      </c:valAx>
    </c:plotArea>
    <c:plotVisOnly val="1"/>
    <c:dispBlanksAs val="gap"/>
    <c:showDLblsOverMax val="0"/>
  </c:chart>
  <c:txPr>
    <a:bodyPr/>
    <a:lstStyle/>
    <a:p>
      <a:pPr>
        <a:defRPr lang="zh-CN" sz="1200">
          <a:latin typeface="Arial" charset="0"/>
        </a:defRPr>
      </a:p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p:nvPr>
            <p:ph type="dt" sz="half" idx="10"/>
          </p:nvPr>
        </p:nvSpPr>
        <p:spPr/>
        <p:txBody>
          <a:bodyPr/>
          <a:lstStyle/>
          <a:p>
            <a:fld id="{EB6F81C3-60CC-424B-9874-BB666C87B1E4}"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日期占位符 2"/>
          <p:cNvSpPr/>
          <p:nvPr>
            <p:ph type="dt" sz="half" idx="10"/>
          </p:nvPr>
        </p:nvSpPr>
        <p:spPr/>
        <p:txBody>
          <a:bodyPr/>
          <a:lstStyle/>
          <a:p>
            <a:fld id="{EB6F81C3-60CC-424B-9874-BB666C87B1E4}"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EB6F81C3-60CC-424B-9874-BB666C87B1E4}"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81C3-60CC-424B-9874-BB666C87B1E4}"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D8C47-4397-4510-B834-F5C1A45EE2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image" Target="../media/image85.png"/></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slideLayout" Target="../slideLayouts/slideLayout1.xml"/><Relationship Id="rId5" Type="http://schemas.openxmlformats.org/officeDocument/2006/relationships/image" Target="../media/image85.png"/></Relationships>
</file>

<file path=ppt/slides/_rels/slide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png"/><Relationship Id="rId3" Type="http://schemas.openxmlformats.org/officeDocument/2006/relationships/image" Target="../media/image12.jpeg"/><Relationship Id="rId4" Type="http://schemas.openxmlformats.org/officeDocument/2006/relationships/slideLayout" Target="../slideLayouts/slideLayout1.xml"/><Relationship Id="rId5" Type="http://schemas.openxmlformats.org/officeDocument/2006/relationships/image" Target="../media/image85.png"/></Relationships>
</file>

<file path=ppt/slides/_rels/slide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jpe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10.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 Id="rId6" Type="http://schemas.openxmlformats.org/officeDocument/2006/relationships/slideLayout" Target="../slideLayouts/slideLayout1.xml"/><Relationship Id="rId7" Type="http://schemas.openxmlformats.org/officeDocument/2006/relationships/image" Target="../media/image85.png"/></Relationships>
</file>

<file path=ppt/slides/_rels/slide1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12.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1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14.xml.rels><?xml version='1.0' encoding='UTF-8' standalone='yes'?>
<Relationships xmlns="http://schemas.openxmlformats.org/package/2006/relationships"><Relationship Id="rId1" Type="http://schemas.openxmlformats.org/officeDocument/2006/relationships/image" Target="../media/image25.emf"/><Relationship Id="rId2" Type="http://schemas.openxmlformats.org/officeDocument/2006/relationships/image" Target="../media/image26.png"/><Relationship Id="rId3" Type="http://schemas.openxmlformats.org/officeDocument/2006/relationships/slideLayout" Target="../slideLayouts/slideLayout1.xml"/><Relationship Id="rId4" Type="http://schemas.openxmlformats.org/officeDocument/2006/relationships/image" Target="../media/image85.png"/><Relationship Id="rId5" Type="http://schemas.openxmlformats.org/officeDocument/2006/relationships/image" Target="../media/image86.png"/></Relationships>
</file>

<file path=ppt/slides/_rels/slide15.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16.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jpeg"/><Relationship Id="rId3" Type="http://schemas.openxmlformats.org/officeDocument/2006/relationships/image" Target="../media/image30.jpeg"/><Relationship Id="rId4" Type="http://schemas.openxmlformats.org/officeDocument/2006/relationships/image" Target="../media/image31.jpeg"/><Relationship Id="rId5" Type="http://schemas.openxmlformats.org/officeDocument/2006/relationships/slideLayout" Target="../slideLayouts/slideLayout1.xml"/><Relationship Id="rId6" Type="http://schemas.openxmlformats.org/officeDocument/2006/relationships/image" Target="../media/image85.png"/></Relationships>
</file>

<file path=ppt/slides/_rels/slide17.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5.png"/><Relationship Id="rId4" Type="http://schemas.openxmlformats.org/officeDocument/2006/relationships/image" Target="../media/image8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5.png"/></Relationships>
</file>

<file path=ppt/slides/_rels/slide21.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22.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23.xml.rels><?xml version='1.0' encoding='UTF-8' standalone='yes'?>
<Relationships xmlns="http://schemas.openxmlformats.org/package/2006/relationships"><Relationship Id="rId1" Type="http://schemas.openxmlformats.org/officeDocument/2006/relationships/image" Target="../media/image68.jpeg"/><Relationship Id="rId2" Type="http://schemas.openxmlformats.org/officeDocument/2006/relationships/image" Target="../media/image69.pn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24.xml.rels><?xml version='1.0' encoding='UTF-8' standalone='yes'?>
<Relationships xmlns="http://schemas.openxmlformats.org/package/2006/relationships"><Relationship Id="rId1" Type="http://schemas.openxmlformats.org/officeDocument/2006/relationships/image" Target="../media/image70.jpeg"/><Relationship Id="rId2" Type="http://schemas.openxmlformats.org/officeDocument/2006/relationships/image" Target="../media/image71.jpe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image" Target="../media/image85.png"/></Relationships>
</file>

<file path=ppt/slides/_rels/slide25.xml.rels><?xml version='1.0' encoding='UTF-8' standalone='yes'?>
<Relationships xmlns="http://schemas.openxmlformats.org/package/2006/relationships"><Relationship Id="rId1" Type="http://schemas.openxmlformats.org/officeDocument/2006/relationships/image" Target="../media/image73.jpeg"/><Relationship Id="rId2" Type="http://schemas.openxmlformats.org/officeDocument/2006/relationships/image" Target="../media/image74.jpeg"/><Relationship Id="rId3" Type="http://schemas.openxmlformats.org/officeDocument/2006/relationships/image" Target="../media/image75.png"/><Relationship Id="rId4" Type="http://schemas.openxmlformats.org/officeDocument/2006/relationships/slideLayout" Target="../slideLayouts/slideLayout1.xml"/><Relationship Id="rId5" Type="http://schemas.openxmlformats.org/officeDocument/2006/relationships/image" Target="../media/image85.png"/></Relationships>
</file>

<file path=ppt/slides/_rels/slide2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76.jpeg"/><Relationship Id="rId3" Type="http://schemas.openxmlformats.org/officeDocument/2006/relationships/image" Target="../media/image77.jpeg"/><Relationship Id="rId4" Type="http://schemas.openxmlformats.org/officeDocument/2006/relationships/image" Target="../media/image78.png"/><Relationship Id="rId5" Type="http://schemas.openxmlformats.org/officeDocument/2006/relationships/slideLayout" Target="../slideLayouts/slideLayout1.xml"/><Relationship Id="rId6" Type="http://schemas.openxmlformats.org/officeDocument/2006/relationships/image" Target="../media/image8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s>
</file>

<file path=ppt/slides/_rels/slide28.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Relationship Id="rId3" Type="http://schemas.openxmlformats.org/officeDocument/2006/relationships/image" Target="../media/image85.png"/><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31.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32.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jpe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33.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slideLayout" Target="../slideLayouts/slideLayout1.xml"/><Relationship Id="rId8" Type="http://schemas.openxmlformats.org/officeDocument/2006/relationships/image" Target="../media/image85.png"/></Relationships>
</file>

<file path=ppt/slides/_rels/slide34.x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jpeg"/><Relationship Id="rId5" Type="http://schemas.openxmlformats.org/officeDocument/2006/relationships/image" Target="../media/image49.png"/><Relationship Id="rId6" Type="http://schemas.openxmlformats.org/officeDocument/2006/relationships/slideLayout" Target="../slideLayouts/slideLayout1.xml"/><Relationship Id="rId7" Type="http://schemas.openxmlformats.org/officeDocument/2006/relationships/image" Target="../media/image85.png"/></Relationships>
</file>

<file path=ppt/slides/_rels/slide35.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jpe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36.xml.rels><?xml version='1.0' encoding='UTF-8' standalone='yes'?>
<Relationships xmlns="http://schemas.openxmlformats.org/package/2006/relationships"><Relationship Id="rId1" Type="http://schemas.openxmlformats.org/officeDocument/2006/relationships/image" Target="../media/image52.jpeg"/><Relationship Id="rId2" Type="http://schemas.openxmlformats.org/officeDocument/2006/relationships/image" Target="../media/image53.jpeg"/><Relationship Id="rId3" Type="http://schemas.openxmlformats.org/officeDocument/2006/relationships/image" Target="../media/image54.png"/><Relationship Id="rId4" Type="http://schemas.openxmlformats.org/officeDocument/2006/relationships/slideLayout" Target="../slideLayouts/slideLayout1.xml"/><Relationship Id="rId5" Type="http://schemas.openxmlformats.org/officeDocument/2006/relationships/image" Target="../media/image85.png"/></Relationships>
</file>

<file path=ppt/slides/_rels/slide37.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slideLayout" Target="../slideLayouts/slideLayout1.xml"/><Relationship Id="rId8"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39.xml.rels><?xml version='1.0' encoding='UTF-8' standalone='yes'?>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4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63.pn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42.xml.rels><?xml version='1.0' encoding='UTF-8' standalone='yes'?>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xml"/><Relationship Id="rId3" Type="http://schemas.openxmlformats.org/officeDocument/2006/relationships/image" Target="../media/image85.png"/></Relationships>
</file>

<file path=ppt/slides/_rels/slide43.xml.rels><?xml version='1.0' encoding='UTF-8' standalone='yes'?>
<Relationships xmlns="http://schemas.openxmlformats.org/package/2006/relationships"><Relationship Id="rId1" Type="http://schemas.openxmlformats.org/officeDocument/2006/relationships/image" Target="../media/image79.png"/><Relationship Id="rId2" Type="http://schemas.openxmlformats.org/officeDocument/2006/relationships/slideLayout" Target="../slideLayouts/slideLayout7.xml"/><Relationship Id="rId3" Type="http://schemas.openxmlformats.org/officeDocument/2006/relationships/image" Target="../media/image85.png"/></Relationships>
</file>

<file path=ppt/slides/_rels/slide44.xml.rels><?xml version='1.0' encoding='UTF-8' standalone='yes'?>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7.xml"/><Relationship Id="rId3" Type="http://schemas.openxmlformats.org/officeDocument/2006/relationships/image" Target="../media/image85.png"/><Relationship Id="rId4"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01_1.png"/>
          <p:cNvPicPr>
            <a:picLocks noChangeAspect="1"/>
          </p:cNvPicPr>
          <p:nvPr/>
        </p:nvPicPr>
        <p:blipFill>
          <a:blip r:embed="rId1"/>
          <a:stretch>
            <a:fillRect/>
          </a:stretch>
        </p:blipFill>
        <p:spPr>
          <a:xfrm>
            <a:off x="0" y="0"/>
            <a:ext cx="12191695" cy="6858000"/>
          </a:xfrm>
          <a:prstGeom prst="rect">
            <a:avLst/>
          </a:prstGeom>
        </p:spPr>
      </p:pic>
      <p:sp>
        <p:nvSpPr>
          <p:cNvPr id="4" name="TextBox 3"/>
          <p:cNvSpPr txBox="1"/>
          <p:nvPr/>
        </p:nvSpPr>
        <p:spPr>
          <a:xfrm>
            <a:off x="548640" y="1600200"/>
            <a:ext cx="6376492" cy="1471168"/>
          </a:xfrm>
          <a:prstGeom prst="rect">
            <a:avLst/>
          </a:prstGeom>
          <a:noFill/>
        </p:spPr>
        <p:txBody>
          <a:bodyPr wrap="square" lIns="0" tIns="0" rIns="0" bIns="0" anchor="t">
            <a:noAutofit/>
          </a:bodyPr>
          <a:lstStyle/>
          <a:p>
            <a:pPr algn="l">
              <a:lnSpc>
                <a:spcPts val="5520"/>
              </a:lnSpc>
              <a:spcBef>
                <a:spcPts val="0"/>
              </a:spcBef>
              <a:spcAft>
                <a:spcPts val="0"/>
              </a:spcAft>
              <a:buNone/>
            </a:pPr>
            <a:r>
              <a:rPr sz="4800" b="1">
                <a:solidFill>
                  <a:srgbClr val="FFFFFF"/>
                </a:solidFill>
                <a:latin typeface="Arial" charset="0"/>
                <a:ea typeface="微软雅黑"/>
                <a:cs typeface="Arial" charset="0"/>
              </a:rPr>
              <a:t>定量检验程序</a:t>
            </a:r>
            <a:endParaRPr sz="4800" b="1">
              <a:solidFill>
                <a:srgbClr val="FFFFFF"/>
              </a:solidFill>
              <a:latin typeface="Arial" charset="0"/>
              <a:ea typeface="微软雅黑"/>
              <a:cs typeface="Arial" charset="0"/>
            </a:endParaRPr>
          </a:p>
          <a:p>
            <a:pPr algn="l">
              <a:lnSpc>
                <a:spcPts val="5520"/>
              </a:lnSpc>
              <a:spcBef>
                <a:spcPts val="400"/>
              </a:spcBef>
              <a:spcAft>
                <a:spcPts val="0"/>
              </a:spcAft>
              <a:buNone/>
            </a:pPr>
            <a:r>
              <a:rPr sz="4800" b="1">
                <a:solidFill>
                  <a:srgbClr val="FFFFFF"/>
                </a:solidFill>
                <a:latin typeface="Arial" charset="0"/>
                <a:ea typeface="微软雅黑"/>
                <a:cs typeface="Arial" charset="0"/>
              </a:rPr>
              <a:t>结果可比性验证</a:t>
            </a:r>
            <a:endParaRPr sz="4800" b="1">
              <a:solidFill>
                <a:srgbClr val="FFFFFF"/>
              </a:solidFill>
              <a:latin typeface="Arial" charset="0"/>
              <a:ea typeface="微软雅黑"/>
              <a:cs typeface="Arial" charset="0"/>
            </a:endParaRPr>
          </a:p>
        </p:txBody>
      </p:sp>
      <p:sp>
        <p:nvSpPr>
          <p:cNvPr id="5" name="TextBox 4"/>
          <p:cNvSpPr txBox="1"/>
          <p:nvPr/>
        </p:nvSpPr>
        <p:spPr>
          <a:xfrm>
            <a:off x="548640" y="32999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charset="0"/>
                <a:ea typeface="微软雅黑"/>
                <a:cs typeface="Arial" charset="0"/>
              </a:rPr>
              <a:t>WS/T 407-2012 &amp; CNAS-GL047:2021 解读与我科应用</a:t>
            </a:r>
            <a:endParaRPr sz="2000" b="0">
              <a:solidFill>
                <a:srgbClr val="9FE3DE"/>
              </a:solidFill>
              <a:latin typeface="Arial" charset="0"/>
              <a:ea typeface="微软雅黑"/>
              <a:cs typeface="Arial" charset="0"/>
            </a:endParaRPr>
          </a:p>
        </p:txBody>
      </p:sp>
      <p:sp>
        <p:nvSpPr>
          <p:cNvPr id="6" name="TextBox 5"/>
          <p:cNvSpPr txBox="1"/>
          <p:nvPr/>
        </p:nvSpPr>
        <p:spPr>
          <a:xfrm>
            <a:off x="548640" y="3988816"/>
            <a:ext cx="6376492" cy="445008"/>
          </a:xfrm>
          <a:prstGeom prst="rect">
            <a:avLst/>
          </a:prstGeom>
          <a:noFill/>
        </p:spPr>
        <p:txBody>
          <a:bodyPr wrap="square" lIns="0" tIns="0" rIns="0" bIns="0" anchor="t">
            <a:noAutofit/>
          </a:bodyPr>
          <a:lstStyle/>
          <a:p>
            <a:pPr algn="l">
              <a:lnSpc>
                <a:spcPts val="3360"/>
              </a:lnSpc>
              <a:spcBef>
                <a:spcPts val="0"/>
              </a:spcBef>
              <a:spcAft>
                <a:spcPts val="0"/>
              </a:spcAft>
              <a:buNone/>
            </a:pPr>
            <a:r>
              <a:rPr sz="2800" b="1">
                <a:solidFill>
                  <a:srgbClr val="FFFFFF"/>
                </a:solidFill>
                <a:latin typeface="Arial" charset="0"/>
                <a:ea typeface="微软雅黑"/>
                <a:cs typeface="Arial" charset="0"/>
              </a:rPr>
              <a:t>哈 小 琴</a:t>
            </a:r>
            <a:endParaRPr sz="2800" b="1">
              <a:solidFill>
                <a:srgbClr val="FFFFFF"/>
              </a:solidFill>
              <a:latin typeface="Arial" charset="0"/>
              <a:ea typeface="微软雅黑"/>
              <a:cs typeface="Arial" charset="0"/>
            </a:endParaRPr>
          </a:p>
        </p:txBody>
      </p:sp>
      <p:sp>
        <p:nvSpPr>
          <p:cNvPr id="7" name="TextBox 6"/>
          <p:cNvSpPr txBox="1"/>
          <p:nvPr/>
        </p:nvSpPr>
        <p:spPr>
          <a:xfrm>
            <a:off x="548640" y="4662423"/>
            <a:ext cx="6376492" cy="262128"/>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C9D3DF"/>
                </a:solidFill>
                <a:latin typeface="Arial" charset="0"/>
                <a:ea typeface="微软雅黑"/>
                <a:cs typeface="Arial" charset="0"/>
              </a:rPr>
              <a:t>第940医院检验科　·　2026年　月　日</a:t>
            </a:r>
            <a:endParaRPr sz="1600" b="0">
              <a:solidFill>
                <a:srgbClr val="C9D3DF"/>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charset="0"/>
                <a:ea typeface="微软雅黑"/>
                <a:cs typeface="Arial" charset="0"/>
              </a:rPr>
              <a:t>1</a:t>
            </a:r>
            <a:endParaRPr sz="1200" b="0">
              <a:solidFill>
                <a:srgbClr val="C9D3DF"/>
              </a:solidFill>
              <a:latin typeface="Arial" charset="0"/>
              <a:ea typeface="微软雅黑"/>
              <a:cs typeface="Arial" charset="0"/>
            </a:endParaRPr>
          </a:p>
        </p:txBody>
      </p:sp>
      <p:pic>
        <p:nvPicPr>
          <p:cNvPr id="10"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本讲要回答的三个问题</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a:t>
            </a:r>
            <a:endParaRPr sz="1200" b="0">
              <a:solidFill>
                <a:srgbClr val="6B7280"/>
              </a:solidFill>
              <a:latin typeface="Arial" charset="0"/>
              <a:ea typeface="微软雅黑"/>
              <a:cs typeface="Arial" charset="0"/>
            </a:endParaRPr>
          </a:p>
        </p:txBody>
      </p:sp>
      <p:grpSp>
        <p:nvGrpSpPr>
          <p:cNvPr id="7" name="QBOX"/>
          <p:cNvGrpSpPr/>
          <p:nvPr/>
        </p:nvGrpSpPr>
        <p:grpSpPr>
          <a:xfrm>
            <a:off x="548640" y="1554480"/>
            <a:ext cx="11094415" cy="1198880"/>
            <a:chOff x="548640" y="1554480"/>
            <a:chExt cx="11094415" cy="1198880"/>
          </a:xfrm>
        </p:grpSpPr>
        <p:sp>
          <p:nvSpPr>
            <p:cNvPr id="8" name="Rounded Rectangle 7"/>
            <p:cNvSpPr/>
            <p:nvPr/>
          </p:nvSpPr>
          <p:spPr>
            <a:xfrm>
              <a:off x="548640" y="1554480"/>
              <a:ext cx="11094415" cy="1198880"/>
            </a:xfrm>
            <a:prstGeom prst="roundRect">
              <a:avLst>
                <a:gd name="adj" fmla="val 610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0" name="TextBox 9"/>
            <p:cNvSpPr txBox="1"/>
            <p:nvPr/>
          </p:nvSpPr>
          <p:spPr>
            <a:xfrm>
              <a:off x="960120" y="1691639"/>
              <a:ext cx="10545775" cy="93370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222222"/>
                  </a:solidFill>
                  <a:latin typeface="Arial" charset="0"/>
                  <a:ea typeface="微软雅黑"/>
                  <a:cs typeface="Arial" charset="0"/>
                </a:rPr>
                <a:t>本讲依据：</a:t>
              </a:r>
              <a:endParaRPr sz="1800" b="1">
                <a:solidFill>
                  <a:srgbClr val="222222"/>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WS/T 407-2012《医疗机构内定量检验结果的可比性验证指南》</a:t>
              </a:r>
              <a:endParaRPr sz="1800" b="0">
                <a:solidFill>
                  <a:srgbClr val="222222"/>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CNAS-GL047:2021《医学实验室定量检验程序结果可比性验证指南》</a:t>
              </a:r>
              <a:endParaRPr sz="1800" b="0">
                <a:solidFill>
                  <a:srgbClr val="222222"/>
                </a:solidFill>
                <a:latin typeface="Arial" charset="0"/>
                <a:ea typeface="微软雅黑"/>
                <a:cs typeface="Arial" charset="0"/>
              </a:endParaRPr>
            </a:p>
          </p:txBody>
        </p:sp>
        <p:sp>
          <p:nvSpPr>
            <p:cNvPr id="11" name="CITE"/>
            <p:cNvSpPr txBox="1"/>
            <p:nvPr/>
          </p:nvSpPr>
          <p:spPr>
            <a:xfrm>
              <a:off x="9894337" y="2369312"/>
              <a:ext cx="161155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本讲依据文件</a:t>
              </a:r>
              <a:endParaRPr sz="1200" b="0">
                <a:solidFill>
                  <a:srgbClr val="1F3A5F"/>
                </a:solidFill>
                <a:latin typeface="Arial" charset="0"/>
                <a:ea typeface="微软雅黑"/>
                <a:cs typeface="Arial" charset="0"/>
              </a:endParaRPr>
            </a:p>
          </p:txBody>
        </p:sp>
      </p:grpSp>
      <p:grpSp>
        <p:nvGrpSpPr>
          <p:cNvPr id="12" name="CARD"/>
          <p:cNvGrpSpPr/>
          <p:nvPr/>
        </p:nvGrpSpPr>
        <p:grpSpPr>
          <a:xfrm>
            <a:off x="548640" y="2981960"/>
            <a:ext cx="3545738" cy="2346960"/>
            <a:chOff x="548640" y="2981960"/>
            <a:chExt cx="3545738" cy="2346960"/>
          </a:xfrm>
        </p:grpSpPr>
        <p:sp>
          <p:nvSpPr>
            <p:cNvPr id="13" name="Rounded Rectangle 12"/>
            <p:cNvSpPr/>
            <p:nvPr/>
          </p:nvSpPr>
          <p:spPr>
            <a:xfrm>
              <a:off x="548640"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02_1-1.png"/>
            <p:cNvPicPr>
              <a:picLocks noChangeAspect="1"/>
            </p:cNvPicPr>
            <p:nvPr/>
          </p:nvPicPr>
          <p:blipFill>
            <a:blip r:embed="rId1"/>
            <a:stretch>
              <a:fillRect/>
            </a:stretch>
          </p:blipFill>
          <p:spPr>
            <a:xfrm>
              <a:off x="1818589" y="3119120"/>
              <a:ext cx="1005840" cy="1005840"/>
            </a:xfrm>
            <a:prstGeom prst="rect">
              <a:avLst/>
            </a:prstGeom>
          </p:spPr>
        </p:pic>
        <p:sp>
          <p:nvSpPr>
            <p:cNvPr id="15" name="TextBox 14"/>
            <p:cNvSpPr txBox="1"/>
            <p:nvPr/>
          </p:nvSpPr>
          <p:spPr>
            <a:xfrm>
              <a:off x="685800"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charset="0"/>
                  <a:ea typeface="微软雅黑"/>
                  <a:cs typeface="Arial" charset="0"/>
                </a:rPr>
                <a:t>为什么检验结果必须可比？</a:t>
              </a:r>
              <a:endParaRPr sz="3200" b="1">
                <a:solidFill>
                  <a:srgbClr val="C0392B"/>
                </a:solidFill>
                <a:latin typeface="Arial" charset="0"/>
                <a:ea typeface="微软雅黑"/>
                <a:cs typeface="Arial" charset="0"/>
              </a:endParaRPr>
            </a:p>
          </p:txBody>
        </p:sp>
      </p:grpSp>
      <p:grpSp>
        <p:nvGrpSpPr>
          <p:cNvPr id="16" name="CARD"/>
          <p:cNvGrpSpPr/>
          <p:nvPr/>
        </p:nvGrpSpPr>
        <p:grpSpPr>
          <a:xfrm>
            <a:off x="4322978" y="2981960"/>
            <a:ext cx="3545738" cy="2346960"/>
            <a:chOff x="4322978" y="2981960"/>
            <a:chExt cx="3545738" cy="2346960"/>
          </a:xfrm>
        </p:grpSpPr>
        <p:sp>
          <p:nvSpPr>
            <p:cNvPr id="17" name="Rounded Rectangle 16"/>
            <p:cNvSpPr/>
            <p:nvPr/>
          </p:nvSpPr>
          <p:spPr>
            <a:xfrm>
              <a:off x="4322978"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02_1-2.png"/>
            <p:cNvPicPr>
              <a:picLocks noChangeAspect="1"/>
            </p:cNvPicPr>
            <p:nvPr/>
          </p:nvPicPr>
          <p:blipFill>
            <a:blip r:embed="rId2"/>
            <a:stretch>
              <a:fillRect/>
            </a:stretch>
          </p:blipFill>
          <p:spPr>
            <a:xfrm>
              <a:off x="5592927" y="3119120"/>
              <a:ext cx="1005840" cy="1005840"/>
            </a:xfrm>
            <a:prstGeom prst="rect">
              <a:avLst/>
            </a:prstGeom>
          </p:spPr>
        </p:pic>
        <p:sp>
          <p:nvSpPr>
            <p:cNvPr id="19" name="TextBox 18"/>
            <p:cNvSpPr txBox="1"/>
            <p:nvPr/>
          </p:nvSpPr>
          <p:spPr>
            <a:xfrm>
              <a:off x="4460138"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charset="0"/>
                  <a:ea typeface="微软雅黑"/>
                  <a:cs typeface="Arial" charset="0"/>
                </a:rPr>
                <a:t>不同检验程序检验结果怎么比？</a:t>
              </a:r>
              <a:endParaRPr sz="3200" b="1">
                <a:solidFill>
                  <a:srgbClr val="C0392B"/>
                </a:solidFill>
                <a:latin typeface="Arial" charset="0"/>
                <a:ea typeface="微软雅黑"/>
                <a:cs typeface="Arial" charset="0"/>
              </a:endParaRPr>
            </a:p>
          </p:txBody>
        </p:sp>
      </p:grpSp>
      <p:grpSp>
        <p:nvGrpSpPr>
          <p:cNvPr id="20" name="CARD"/>
          <p:cNvGrpSpPr/>
          <p:nvPr/>
        </p:nvGrpSpPr>
        <p:grpSpPr>
          <a:xfrm>
            <a:off x="8097316" y="2981960"/>
            <a:ext cx="3545738" cy="2346960"/>
            <a:chOff x="8097316" y="2981960"/>
            <a:chExt cx="3545738" cy="2346960"/>
          </a:xfrm>
        </p:grpSpPr>
        <p:sp>
          <p:nvSpPr>
            <p:cNvPr id="21" name="Rounded Rectangle 20"/>
            <p:cNvSpPr/>
            <p:nvPr/>
          </p:nvSpPr>
          <p:spPr>
            <a:xfrm>
              <a:off x="8097316"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02_1-3.png"/>
            <p:cNvPicPr>
              <a:picLocks noChangeAspect="1"/>
            </p:cNvPicPr>
            <p:nvPr/>
          </p:nvPicPr>
          <p:blipFill>
            <a:blip r:embed="rId3"/>
            <a:stretch>
              <a:fillRect/>
            </a:stretch>
          </p:blipFill>
          <p:spPr>
            <a:xfrm>
              <a:off x="9367265" y="3119120"/>
              <a:ext cx="1005840" cy="1005840"/>
            </a:xfrm>
            <a:prstGeom prst="rect">
              <a:avLst/>
            </a:prstGeom>
          </p:spPr>
        </p:pic>
        <p:sp>
          <p:nvSpPr>
            <p:cNvPr id="23" name="TextBox 22"/>
            <p:cNvSpPr txBox="1"/>
            <p:nvPr/>
          </p:nvSpPr>
          <p:spPr>
            <a:xfrm>
              <a:off x="8234476" y="4198112"/>
              <a:ext cx="3271418" cy="50596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charset="0"/>
                  <a:ea typeface="微软雅黑"/>
                  <a:cs typeface="Arial" charset="0"/>
                </a:rPr>
                <a:t>我科怎么做？</a:t>
              </a:r>
              <a:endParaRPr sz="3200" b="1">
                <a:solidFill>
                  <a:srgbClr val="C0392B"/>
                </a:solidFill>
                <a:latin typeface="Arial" charset="0"/>
                <a:ea typeface="微软雅黑"/>
                <a:cs typeface="Arial" charset="0"/>
              </a:endParaRPr>
            </a:p>
          </p:txBody>
        </p:sp>
      </p:grpSp>
      <p:pic>
        <p:nvPicPr>
          <p:cNvPr id="24" name="LOGO" descr="logo_940.png"/>
          <p:cNvPicPr>
            <a:picLocks noChangeAspect="1"/>
          </p:cNvPicPr>
          <p:nvPr/>
        </p:nvPicPr>
        <p:blipFill>
          <a:blip r:embed="rId5"/>
          <a:stretch>
            <a:fillRect/>
          </a:stretch>
        </p:blipFill>
        <p:spPr>
          <a:xfrm>
            <a:off x="548640" y="6249924"/>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6885431"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医疗机构检查检验结果互认管理办法</a:t>
            </a:r>
            <a:r>
              <a:rPr sz="2800" b="1">
                <a:solidFill>
                  <a:srgbClr val="C0392B"/>
                </a:solidFill>
                <a:latin typeface="Arial" charset="0"/>
                <a:ea typeface="微软雅黑"/>
                <a:cs typeface="Arial" charset="0"/>
              </a:rPr>
              <a:t>》</a:t>
            </a:r>
            <a:endParaRPr sz="2800" b="1">
              <a:solidFill>
                <a:srgbClr val="C0392B"/>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a:t>
            </a:r>
            <a:endParaRPr sz="1200" b="0">
              <a:solidFill>
                <a:srgbClr val="6B7280"/>
              </a:solidFill>
              <a:latin typeface="Arial" charset="0"/>
              <a:ea typeface="微软雅黑"/>
              <a:cs typeface="Arial" charset="0"/>
            </a:endParaRPr>
          </a:p>
        </p:txBody>
      </p:sp>
      <p:sp>
        <p:nvSpPr>
          <p:cNvPr id="6" name="SRCBADGE"/>
          <p:cNvSpPr/>
          <p:nvPr/>
        </p:nvSpPr>
        <p:spPr>
          <a:xfrm>
            <a:off x="9343020" y="5852160"/>
            <a:ext cx="2300035"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来源：国卫医发〔2022〕6号</a:t>
            </a:r>
            <a:endParaRPr sz="1200" b="1">
              <a:solidFill>
                <a:srgbClr val="5B6B7F"/>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3314065" y="1414145"/>
            <a:ext cx="3611245" cy="2613660"/>
          </a:xfrm>
          <a:prstGeom prst="roundRect">
            <a:avLst>
              <a:gd name="adj" fmla="val 2957"/>
            </a:avLst>
          </a:prstGeom>
          <a:ln w="9525">
            <a:solidFill>
              <a:srgbClr val="D5DAE0"/>
            </a:solidFill>
          </a:ln>
        </p:spPr>
      </p:pic>
      <p:grpSp>
        <p:nvGrpSpPr>
          <p:cNvPr id="9" name="CARD"/>
          <p:cNvGrpSpPr/>
          <p:nvPr/>
        </p:nvGrpSpPr>
        <p:grpSpPr>
          <a:xfrm>
            <a:off x="3313762" y="4256478"/>
            <a:ext cx="3611369" cy="1432560"/>
            <a:chOff x="3313762" y="4256478"/>
            <a:chExt cx="3611369" cy="1432560"/>
          </a:xfrm>
        </p:grpSpPr>
        <p:sp>
          <p:nvSpPr>
            <p:cNvPr id="10" name="Rounded Rectangle 9"/>
            <p:cNvSpPr/>
            <p:nvPr/>
          </p:nvSpPr>
          <p:spPr>
            <a:xfrm>
              <a:off x="3313762" y="4256478"/>
              <a:ext cx="3611369" cy="1432560"/>
            </a:xfrm>
            <a:prstGeom prst="roundRect">
              <a:avLst>
                <a:gd name="adj" fmla="val 510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0922" y="4393638"/>
              <a:ext cx="3337049" cy="115824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国家卫生健康委</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国家医保局</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国家中医药局</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中央军委后勤保障部卫生局</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2022</a:t>
              </a:r>
              <a:r>
                <a:rPr sz="1400" b="0">
                  <a:solidFill>
                    <a:srgbClr val="222222"/>
                  </a:solidFill>
                  <a:latin typeface="Arial" charset="0"/>
                  <a:ea typeface="微软雅黑"/>
                  <a:cs typeface="Arial" charset="0"/>
                </a:rPr>
                <a:t>年</a:t>
              </a:r>
              <a:r>
                <a:rPr sz="1400" b="0">
                  <a:solidFill>
                    <a:srgbClr val="222222"/>
                  </a:solidFill>
                  <a:latin typeface="Arial" charset="0"/>
                  <a:ea typeface="微软雅黑"/>
                  <a:cs typeface="Arial" charset="0"/>
                </a:rPr>
                <a:t>2</a:t>
              </a:r>
              <a:r>
                <a:rPr sz="1400" b="0">
                  <a:solidFill>
                    <a:srgbClr val="222222"/>
                  </a:solidFill>
                  <a:latin typeface="Arial" charset="0"/>
                  <a:ea typeface="微软雅黑"/>
                  <a:cs typeface="Arial" charset="0"/>
                </a:rPr>
                <a:t>月</a:t>
              </a:r>
              <a:r>
                <a:rPr sz="1400" b="0">
                  <a:solidFill>
                    <a:srgbClr val="222222"/>
                  </a:solidFill>
                  <a:latin typeface="Arial" charset="0"/>
                  <a:ea typeface="微软雅黑"/>
                  <a:cs typeface="Arial" charset="0"/>
                </a:rPr>
                <a:t>14</a:t>
              </a:r>
              <a:r>
                <a:rPr sz="1400" b="0">
                  <a:solidFill>
                    <a:srgbClr val="222222"/>
                  </a:solidFill>
                  <a:latin typeface="Arial" charset="0"/>
                  <a:ea typeface="微软雅黑"/>
                  <a:cs typeface="Arial" charset="0"/>
                </a:rPr>
                <a:t>日</a:t>
              </a:r>
              <a:endParaRPr sz="1400" b="0">
                <a:solidFill>
                  <a:srgbClr val="222222"/>
                </a:solidFill>
                <a:latin typeface="Arial" charset="0"/>
                <a:ea typeface="微软雅黑"/>
                <a:cs typeface="Arial" charset="0"/>
              </a:endParaRPr>
            </a:p>
          </p:txBody>
        </p:sp>
      </p:grpSp>
      <p:pic>
        <p:nvPicPr>
          <p:cNvPr id="12" name="NEWIMG" descr="03_1.png"/>
          <p:cNvPicPr>
            <a:picLocks noChangeAspect="1"/>
          </p:cNvPicPr>
          <p:nvPr/>
        </p:nvPicPr>
        <p:blipFill>
          <a:blip r:embed="rId2"/>
          <a:stretch>
            <a:fillRect/>
          </a:stretch>
        </p:blipFill>
        <p:spPr>
          <a:xfrm>
            <a:off x="548640" y="4116070"/>
            <a:ext cx="2385695" cy="1663065"/>
          </a:xfrm>
          <a:prstGeom prst="roundRect">
            <a:avLst>
              <a:gd name="adj" fmla="val 4804"/>
            </a:avLst>
          </a:prstGeom>
        </p:spPr>
      </p:pic>
      <p:sp>
        <p:nvSpPr>
          <p:cNvPr id="13" name="TextBox 12"/>
          <p:cNvSpPr txBox="1"/>
          <p:nvPr/>
        </p:nvSpPr>
        <p:spPr>
          <a:xfrm>
            <a:off x="548640" y="5833872"/>
            <a:ext cx="1615440"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示例图：院际结果互认</a:t>
            </a:r>
            <a:endParaRPr sz="1200" b="0">
              <a:solidFill>
                <a:srgbClr val="6B7280"/>
              </a:solidFill>
              <a:latin typeface="Arial" charset="0"/>
              <a:ea typeface="微软雅黑"/>
              <a:cs typeface="Arial" charset="0"/>
            </a:endParaRPr>
          </a:p>
        </p:txBody>
      </p:sp>
      <p:grpSp>
        <p:nvGrpSpPr>
          <p:cNvPr id="14" name="QBOX"/>
          <p:cNvGrpSpPr/>
          <p:nvPr/>
        </p:nvGrpSpPr>
        <p:grpSpPr>
          <a:xfrm>
            <a:off x="7153732" y="1554480"/>
            <a:ext cx="4489323" cy="2302256"/>
            <a:chOff x="7153732" y="1554480"/>
            <a:chExt cx="4489323" cy="2302256"/>
          </a:xfrm>
        </p:grpSpPr>
        <p:sp>
          <p:nvSpPr>
            <p:cNvPr id="15" name="Rounded Rectangle 14"/>
            <p:cNvSpPr/>
            <p:nvPr/>
          </p:nvSpPr>
          <p:spPr>
            <a:xfrm>
              <a:off x="7153732" y="1554480"/>
              <a:ext cx="4489323" cy="2302256"/>
            </a:xfrm>
            <a:prstGeom prst="roundRect">
              <a:avLst>
                <a:gd name="adj" fmla="val 317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54316"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7" name="TextBox 16"/>
            <p:cNvSpPr txBox="1"/>
            <p:nvPr/>
          </p:nvSpPr>
          <p:spPr>
            <a:xfrm>
              <a:off x="7565212" y="1691639"/>
              <a:ext cx="3940683" cy="181762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第一章</a:t>
              </a:r>
              <a:r>
                <a:rPr sz="1400" b="0">
                  <a:solidFill>
                    <a:srgbClr val="222222"/>
                  </a:solidFill>
                  <a:latin typeface="Arial" charset="0"/>
                  <a:ea typeface="微软雅黑"/>
                  <a:cs typeface="Arial" charset="0"/>
                </a:rPr>
                <a:t>  总则</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检验结果，是指对来自人体的材料进行生物学、微生物学、免疫学、化学、血液免疫学、血液学、生物物理学、细胞学等检验，所得到的数据信息。</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按照“以保障质量安全为底线，以质量控制合格为前提，以降低患者负担为导向，以满足诊疗需求为根本，以接诊医师判断为标准”的原则。</a:t>
              </a:r>
              <a:endParaRPr sz="1400" b="0">
                <a:solidFill>
                  <a:srgbClr val="222222"/>
                </a:solidFill>
                <a:latin typeface="Arial" charset="0"/>
                <a:ea typeface="微软雅黑"/>
                <a:cs typeface="Arial" charset="0"/>
              </a:endParaRPr>
            </a:p>
          </p:txBody>
        </p:sp>
        <p:sp>
          <p:nvSpPr>
            <p:cNvPr id="18" name="CITE"/>
            <p:cNvSpPr txBox="1"/>
            <p:nvPr/>
          </p:nvSpPr>
          <p:spPr>
            <a:xfrm>
              <a:off x="7516063" y="3518407"/>
              <a:ext cx="398983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——《医疗机构检查检验结果互认管理办法》第一章</a:t>
              </a:r>
              <a:endParaRPr sz="1200" b="0">
                <a:solidFill>
                  <a:srgbClr val="5B6B7F"/>
                </a:solidFill>
                <a:latin typeface="Arial" charset="0"/>
                <a:ea typeface="微软雅黑"/>
                <a:cs typeface="Arial" charset="0"/>
              </a:endParaRPr>
            </a:p>
          </p:txBody>
        </p:sp>
      </p:grpSp>
      <p:grpSp>
        <p:nvGrpSpPr>
          <p:cNvPr id="19" name="CHAPTERBAR"/>
          <p:cNvGrpSpPr/>
          <p:nvPr/>
        </p:nvGrpSpPr>
        <p:grpSpPr>
          <a:xfrm>
            <a:off x="7153732" y="4085336"/>
            <a:ext cx="2130361" cy="323088"/>
            <a:chOff x="7153732" y="4085336"/>
            <a:chExt cx="2130361" cy="323088"/>
          </a:xfrm>
        </p:grpSpPr>
        <p:sp>
          <p:nvSpPr>
            <p:cNvPr id="20" name="Rounded Rectangle 19"/>
            <p:cNvSpPr/>
            <p:nvPr/>
          </p:nvSpPr>
          <p:spPr>
            <a:xfrm>
              <a:off x="7153732"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90892"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第二章  组织管理</a:t>
              </a:r>
              <a:endParaRPr sz="1400" b="0">
                <a:solidFill>
                  <a:srgbClr val="222222"/>
                </a:solidFill>
                <a:latin typeface="Arial" charset="0"/>
                <a:ea typeface="微软雅黑"/>
                <a:cs typeface="Arial" charset="0"/>
              </a:endParaRPr>
            </a:p>
          </p:txBody>
        </p:sp>
      </p:grpSp>
      <p:grpSp>
        <p:nvGrpSpPr>
          <p:cNvPr id="22" name="CHAPTERBAR"/>
          <p:cNvGrpSpPr/>
          <p:nvPr/>
        </p:nvGrpSpPr>
        <p:grpSpPr>
          <a:xfrm>
            <a:off x="7153732" y="4481576"/>
            <a:ext cx="2130361" cy="323088"/>
            <a:chOff x="7153732" y="4481576"/>
            <a:chExt cx="2130361" cy="323088"/>
          </a:xfrm>
        </p:grpSpPr>
        <p:sp>
          <p:nvSpPr>
            <p:cNvPr id="23" name="Rounded Rectangle 22"/>
            <p:cNvSpPr/>
            <p:nvPr/>
          </p:nvSpPr>
          <p:spPr>
            <a:xfrm>
              <a:off x="7153732"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0892"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第三章  互认规则</a:t>
              </a:r>
              <a:endParaRPr sz="1400" b="0">
                <a:solidFill>
                  <a:srgbClr val="222222"/>
                </a:solidFill>
                <a:latin typeface="Arial" charset="0"/>
                <a:ea typeface="微软雅黑"/>
                <a:cs typeface="Arial" charset="0"/>
              </a:endParaRPr>
            </a:p>
          </p:txBody>
        </p:sp>
      </p:grpSp>
      <p:grpSp>
        <p:nvGrpSpPr>
          <p:cNvPr id="25" name="CHAPTERBAR"/>
          <p:cNvGrpSpPr/>
          <p:nvPr/>
        </p:nvGrpSpPr>
        <p:grpSpPr>
          <a:xfrm>
            <a:off x="7153732" y="4877816"/>
            <a:ext cx="2130361" cy="323088"/>
            <a:chOff x="7153732" y="4877816"/>
            <a:chExt cx="2130361" cy="323088"/>
          </a:xfrm>
        </p:grpSpPr>
        <p:sp>
          <p:nvSpPr>
            <p:cNvPr id="26" name="Rounded Rectangle 25"/>
            <p:cNvSpPr/>
            <p:nvPr/>
          </p:nvSpPr>
          <p:spPr>
            <a:xfrm>
              <a:off x="7153732"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0892"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第四章  质量控制</a:t>
              </a:r>
              <a:endParaRPr sz="1400" b="0">
                <a:solidFill>
                  <a:srgbClr val="222222"/>
                </a:solidFill>
                <a:latin typeface="Arial" charset="0"/>
                <a:ea typeface="微软雅黑"/>
                <a:cs typeface="Arial" charset="0"/>
              </a:endParaRPr>
            </a:p>
          </p:txBody>
        </p:sp>
      </p:grpSp>
      <p:grpSp>
        <p:nvGrpSpPr>
          <p:cNvPr id="28" name="CHAPTERBAR"/>
          <p:cNvGrpSpPr/>
          <p:nvPr/>
        </p:nvGrpSpPr>
        <p:grpSpPr>
          <a:xfrm>
            <a:off x="9512693" y="4085336"/>
            <a:ext cx="2130361" cy="323088"/>
            <a:chOff x="9512693" y="4085336"/>
            <a:chExt cx="2130361" cy="323088"/>
          </a:xfrm>
        </p:grpSpPr>
        <p:sp>
          <p:nvSpPr>
            <p:cNvPr id="29" name="Rounded Rectangle 28"/>
            <p:cNvSpPr/>
            <p:nvPr/>
          </p:nvSpPr>
          <p:spPr>
            <a:xfrm>
              <a:off x="9512693"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49853"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第五章  支持保障</a:t>
              </a:r>
              <a:endParaRPr sz="1400" b="0">
                <a:solidFill>
                  <a:srgbClr val="222222"/>
                </a:solidFill>
                <a:latin typeface="Arial" charset="0"/>
                <a:ea typeface="微软雅黑"/>
                <a:cs typeface="Arial" charset="0"/>
              </a:endParaRPr>
            </a:p>
          </p:txBody>
        </p:sp>
      </p:grpSp>
      <p:grpSp>
        <p:nvGrpSpPr>
          <p:cNvPr id="31" name="CHAPTERBAR"/>
          <p:cNvGrpSpPr/>
          <p:nvPr/>
        </p:nvGrpSpPr>
        <p:grpSpPr>
          <a:xfrm>
            <a:off x="9512693" y="4481576"/>
            <a:ext cx="2130361" cy="323088"/>
            <a:chOff x="9512693" y="4481576"/>
            <a:chExt cx="2130361" cy="323088"/>
          </a:xfrm>
        </p:grpSpPr>
        <p:sp>
          <p:nvSpPr>
            <p:cNvPr id="32" name="Rounded Rectangle 31"/>
            <p:cNvSpPr/>
            <p:nvPr/>
          </p:nvSpPr>
          <p:spPr>
            <a:xfrm>
              <a:off x="9512693"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9853"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第六章   监督管理</a:t>
              </a:r>
              <a:endParaRPr sz="1400" b="0">
                <a:solidFill>
                  <a:srgbClr val="222222"/>
                </a:solidFill>
                <a:latin typeface="Arial" charset="0"/>
                <a:ea typeface="微软雅黑"/>
                <a:cs typeface="Arial" charset="0"/>
              </a:endParaRPr>
            </a:p>
          </p:txBody>
        </p:sp>
      </p:grpSp>
      <p:grpSp>
        <p:nvGrpSpPr>
          <p:cNvPr id="34" name="CHAPTERBAR"/>
          <p:cNvGrpSpPr/>
          <p:nvPr/>
        </p:nvGrpSpPr>
        <p:grpSpPr>
          <a:xfrm>
            <a:off x="9512693" y="4877816"/>
            <a:ext cx="2130361" cy="323088"/>
            <a:chOff x="9512693" y="4877816"/>
            <a:chExt cx="2130361" cy="323088"/>
          </a:xfrm>
        </p:grpSpPr>
        <p:sp>
          <p:nvSpPr>
            <p:cNvPr id="35" name="Rounded Rectangle 34"/>
            <p:cNvSpPr/>
            <p:nvPr/>
          </p:nvSpPr>
          <p:spPr>
            <a:xfrm>
              <a:off x="9512693"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9853"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第七章   附则</a:t>
              </a:r>
              <a:endParaRPr sz="1400" b="0">
                <a:solidFill>
                  <a:srgbClr val="222222"/>
                </a:solidFill>
                <a:latin typeface="Arial" charset="0"/>
                <a:ea typeface="微软雅黑"/>
                <a:cs typeface="Arial" charset="0"/>
              </a:endParaRPr>
            </a:p>
          </p:txBody>
        </p:sp>
      </p:grpSp>
      <p:sp>
        <p:nvSpPr>
          <p:cNvPr id="37" name="BADGE"/>
          <p:cNvSpPr/>
          <p:nvPr/>
        </p:nvSpPr>
        <p:spPr>
          <a:xfrm>
            <a:off x="7662671" y="795528"/>
            <a:ext cx="855765"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7章39条</a:t>
            </a:r>
            <a:endParaRPr sz="1200" b="1">
              <a:solidFill>
                <a:srgbClr val="FFFFFF"/>
              </a:solidFill>
              <a:latin typeface="Arial" charset="0"/>
              <a:ea typeface="微软雅黑"/>
              <a:cs typeface="Arial" charset="0"/>
            </a:endParaRPr>
          </a:p>
        </p:txBody>
      </p:sp>
      <p:sp>
        <p:nvSpPr>
          <p:cNvPr id="38" name="BADGE"/>
          <p:cNvSpPr/>
          <p:nvPr/>
        </p:nvSpPr>
        <p:spPr>
          <a:xfrm>
            <a:off x="8628165" y="795528"/>
            <a:ext cx="14020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2022-03-01施行</a:t>
            </a:r>
            <a:endParaRPr sz="1200" b="1">
              <a:solidFill>
                <a:srgbClr val="FFFFFF"/>
              </a:solidFill>
              <a:latin typeface="Arial" charset="0"/>
              <a:ea typeface="微软雅黑"/>
              <a:cs typeface="Arial" charset="0"/>
            </a:endParaRPr>
          </a:p>
        </p:txBody>
      </p:sp>
      <p:pic>
        <p:nvPicPr>
          <p:cNvPr id="39" name="ORIGPIC" descr="image.jpeg"/>
          <p:cNvPicPr>
            <a:picLocks noChangeAspect="1"/>
          </p:cNvPicPr>
          <p:nvPr/>
        </p:nvPicPr>
        <p:blipFill>
          <a:blip r:embed="rId3"/>
          <a:srcRect r="16739" b="8405"/>
          <a:stretch>
            <a:fillRect/>
          </a:stretch>
        </p:blipFill>
        <p:spPr>
          <a:xfrm>
            <a:off x="67945" y="1069975"/>
            <a:ext cx="2928620" cy="2855595"/>
          </a:xfrm>
          <a:prstGeom prst="roundRect">
            <a:avLst>
              <a:gd name="adj" fmla="val 2957"/>
            </a:avLst>
          </a:prstGeom>
          <a:ln w="9525">
            <a:solidFill>
              <a:srgbClr val="D5DAE0"/>
            </a:solidFill>
          </a:ln>
        </p:spPr>
      </p:pic>
      <p:pic>
        <p:nvPicPr>
          <p:cNvPr id="40" name="LOGO" descr="logo_940.png"/>
          <p:cNvPicPr>
            <a:picLocks noChangeAspect="1"/>
          </p:cNvPicPr>
          <p:nvPr/>
        </p:nvPicPr>
        <p:blipFill>
          <a:blip r:embed="rId5"/>
          <a:stretch>
            <a:fillRect/>
          </a:stretch>
        </p:blipFill>
        <p:spPr>
          <a:xfrm>
            <a:off x="548640" y="6249924"/>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C0392B"/>
                </a:solidFill>
                <a:latin typeface="Arial" charset="0"/>
                <a:ea typeface="微软雅黑"/>
                <a:cs typeface="Arial" charset="0"/>
              </a:rPr>
              <a:t>检查结果互认历程</a:t>
            </a:r>
            <a:endParaRPr sz="2800" b="1">
              <a:solidFill>
                <a:srgbClr val="C0392B"/>
              </a:solidFill>
              <a:latin typeface="Arial" charset="0"/>
              <a:ea typeface="微软雅黑"/>
              <a:cs typeface="Arial" charset="0"/>
            </a:endParaRPr>
          </a:p>
        </p:txBody>
      </p:sp>
      <p:pic>
        <p:nvPicPr>
          <p:cNvPr id="4" name="NEWIMG_CORNER" descr="04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a:t>
            </a:r>
            <a:endParaRPr sz="1200" b="0">
              <a:solidFill>
                <a:srgbClr val="6B7280"/>
              </a:solidFill>
              <a:latin typeface="Arial" charset="0"/>
              <a:ea typeface="微软雅黑"/>
              <a:cs typeface="Arial" charset="0"/>
            </a:endParaRPr>
          </a:p>
        </p:txBody>
      </p:sp>
      <p:grpSp>
        <p:nvGrpSpPr>
          <p:cNvPr id="8" name="QBOX"/>
          <p:cNvGrpSpPr/>
          <p:nvPr/>
        </p:nvGrpSpPr>
        <p:grpSpPr>
          <a:xfrm>
            <a:off x="1325880" y="1554480"/>
            <a:ext cx="4655667" cy="1413256"/>
            <a:chOff x="1325880" y="1554480"/>
            <a:chExt cx="4655667" cy="1413256"/>
          </a:xfrm>
        </p:grpSpPr>
        <p:sp>
          <p:nvSpPr>
            <p:cNvPr id="9" name="Rounded Rectangle 8"/>
            <p:cNvSpPr/>
            <p:nvPr/>
          </p:nvSpPr>
          <p:spPr>
            <a:xfrm>
              <a:off x="1325880" y="1554480"/>
              <a:ext cx="4655667" cy="1413256"/>
            </a:xfrm>
            <a:prstGeom prst="roundRect">
              <a:avLst>
                <a:gd name="adj" fmla="val 517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1" name="TextBox 10"/>
            <p:cNvSpPr txBox="1"/>
            <p:nvPr/>
          </p:nvSpPr>
          <p:spPr>
            <a:xfrm>
              <a:off x="1737360" y="1691639"/>
              <a:ext cx="4107027" cy="92862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原卫生部卫办医发</a:t>
              </a:r>
              <a:r>
                <a:rPr sz="1900" b="1">
                  <a:solidFill>
                    <a:srgbClr val="222222"/>
                  </a:solidFill>
                  <a:latin typeface="Arial" charset="0"/>
                  <a:ea typeface="微软雅黑"/>
                  <a:cs typeface="Arial" charset="0"/>
                </a:rPr>
                <a:t>[2006]32</a:t>
              </a:r>
              <a:r>
                <a:rPr sz="1900" b="1">
                  <a:solidFill>
                    <a:srgbClr val="222222"/>
                  </a:solidFill>
                  <a:latin typeface="Arial" charset="0"/>
                  <a:ea typeface="微软雅黑"/>
                  <a:cs typeface="Arial" charset="0"/>
                </a:rPr>
                <a:t>号</a:t>
              </a:r>
              <a:r>
                <a:rPr sz="1900" b="1">
                  <a:solidFill>
                    <a:srgbClr val="222222"/>
                  </a:solidFill>
                  <a:latin typeface="Arial" charset="0"/>
                  <a:ea typeface="微软雅黑"/>
                  <a:cs typeface="Arial" charset="0"/>
                </a:rPr>
                <a:t>：</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根据辖区医疗机构实际状况，合理确定开展检查互认的项目。</a:t>
              </a:r>
              <a:endParaRPr sz="1900" b="0">
                <a:solidFill>
                  <a:srgbClr val="222222"/>
                </a:solidFill>
                <a:latin typeface="Arial" charset="0"/>
                <a:ea typeface="微软雅黑"/>
                <a:cs typeface="Arial" charset="0"/>
              </a:endParaRPr>
            </a:p>
          </p:txBody>
        </p:sp>
        <p:sp>
          <p:nvSpPr>
            <p:cNvPr id="12" name="CITE"/>
            <p:cNvSpPr txBox="1"/>
            <p:nvPr/>
          </p:nvSpPr>
          <p:spPr>
            <a:xfrm>
              <a:off x="3532208" y="2629408"/>
              <a:ext cx="2312178"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卫办医发〔2006〕32号</a:t>
              </a:r>
              <a:endParaRPr sz="1200" b="0">
                <a:solidFill>
                  <a:srgbClr val="5B6B7F"/>
                </a:solidFill>
                <a:latin typeface="Arial" charset="0"/>
                <a:ea typeface="微软雅黑"/>
                <a:cs typeface="Arial" charset="0"/>
              </a:endParaRPr>
            </a:p>
          </p:txBody>
        </p:sp>
      </p:grpSp>
      <p:grpSp>
        <p:nvGrpSpPr>
          <p:cNvPr id="13" name="QBOX"/>
          <p:cNvGrpSpPr/>
          <p:nvPr/>
        </p:nvGrpSpPr>
        <p:grpSpPr>
          <a:xfrm>
            <a:off x="1325880" y="3196336"/>
            <a:ext cx="4655667" cy="1992376"/>
            <a:chOff x="1325880" y="3196336"/>
            <a:chExt cx="4655667" cy="1992376"/>
          </a:xfrm>
        </p:grpSpPr>
        <p:sp>
          <p:nvSpPr>
            <p:cNvPr id="14" name="Rounded Rectangle 13"/>
            <p:cNvSpPr/>
            <p:nvPr/>
          </p:nvSpPr>
          <p:spPr>
            <a:xfrm>
              <a:off x="1325880" y="3196336"/>
              <a:ext cx="4655667" cy="1992376"/>
            </a:xfrm>
            <a:prstGeom prst="roundRect">
              <a:avLst>
                <a:gd name="adj" fmla="val 367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2420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6" name="TextBox 15"/>
            <p:cNvSpPr txBox="1"/>
            <p:nvPr/>
          </p:nvSpPr>
          <p:spPr>
            <a:xfrm>
              <a:off x="1737360" y="3333496"/>
              <a:ext cx="4107027" cy="150774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国发</a:t>
              </a:r>
              <a:r>
                <a:rPr sz="1900" b="1">
                  <a:solidFill>
                    <a:srgbClr val="222222"/>
                  </a:solidFill>
                  <a:latin typeface="Arial" charset="0"/>
                  <a:ea typeface="微软雅黑"/>
                  <a:cs typeface="Arial" charset="0"/>
                </a:rPr>
                <a:t>[2009]12</a:t>
              </a:r>
              <a:r>
                <a:rPr sz="1900" b="1">
                  <a:solidFill>
                    <a:srgbClr val="222222"/>
                  </a:solidFill>
                  <a:latin typeface="Arial" charset="0"/>
                  <a:ea typeface="微软雅黑"/>
                  <a:cs typeface="Arial" charset="0"/>
                </a:rPr>
                <a:t>号：</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国务院关于印发</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医药卫生体制改革近期重点实施方案（</a:t>
              </a:r>
              <a:r>
                <a:rPr sz="1900" b="0">
                  <a:solidFill>
                    <a:srgbClr val="222222"/>
                  </a:solidFill>
                  <a:latin typeface="Arial" charset="0"/>
                  <a:ea typeface="微软雅黑"/>
                  <a:cs typeface="Arial" charset="0"/>
                </a:rPr>
                <a:t>2009-2011</a:t>
              </a:r>
              <a:r>
                <a:rPr sz="1900" b="0">
                  <a:solidFill>
                    <a:srgbClr val="222222"/>
                  </a:solidFill>
                  <a:latin typeface="Arial" charset="0"/>
                  <a:ea typeface="微软雅黑"/>
                  <a:cs typeface="Arial" charset="0"/>
                </a:rPr>
                <a:t>年）</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的通知“实行同级医疗机构检查结果互认”的要求。</a:t>
              </a:r>
              <a:endParaRPr sz="1900" b="0">
                <a:solidFill>
                  <a:srgbClr val="222222"/>
                </a:solidFill>
                <a:latin typeface="Arial" charset="0"/>
                <a:ea typeface="微软雅黑"/>
                <a:cs typeface="Arial" charset="0"/>
              </a:endParaRPr>
            </a:p>
          </p:txBody>
        </p:sp>
        <p:sp>
          <p:nvSpPr>
            <p:cNvPr id="17" name="CITE"/>
            <p:cNvSpPr txBox="1"/>
            <p:nvPr/>
          </p:nvSpPr>
          <p:spPr>
            <a:xfrm>
              <a:off x="3855296" y="4850384"/>
              <a:ext cx="198909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国发〔2009〕12号</a:t>
              </a:r>
              <a:endParaRPr sz="1200" b="0">
                <a:solidFill>
                  <a:srgbClr val="5B6B7F"/>
                </a:solidFill>
                <a:latin typeface="Arial" charset="0"/>
                <a:ea typeface="微软雅黑"/>
                <a:cs typeface="Arial" charset="0"/>
              </a:endParaRPr>
            </a:p>
          </p:txBody>
        </p:sp>
      </p:grpSp>
      <p:cxnSp>
        <p:nvCxnSpPr>
          <p:cNvPr id="18" name="LINE"/>
          <p:cNvCxnSpPr/>
          <p:nvPr/>
        </p:nvCxnSpPr>
        <p:spPr>
          <a:xfrm>
            <a:off x="1051560" y="1801368"/>
            <a:ext cx="0" cy="3204464"/>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2006</a:t>
            </a:r>
            <a:endParaRPr sz="1400" b="1">
              <a:solidFill>
                <a:srgbClr val="1F3A5F"/>
              </a:solidFill>
              <a:latin typeface="Arial" charset="0"/>
              <a:ea typeface="微软雅黑"/>
              <a:cs typeface="Arial" charset="0"/>
            </a:endParaRPr>
          </a:p>
        </p:txBody>
      </p:sp>
      <p:sp>
        <p:nvSpPr>
          <p:cNvPr id="21" name="DOT"/>
          <p:cNvSpPr/>
          <p:nvPr/>
        </p:nvSpPr>
        <p:spPr>
          <a:xfrm>
            <a:off x="978407" y="3370072"/>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0606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2009</a:t>
            </a:r>
            <a:endParaRPr sz="1400" b="1">
              <a:solidFill>
                <a:srgbClr val="1F3A5F"/>
              </a:solidFill>
              <a:latin typeface="Arial" charset="0"/>
              <a:ea typeface="微软雅黑"/>
              <a:cs typeface="Arial" charset="0"/>
            </a:endParaRPr>
          </a:p>
        </p:txBody>
      </p:sp>
      <p:grpSp>
        <p:nvGrpSpPr>
          <p:cNvPr id="23" name="QBOX"/>
          <p:cNvGrpSpPr/>
          <p:nvPr/>
        </p:nvGrpSpPr>
        <p:grpSpPr>
          <a:xfrm>
            <a:off x="6987387" y="1554480"/>
            <a:ext cx="4655667" cy="2062480"/>
            <a:chOff x="6987387" y="1554480"/>
            <a:chExt cx="4655667" cy="2062480"/>
          </a:xfrm>
        </p:grpSpPr>
        <p:sp>
          <p:nvSpPr>
            <p:cNvPr id="24" name="Rounded Rectangle 23"/>
            <p:cNvSpPr/>
            <p:nvPr/>
          </p:nvSpPr>
          <p:spPr>
            <a:xfrm>
              <a:off x="6987387" y="1554480"/>
              <a:ext cx="4655667" cy="2062480"/>
            </a:xfrm>
            <a:prstGeom prst="roundRect">
              <a:avLst>
                <a:gd name="adj" fmla="val 354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6" name="TextBox 25"/>
            <p:cNvSpPr txBox="1"/>
            <p:nvPr/>
          </p:nvSpPr>
          <p:spPr>
            <a:xfrm>
              <a:off x="7398867" y="1691639"/>
              <a:ext cx="4107027" cy="179730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国务院办公厅国办函</a:t>
              </a:r>
              <a:r>
                <a:rPr sz="1900" b="1">
                  <a:solidFill>
                    <a:srgbClr val="222222"/>
                  </a:solidFill>
                  <a:latin typeface="Arial" charset="0"/>
                  <a:ea typeface="微软雅黑"/>
                  <a:cs typeface="Arial" charset="0"/>
                </a:rPr>
                <a:t>[2010]</a:t>
              </a:r>
              <a:r>
                <a:rPr sz="1900" b="1">
                  <a:solidFill>
                    <a:srgbClr val="222222"/>
                  </a:solidFill>
                  <a:latin typeface="Arial" charset="0"/>
                  <a:ea typeface="微软雅黑"/>
                  <a:cs typeface="Arial" charset="0"/>
                </a:rPr>
                <a:t>（</a:t>
              </a:r>
              <a:r>
                <a:rPr sz="1900" b="1">
                  <a:solidFill>
                    <a:srgbClr val="222222"/>
                  </a:solidFill>
                  <a:latin typeface="Arial" charset="0"/>
                  <a:ea typeface="微软雅黑"/>
                  <a:cs typeface="Arial" charset="0"/>
                </a:rPr>
                <a:t>67</a:t>
              </a:r>
              <a:r>
                <a:rPr sz="1900" b="1">
                  <a:solidFill>
                    <a:srgbClr val="222222"/>
                  </a:solidFill>
                  <a:latin typeface="Arial" charset="0"/>
                  <a:ea typeface="微软雅黑"/>
                  <a:cs typeface="Arial" charset="0"/>
                </a:rPr>
                <a:t>号）：</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关于印发</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医药卫生体制五项重点改革</a:t>
              </a:r>
              <a:r>
                <a:rPr sz="1900" b="0">
                  <a:solidFill>
                    <a:srgbClr val="222222"/>
                  </a:solidFill>
                  <a:latin typeface="Arial" charset="0"/>
                  <a:ea typeface="微软雅黑"/>
                  <a:cs typeface="Arial" charset="0"/>
                </a:rPr>
                <a:t>2010</a:t>
              </a:r>
              <a:r>
                <a:rPr sz="1900" b="0">
                  <a:solidFill>
                    <a:srgbClr val="222222"/>
                  </a:solidFill>
                  <a:latin typeface="Arial" charset="0"/>
                  <a:ea typeface="微软雅黑"/>
                  <a:cs typeface="Arial" charset="0"/>
                </a:rPr>
                <a:t>年度主要工作安排的通知</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中关于“实行同级医疗机构检查结果互认”的要求。</a:t>
              </a:r>
              <a:endParaRPr sz="1900" b="0">
                <a:solidFill>
                  <a:srgbClr val="222222"/>
                </a:solidFill>
                <a:latin typeface="Arial" charset="0"/>
                <a:ea typeface="微软雅黑"/>
                <a:cs typeface="Arial" charset="0"/>
              </a:endParaRPr>
            </a:p>
          </p:txBody>
        </p:sp>
        <p:sp>
          <p:nvSpPr>
            <p:cNvPr id="27" name="CITE"/>
            <p:cNvSpPr txBox="1"/>
            <p:nvPr/>
          </p:nvSpPr>
          <p:spPr>
            <a:xfrm>
              <a:off x="9355260" y="3225292"/>
              <a:ext cx="2150634"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国办函〔2010〕67号</a:t>
              </a:r>
              <a:endParaRPr sz="1200" b="0">
                <a:solidFill>
                  <a:srgbClr val="5B6B7F"/>
                </a:solidFill>
                <a:latin typeface="Arial" charset="0"/>
                <a:ea typeface="微软雅黑"/>
                <a:cs typeface="Arial" charset="0"/>
              </a:endParaRPr>
            </a:p>
          </p:txBody>
        </p:sp>
      </p:grpSp>
      <p:grpSp>
        <p:nvGrpSpPr>
          <p:cNvPr id="28" name="QBOX"/>
          <p:cNvGrpSpPr/>
          <p:nvPr/>
        </p:nvGrpSpPr>
        <p:grpSpPr>
          <a:xfrm>
            <a:off x="6987387" y="3845560"/>
            <a:ext cx="4655667" cy="1702815"/>
            <a:chOff x="6987387" y="3845560"/>
            <a:chExt cx="4655667" cy="1702815"/>
          </a:xfrm>
        </p:grpSpPr>
        <p:sp>
          <p:nvSpPr>
            <p:cNvPr id="29" name="Rounded Rectangle 28"/>
            <p:cNvSpPr/>
            <p:nvPr/>
          </p:nvSpPr>
          <p:spPr>
            <a:xfrm>
              <a:off x="6987387" y="3845560"/>
              <a:ext cx="4655667" cy="1702815"/>
            </a:xfrm>
            <a:prstGeom prst="roundRect">
              <a:avLst>
                <a:gd name="adj" fmla="val 429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8912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31" name="TextBox 30"/>
            <p:cNvSpPr txBox="1"/>
            <p:nvPr/>
          </p:nvSpPr>
          <p:spPr>
            <a:xfrm>
              <a:off x="7398867" y="3982720"/>
              <a:ext cx="4107027" cy="1218183"/>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卫办医改发</a:t>
              </a:r>
              <a:r>
                <a:rPr sz="1900" b="1">
                  <a:solidFill>
                    <a:srgbClr val="222222"/>
                  </a:solidFill>
                  <a:latin typeface="Arial" charset="0"/>
                  <a:ea typeface="微软雅黑"/>
                  <a:cs typeface="Arial" charset="0"/>
                </a:rPr>
                <a:t>[2010]108</a:t>
              </a:r>
              <a:r>
                <a:rPr sz="1900" b="1">
                  <a:solidFill>
                    <a:srgbClr val="222222"/>
                  </a:solidFill>
                  <a:latin typeface="Arial" charset="0"/>
                  <a:ea typeface="微软雅黑"/>
                  <a:cs typeface="Arial" charset="0"/>
                </a:rPr>
                <a:t>号：</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卫生部办公厅关于加强医疗质量控制中心建设推进同级医疗机构检查结果互认的通知。</a:t>
              </a:r>
              <a:endParaRPr sz="1900" b="0">
                <a:solidFill>
                  <a:srgbClr val="222222"/>
                </a:solidFill>
                <a:latin typeface="Arial" charset="0"/>
                <a:ea typeface="微软雅黑"/>
                <a:cs typeface="Arial" charset="0"/>
              </a:endParaRPr>
            </a:p>
          </p:txBody>
        </p:sp>
        <p:sp>
          <p:nvSpPr>
            <p:cNvPr id="32" name="CITE"/>
            <p:cNvSpPr txBox="1"/>
            <p:nvPr/>
          </p:nvSpPr>
          <p:spPr>
            <a:xfrm>
              <a:off x="7981972" y="5210047"/>
              <a:ext cx="352392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卫办医改发〔2010〕108号</a:t>
              </a:r>
              <a:endParaRPr sz="1200" b="0">
                <a:solidFill>
                  <a:srgbClr val="5B6B7F"/>
                </a:solidFill>
                <a:latin typeface="Arial" charset="0"/>
                <a:ea typeface="微软雅黑"/>
                <a:cs typeface="Arial" charset="0"/>
              </a:endParaRPr>
            </a:p>
          </p:txBody>
        </p:sp>
      </p:grpSp>
      <p:cxnSp>
        <p:nvCxnSpPr>
          <p:cNvPr id="33" name="LINE"/>
          <p:cNvCxnSpPr/>
          <p:nvPr/>
        </p:nvCxnSpPr>
        <p:spPr>
          <a:xfrm>
            <a:off x="6713067" y="1801368"/>
            <a:ext cx="0" cy="35641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2010</a:t>
            </a:r>
            <a:endParaRPr sz="1400" b="1">
              <a:solidFill>
                <a:srgbClr val="1F3A5F"/>
              </a:solidFill>
              <a:latin typeface="Arial" charset="0"/>
              <a:ea typeface="微软雅黑"/>
              <a:cs typeface="Arial" charset="0"/>
            </a:endParaRPr>
          </a:p>
        </p:txBody>
      </p:sp>
      <p:sp>
        <p:nvSpPr>
          <p:cNvPr id="36" name="DOT"/>
          <p:cNvSpPr/>
          <p:nvPr/>
        </p:nvSpPr>
        <p:spPr>
          <a:xfrm>
            <a:off x="6639915" y="4019295"/>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95528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2010</a:t>
            </a:r>
            <a:endParaRPr sz="1400" b="1">
              <a:solidFill>
                <a:srgbClr val="1F3A5F"/>
              </a:solidFill>
              <a:latin typeface="Arial" charset="0"/>
              <a:ea typeface="微软雅黑"/>
              <a:cs typeface="Arial" charset="0"/>
            </a:endParaRPr>
          </a:p>
        </p:txBody>
      </p:sp>
      <p:pic>
        <p:nvPicPr>
          <p:cNvPr id="38"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429666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检查结果互认历程（续）</a:t>
            </a:r>
            <a:endParaRPr sz="2800" b="1">
              <a:solidFill>
                <a:srgbClr val="1F3A5F"/>
              </a:solidFill>
              <a:latin typeface="Arial" charset="0"/>
              <a:ea typeface="微软雅黑"/>
              <a:cs typeface="Arial" charset="0"/>
            </a:endParaRPr>
          </a:p>
        </p:txBody>
      </p:sp>
      <p:pic>
        <p:nvPicPr>
          <p:cNvPr id="4" name="NEWIMG_CORNER" descr="05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5</a:t>
            </a:r>
            <a:endParaRPr sz="1200" b="0">
              <a:solidFill>
                <a:srgbClr val="6B7280"/>
              </a:solidFill>
              <a:latin typeface="Arial" charset="0"/>
              <a:ea typeface="微软雅黑"/>
              <a:cs typeface="Arial" charset="0"/>
            </a:endParaRPr>
          </a:p>
        </p:txBody>
      </p:sp>
      <p:sp>
        <p:nvSpPr>
          <p:cNvPr id="7" name="SRCBADGE"/>
          <p:cNvSpPr/>
          <p:nvPr/>
        </p:nvSpPr>
        <p:spPr>
          <a:xfrm>
            <a:off x="9792517" y="5852160"/>
            <a:ext cx="1850537"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endParaRPr sz="1200" b="1">
              <a:solidFill>
                <a:srgbClr val="5B6B7F"/>
              </a:solidFill>
              <a:latin typeface="Arial" charset="0"/>
              <a:ea typeface="微软雅黑"/>
              <a:cs typeface="Arial" charset="0"/>
            </a:endParaRPr>
          </a:p>
        </p:txBody>
      </p:sp>
      <p:grpSp>
        <p:nvGrpSpPr>
          <p:cNvPr id="8" name="QBOX"/>
          <p:cNvGrpSpPr/>
          <p:nvPr/>
        </p:nvGrpSpPr>
        <p:grpSpPr>
          <a:xfrm>
            <a:off x="1325880" y="1554480"/>
            <a:ext cx="4655667" cy="1321816"/>
            <a:chOff x="1325880" y="1554480"/>
            <a:chExt cx="4655667" cy="1321816"/>
          </a:xfrm>
        </p:grpSpPr>
        <p:sp>
          <p:nvSpPr>
            <p:cNvPr id="9" name="Rounded Rectangle 8"/>
            <p:cNvSpPr/>
            <p:nvPr/>
          </p:nvSpPr>
          <p:spPr>
            <a:xfrm>
              <a:off x="1325880" y="1554480"/>
              <a:ext cx="4655667"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1" name="TextBox 10"/>
            <p:cNvSpPr txBox="1"/>
            <p:nvPr/>
          </p:nvSpPr>
          <p:spPr>
            <a:xfrm>
              <a:off x="1737360" y="1691639"/>
              <a:ext cx="4107027" cy="837183"/>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222222"/>
                  </a:solidFill>
                  <a:latin typeface="Arial" charset="0"/>
                  <a:ea typeface="微软雅黑"/>
                  <a:cs typeface="Arial" charset="0"/>
                </a:rPr>
                <a:t>国发</a:t>
              </a:r>
              <a:r>
                <a:rPr sz="1700" b="1">
                  <a:solidFill>
                    <a:srgbClr val="222222"/>
                  </a:solidFill>
                  <a:latin typeface="Arial" charset="0"/>
                  <a:ea typeface="微软雅黑"/>
                  <a:cs typeface="Arial" charset="0"/>
                </a:rPr>
                <a:t>[2012]57</a:t>
              </a:r>
              <a:r>
                <a:rPr sz="1700" b="1">
                  <a:solidFill>
                    <a:srgbClr val="222222"/>
                  </a:solidFill>
                  <a:latin typeface="Arial" charset="0"/>
                  <a:ea typeface="微软雅黑"/>
                  <a:cs typeface="Arial" charset="0"/>
                </a:rPr>
                <a:t>号：</a:t>
              </a:r>
              <a:endParaRPr sz="1700" b="1">
                <a:solidFill>
                  <a:srgbClr val="222222"/>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卫生事业发展“十二五”规划</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：新医改 基本实现同级医疗机构检查结果互认。</a:t>
              </a:r>
              <a:endParaRPr sz="1700" b="0">
                <a:solidFill>
                  <a:srgbClr val="222222"/>
                </a:solidFill>
                <a:latin typeface="Arial" charset="0"/>
                <a:ea typeface="微软雅黑"/>
                <a:cs typeface="Arial" charset="0"/>
              </a:endParaRPr>
            </a:p>
          </p:txBody>
        </p:sp>
        <p:sp>
          <p:nvSpPr>
            <p:cNvPr id="12" name="CITE"/>
            <p:cNvSpPr txBox="1"/>
            <p:nvPr/>
          </p:nvSpPr>
          <p:spPr>
            <a:xfrm>
              <a:off x="3855296" y="2537968"/>
              <a:ext cx="198909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国发〔2012〕57号</a:t>
              </a:r>
              <a:endParaRPr sz="1200" b="0">
                <a:solidFill>
                  <a:srgbClr val="5B6B7F"/>
                </a:solidFill>
                <a:latin typeface="Arial" charset="0"/>
                <a:ea typeface="微软雅黑"/>
                <a:cs typeface="Arial" charset="0"/>
              </a:endParaRPr>
            </a:p>
          </p:txBody>
        </p:sp>
      </p:grpSp>
      <p:grpSp>
        <p:nvGrpSpPr>
          <p:cNvPr id="13" name="QBOX"/>
          <p:cNvGrpSpPr/>
          <p:nvPr/>
        </p:nvGrpSpPr>
        <p:grpSpPr>
          <a:xfrm>
            <a:off x="1325880" y="3104895"/>
            <a:ext cx="4655667" cy="1361440"/>
            <a:chOff x="1325880" y="3104895"/>
            <a:chExt cx="4655667" cy="1361440"/>
          </a:xfrm>
        </p:grpSpPr>
        <p:sp>
          <p:nvSpPr>
            <p:cNvPr id="14" name="Rounded Rectangle 13"/>
            <p:cNvSpPr/>
            <p:nvPr/>
          </p:nvSpPr>
          <p:spPr>
            <a:xfrm>
              <a:off x="1325880" y="3104895"/>
              <a:ext cx="4655667" cy="1361440"/>
            </a:xfrm>
            <a:prstGeom prst="roundRect">
              <a:avLst>
                <a:gd name="adj" fmla="val 5373"/>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15061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6" name="TextBox 15"/>
            <p:cNvSpPr txBox="1"/>
            <p:nvPr/>
          </p:nvSpPr>
          <p:spPr>
            <a:xfrm>
              <a:off x="1737360" y="3242055"/>
              <a:ext cx="4107027" cy="1096264"/>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222222"/>
                  </a:solidFill>
                  <a:latin typeface="Arial" charset="0"/>
                  <a:ea typeface="微软雅黑"/>
                  <a:cs typeface="Arial" charset="0"/>
                </a:rPr>
                <a:t>国发</a:t>
              </a:r>
              <a:r>
                <a:rPr sz="1700" b="1">
                  <a:solidFill>
                    <a:srgbClr val="222222"/>
                  </a:solidFill>
                  <a:latin typeface="Arial" charset="0"/>
                  <a:ea typeface="微软雅黑"/>
                  <a:cs typeface="Arial" charset="0"/>
                </a:rPr>
                <a:t>[2013]40</a:t>
              </a:r>
              <a:r>
                <a:rPr sz="1700" b="1">
                  <a:solidFill>
                    <a:srgbClr val="222222"/>
                  </a:solidFill>
                  <a:latin typeface="Arial" charset="0"/>
                  <a:ea typeface="微软雅黑"/>
                  <a:cs typeface="Arial" charset="0"/>
                </a:rPr>
                <a:t>号：</a:t>
              </a:r>
              <a:endParaRPr sz="1700" b="1">
                <a:solidFill>
                  <a:srgbClr val="222222"/>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国务院关于促进健康服务业发展的若干意见</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：优化医疗资源配置，推动医疗机构检查结果互认。</a:t>
              </a:r>
              <a:endParaRPr sz="1700" b="0">
                <a:solidFill>
                  <a:srgbClr val="222222"/>
                </a:solidFill>
                <a:latin typeface="Arial" charset="0"/>
                <a:ea typeface="微软雅黑"/>
                <a:cs typeface="Arial" charset="0"/>
              </a:endParaRPr>
            </a:p>
          </p:txBody>
        </p:sp>
        <p:sp>
          <p:nvSpPr>
            <p:cNvPr id="17" name="CITE"/>
            <p:cNvSpPr txBox="1"/>
            <p:nvPr/>
          </p:nvSpPr>
          <p:spPr>
            <a:xfrm>
              <a:off x="3855296" y="4089907"/>
              <a:ext cx="198909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国发〔2013〕40号</a:t>
              </a:r>
              <a:endParaRPr sz="1200" b="0">
                <a:solidFill>
                  <a:srgbClr val="5B6B7F"/>
                </a:solidFill>
                <a:latin typeface="Arial" charset="0"/>
                <a:ea typeface="微软雅黑"/>
                <a:cs typeface="Arial" charset="0"/>
              </a:endParaRPr>
            </a:p>
          </p:txBody>
        </p:sp>
      </p:grpSp>
      <p:cxnSp>
        <p:nvCxnSpPr>
          <p:cNvPr id="18" name="LINE"/>
          <p:cNvCxnSpPr/>
          <p:nvPr/>
        </p:nvCxnSpPr>
        <p:spPr>
          <a:xfrm>
            <a:off x="1051560" y="1801368"/>
            <a:ext cx="0" cy="248208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2012</a:t>
            </a:r>
            <a:endParaRPr sz="1400" b="1">
              <a:solidFill>
                <a:srgbClr val="1F3A5F"/>
              </a:solidFill>
              <a:latin typeface="Arial" charset="0"/>
              <a:ea typeface="微软雅黑"/>
              <a:cs typeface="Arial" charset="0"/>
            </a:endParaRPr>
          </a:p>
        </p:txBody>
      </p:sp>
      <p:sp>
        <p:nvSpPr>
          <p:cNvPr id="21" name="DOT"/>
          <p:cNvSpPr/>
          <p:nvPr/>
        </p:nvSpPr>
        <p:spPr>
          <a:xfrm>
            <a:off x="978407" y="3278631"/>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1462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2013</a:t>
            </a:r>
            <a:endParaRPr sz="1400" b="1">
              <a:solidFill>
                <a:srgbClr val="1F3A5F"/>
              </a:solidFill>
              <a:latin typeface="Arial" charset="0"/>
              <a:ea typeface="微软雅黑"/>
              <a:cs typeface="Arial" charset="0"/>
            </a:endParaRPr>
          </a:p>
        </p:txBody>
      </p:sp>
      <p:grpSp>
        <p:nvGrpSpPr>
          <p:cNvPr id="23" name="QBOX"/>
          <p:cNvGrpSpPr/>
          <p:nvPr/>
        </p:nvGrpSpPr>
        <p:grpSpPr>
          <a:xfrm>
            <a:off x="6987387" y="1554480"/>
            <a:ext cx="4655667" cy="1569720"/>
            <a:chOff x="6987387" y="1554480"/>
            <a:chExt cx="4655667" cy="1569720"/>
          </a:xfrm>
        </p:grpSpPr>
        <p:sp>
          <p:nvSpPr>
            <p:cNvPr id="24" name="Rounded Rectangle 23"/>
            <p:cNvSpPr/>
            <p:nvPr/>
          </p:nvSpPr>
          <p:spPr>
            <a:xfrm>
              <a:off x="6987387" y="1554480"/>
              <a:ext cx="4655667" cy="1569720"/>
            </a:xfrm>
            <a:prstGeom prst="roundRect">
              <a:avLst>
                <a:gd name="adj" fmla="val 4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6" name="TextBox 25"/>
            <p:cNvSpPr txBox="1"/>
            <p:nvPr/>
          </p:nvSpPr>
          <p:spPr>
            <a:xfrm>
              <a:off x="7398867" y="1691639"/>
              <a:ext cx="4107027" cy="1304544"/>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直到</a:t>
              </a:r>
              <a:r>
                <a:rPr sz="1700" b="0">
                  <a:solidFill>
                    <a:srgbClr val="222222"/>
                  </a:solidFill>
                  <a:latin typeface="Arial" charset="0"/>
                  <a:ea typeface="微软雅黑"/>
                  <a:cs typeface="Arial" charset="0"/>
                </a:rPr>
                <a:t>2016</a:t>
              </a:r>
              <a:r>
                <a:rPr sz="1700" b="0">
                  <a:solidFill>
                    <a:srgbClr val="222222"/>
                  </a:solidFill>
                  <a:latin typeface="Arial" charset="0"/>
                  <a:ea typeface="微软雅黑"/>
                  <a:cs typeface="Arial" charset="0"/>
                </a:rPr>
                <a:t>年，才开始有真正的检验项目落地，首批</a:t>
              </a:r>
              <a:r>
                <a:rPr sz="1700" b="0">
                  <a:solidFill>
                    <a:srgbClr val="222222"/>
                  </a:solidFill>
                  <a:latin typeface="Arial" charset="0"/>
                  <a:ea typeface="微软雅黑"/>
                  <a:cs typeface="Arial" charset="0"/>
                </a:rPr>
                <a:t>27</a:t>
              </a:r>
              <a:r>
                <a:rPr sz="1700" b="0">
                  <a:solidFill>
                    <a:srgbClr val="222222"/>
                  </a:solidFill>
                  <a:latin typeface="Arial" charset="0"/>
                  <a:ea typeface="微软雅黑"/>
                  <a:cs typeface="Arial" charset="0"/>
                </a:rPr>
                <a:t>项临床检验结果在</a:t>
              </a:r>
              <a:r>
                <a:rPr sz="1700" b="0">
                  <a:solidFill>
                    <a:srgbClr val="222222"/>
                  </a:solidFill>
                  <a:latin typeface="Arial" charset="0"/>
                  <a:ea typeface="微软雅黑"/>
                  <a:cs typeface="Arial" charset="0"/>
                </a:rPr>
                <a:t>132</a:t>
              </a:r>
              <a:r>
                <a:rPr sz="1700" b="0">
                  <a:solidFill>
                    <a:srgbClr val="222222"/>
                  </a:solidFill>
                  <a:latin typeface="Arial" charset="0"/>
                  <a:ea typeface="微软雅黑"/>
                  <a:cs typeface="Arial" charset="0"/>
                </a:rPr>
                <a:t>家来自北京、天津、河北等省市的医疗机构中推行互认，医疗检查结果互认制度终于迎来了破冰期。</a:t>
              </a:r>
              <a:endParaRPr sz="1700" b="0">
                <a:solidFill>
                  <a:srgbClr val="222222"/>
                </a:solidFill>
                <a:latin typeface="Arial" charset="0"/>
                <a:ea typeface="微软雅黑"/>
                <a:cs typeface="Arial" charset="0"/>
              </a:endParaRPr>
            </a:p>
          </p:txBody>
        </p:sp>
        <p:sp>
          <p:nvSpPr>
            <p:cNvPr id="27" name="CITE"/>
            <p:cNvSpPr txBox="1"/>
            <p:nvPr/>
          </p:nvSpPr>
          <p:spPr>
            <a:xfrm>
              <a:off x="10387880" y="2747772"/>
              <a:ext cx="1118015" cy="201168"/>
            </a:xfrm>
            <a:prstGeom prst="rect">
              <a:avLst/>
            </a:prstGeom>
            <a:noFill/>
          </p:spPr>
          <p:txBody>
            <a:bodyPr wrap="square" lIns="0" tIns="0" rIns="0" bIns="0" anchor="t">
              <a:noAutofit/>
            </a:bodyPr>
            <a:lstStyle/>
            <a:p>
              <a:pPr algn="r">
                <a:lnSpc>
                  <a:spcPts val="1440"/>
                </a:lnSpc>
                <a:spcBef>
                  <a:spcPts val="0"/>
                </a:spcBef>
                <a:spcAft>
                  <a:spcPts val="0"/>
                </a:spcAft>
                <a:buNone/>
              </a:pPr>
              <a:endParaRPr sz="1200" b="0">
                <a:solidFill>
                  <a:srgbClr val="5B6B7F"/>
                </a:solidFill>
                <a:latin typeface="Arial" charset="0"/>
                <a:ea typeface="微软雅黑"/>
                <a:cs typeface="Arial" charset="0"/>
              </a:endParaRPr>
            </a:p>
          </p:txBody>
        </p:sp>
      </p:grpSp>
      <p:grpSp>
        <p:nvGrpSpPr>
          <p:cNvPr id="28" name="QBOX"/>
          <p:cNvGrpSpPr/>
          <p:nvPr/>
        </p:nvGrpSpPr>
        <p:grpSpPr>
          <a:xfrm>
            <a:off x="6987387" y="3352800"/>
            <a:ext cx="4655667" cy="1789176"/>
            <a:chOff x="6987387" y="3352800"/>
            <a:chExt cx="4655667" cy="1789176"/>
          </a:xfrm>
        </p:grpSpPr>
        <p:sp>
          <p:nvSpPr>
            <p:cNvPr id="29" name="Rounded Rectangle 28"/>
            <p:cNvSpPr/>
            <p:nvPr/>
          </p:nvSpPr>
          <p:spPr>
            <a:xfrm>
              <a:off x="6987387" y="3352800"/>
              <a:ext cx="4655667" cy="1789176"/>
            </a:xfrm>
            <a:prstGeom prst="roundRect">
              <a:avLst>
                <a:gd name="adj" fmla="val 40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398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31" name="TextBox 30"/>
            <p:cNvSpPr txBox="1"/>
            <p:nvPr/>
          </p:nvSpPr>
          <p:spPr>
            <a:xfrm>
              <a:off x="7398867" y="3489960"/>
              <a:ext cx="4107027" cy="1304544"/>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2021</a:t>
              </a:r>
              <a:r>
                <a:rPr sz="1700" b="0">
                  <a:solidFill>
                    <a:srgbClr val="222222"/>
                  </a:solidFill>
                  <a:latin typeface="Arial" charset="0"/>
                  <a:ea typeface="微软雅黑"/>
                  <a:cs typeface="Arial" charset="0"/>
                </a:rPr>
                <a:t>年，国家卫生健康委医政医管局组织起草了</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医疗机构检查检验结果互认管理办法（征求意见稿）</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，给出了详细的结果互认办法，</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互认标识</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医疗机构检查检验结果互认标志统一为</a:t>
              </a:r>
              <a:r>
                <a:rPr sz="1700" b="0">
                  <a:solidFill>
                    <a:srgbClr val="222222"/>
                  </a:solidFill>
                  <a:latin typeface="Arial" charset="0"/>
                  <a:ea typeface="微软雅黑"/>
                  <a:cs typeface="Arial" charset="0"/>
                </a:rPr>
                <a:t>HR</a:t>
              </a:r>
              <a:r>
                <a:rPr sz="1700" b="0">
                  <a:solidFill>
                    <a:srgbClr val="222222"/>
                  </a:solidFill>
                  <a:latin typeface="Arial" charset="0"/>
                  <a:ea typeface="微软雅黑"/>
                  <a:cs typeface="Arial" charset="0"/>
                </a:rPr>
                <a:t>。</a:t>
              </a:r>
              <a:endParaRPr sz="1700" b="0">
                <a:solidFill>
                  <a:srgbClr val="222222"/>
                </a:solidFill>
                <a:latin typeface="Arial" charset="0"/>
                <a:ea typeface="微软雅黑"/>
                <a:cs typeface="Arial" charset="0"/>
              </a:endParaRPr>
            </a:p>
          </p:txBody>
        </p:sp>
        <p:sp>
          <p:nvSpPr>
            <p:cNvPr id="32" name="CITE"/>
            <p:cNvSpPr txBox="1"/>
            <p:nvPr/>
          </p:nvSpPr>
          <p:spPr>
            <a:xfrm>
              <a:off x="10387880" y="4803648"/>
              <a:ext cx="1118015" cy="201168"/>
            </a:xfrm>
            <a:prstGeom prst="rect">
              <a:avLst/>
            </a:prstGeom>
            <a:noFill/>
          </p:spPr>
          <p:txBody>
            <a:bodyPr wrap="square" lIns="0" tIns="0" rIns="0" bIns="0" anchor="t">
              <a:noAutofit/>
            </a:bodyPr>
            <a:lstStyle/>
            <a:p>
              <a:pPr algn="r">
                <a:lnSpc>
                  <a:spcPts val="1440"/>
                </a:lnSpc>
                <a:spcBef>
                  <a:spcPts val="0"/>
                </a:spcBef>
                <a:spcAft>
                  <a:spcPts val="0"/>
                </a:spcAft>
                <a:buNone/>
              </a:pPr>
              <a:endParaRPr sz="1200" b="0">
                <a:solidFill>
                  <a:srgbClr val="5B6B7F"/>
                </a:solidFill>
                <a:latin typeface="Arial" charset="0"/>
                <a:ea typeface="微软雅黑"/>
                <a:cs typeface="Arial" charset="0"/>
              </a:endParaRPr>
            </a:p>
          </p:txBody>
        </p:sp>
      </p:grpSp>
      <p:cxnSp>
        <p:nvCxnSpPr>
          <p:cNvPr id="33" name="LINE"/>
          <p:cNvCxnSpPr/>
          <p:nvPr/>
        </p:nvCxnSpPr>
        <p:spPr>
          <a:xfrm>
            <a:off x="6713067" y="1801368"/>
            <a:ext cx="0" cy="31577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2016</a:t>
            </a:r>
            <a:endParaRPr sz="1400" b="1">
              <a:solidFill>
                <a:srgbClr val="1F3A5F"/>
              </a:solidFill>
              <a:latin typeface="Arial" charset="0"/>
              <a:ea typeface="微软雅黑"/>
              <a:cs typeface="Arial" charset="0"/>
            </a:endParaRPr>
          </a:p>
        </p:txBody>
      </p:sp>
      <p:sp>
        <p:nvSpPr>
          <p:cNvPr id="36" name="DOT"/>
          <p:cNvSpPr/>
          <p:nvPr/>
        </p:nvSpPr>
        <p:spPr>
          <a:xfrm>
            <a:off x="6639915" y="3526536"/>
            <a:ext cx="146304" cy="14630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46252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2021</a:t>
            </a:r>
            <a:endParaRPr sz="1400" b="1">
              <a:solidFill>
                <a:srgbClr val="1F3A5F"/>
              </a:solidFill>
              <a:latin typeface="Arial" charset="0"/>
              <a:ea typeface="微软雅黑"/>
              <a:cs typeface="Arial" charset="0"/>
            </a:endParaRPr>
          </a:p>
        </p:txBody>
      </p:sp>
      <p:sp>
        <p:nvSpPr>
          <p:cNvPr id="38" name="BADGE"/>
          <p:cNvSpPr/>
          <p:nvPr/>
        </p:nvSpPr>
        <p:spPr>
          <a:xfrm>
            <a:off x="10254848" y="5251704"/>
            <a:ext cx="138820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正式稿见下页</a:t>
            </a:r>
            <a:endParaRPr sz="1200" b="1">
              <a:solidFill>
                <a:srgbClr val="FFFFFF"/>
              </a:solidFill>
              <a:latin typeface="Arial" charset="0"/>
              <a:ea typeface="微软雅黑"/>
              <a:cs typeface="Arial" charset="0"/>
            </a:endParaRPr>
          </a:p>
        </p:txBody>
      </p:sp>
      <p:pic>
        <p:nvPicPr>
          <p:cNvPr id="39"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5202501"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互认最新进展（2022–2026）</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6</a:t>
            </a:r>
            <a:endParaRPr sz="1200" b="0">
              <a:solidFill>
                <a:srgbClr val="6B7280"/>
              </a:solidFill>
              <a:latin typeface="Arial" charset="0"/>
              <a:ea typeface="微软雅黑"/>
              <a:cs typeface="Arial" charset="0"/>
            </a:endParaRPr>
          </a:p>
        </p:txBody>
      </p:sp>
      <p:sp>
        <p:nvSpPr>
          <p:cNvPr id="6" name="SRCBADGE"/>
          <p:cNvSpPr/>
          <p:nvPr/>
        </p:nvSpPr>
        <p:spPr>
          <a:xfrm>
            <a:off x="9149791" y="5852160"/>
            <a:ext cx="249326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来源：国家政策文件与行业标准</a:t>
            </a:r>
            <a:endParaRPr sz="1200" b="1">
              <a:solidFill>
                <a:srgbClr val="5B6B7F"/>
              </a:solidFill>
              <a:latin typeface="Arial" charset="0"/>
              <a:ea typeface="微软雅黑"/>
              <a:cs typeface="Arial" charset="0"/>
            </a:endParaRPr>
          </a:p>
        </p:txBody>
      </p:sp>
      <p:cxnSp>
        <p:nvCxnSpPr>
          <p:cNvPr id="7" name="LINE"/>
          <p:cNvCxnSpPr/>
          <p:nvPr/>
        </p:nvCxnSpPr>
        <p:spPr>
          <a:xfrm>
            <a:off x="548640" y="1691639"/>
            <a:ext cx="11094415" cy="0"/>
          </a:xfrm>
          <a:prstGeom prst="line">
            <a:avLst/>
          </a:prstGeom>
          <a:ln w="31750">
            <a:solidFill>
              <a:srgbClr val="D5DAE0"/>
            </a:solidFill>
          </a:ln>
        </p:spPr>
        <p:style>
          <a:lnRef idx="2">
            <a:schemeClr val="accent1"/>
          </a:lnRef>
          <a:fillRef idx="0">
            <a:schemeClr val="accent1"/>
          </a:fillRef>
          <a:effectRef idx="1">
            <a:schemeClr val="accent1"/>
          </a:effectRef>
          <a:fontRef idx="minor">
            <a:schemeClr val="tx1"/>
          </a:fontRef>
        </p:style>
      </p:cxnSp>
      <p:sp>
        <p:nvSpPr>
          <p:cNvPr id="8" name="DOT"/>
          <p:cNvSpPr/>
          <p:nvPr/>
        </p:nvSpPr>
        <p:spPr>
          <a:xfrm>
            <a:off x="603504"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TLNODE"/>
          <p:cNvGrpSpPr/>
          <p:nvPr/>
        </p:nvGrpSpPr>
        <p:grpSpPr>
          <a:xfrm>
            <a:off x="548640" y="1920239"/>
            <a:ext cx="3545738" cy="1917192"/>
            <a:chOff x="548640" y="1920239"/>
            <a:chExt cx="3545738" cy="1917192"/>
          </a:xfrm>
        </p:grpSpPr>
        <p:sp>
          <p:nvSpPr>
            <p:cNvPr id="10" name="Rounded Rectangle 9"/>
            <p:cNvSpPr/>
            <p:nvPr/>
          </p:nvSpPr>
          <p:spPr>
            <a:xfrm>
              <a:off x="548640"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charset="0"/>
                  <a:ea typeface="微软雅黑"/>
                  <a:cs typeface="Arial" charset="0"/>
                </a:rPr>
                <a:t>2022-03-01</a:t>
              </a:r>
              <a:endParaRPr sz="1600" b="1">
                <a:solidFill>
                  <a:srgbClr val="5B6B7F"/>
                </a:solidFill>
                <a:latin typeface="Arial" charset="0"/>
                <a:ea typeface="微软雅黑"/>
                <a:cs typeface="Arial" charset="0"/>
              </a:endParaRPr>
            </a:p>
          </p:txBody>
        </p:sp>
        <p:sp>
          <p:nvSpPr>
            <p:cNvPr id="12" name="TextBox 11"/>
            <p:cNvSpPr txBox="1"/>
            <p:nvPr/>
          </p:nvSpPr>
          <p:spPr>
            <a:xfrm>
              <a:off x="685800" y="2377439"/>
              <a:ext cx="3271418" cy="1368552"/>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《医疗机构检查检验结果互认管理办法》施行（国卫医发〔2022〕6号）；第十三条规定互认标志统一为HR</a:t>
              </a:r>
              <a:endParaRPr sz="1700" b="0">
                <a:solidFill>
                  <a:srgbClr val="222222"/>
                </a:solidFill>
                <a:latin typeface="Arial" charset="0"/>
                <a:ea typeface="微软雅黑"/>
                <a:cs typeface="Arial" charset="0"/>
              </a:endParaRPr>
            </a:p>
          </p:txBody>
        </p:sp>
      </p:grpSp>
      <p:sp>
        <p:nvSpPr>
          <p:cNvPr id="13" name="DOT"/>
          <p:cNvSpPr/>
          <p:nvPr/>
        </p:nvSpPr>
        <p:spPr>
          <a:xfrm>
            <a:off x="4377842"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4" name="TLNODE"/>
          <p:cNvGrpSpPr/>
          <p:nvPr/>
        </p:nvGrpSpPr>
        <p:grpSpPr>
          <a:xfrm>
            <a:off x="4322978" y="1920239"/>
            <a:ext cx="3545738" cy="1917192"/>
            <a:chOff x="4322978" y="1920239"/>
            <a:chExt cx="3545738" cy="1917192"/>
          </a:xfrm>
        </p:grpSpPr>
        <p:sp>
          <p:nvSpPr>
            <p:cNvPr id="15" name="Rounded Rectangle 14"/>
            <p:cNvSpPr/>
            <p:nvPr/>
          </p:nvSpPr>
          <p:spPr>
            <a:xfrm>
              <a:off x="4322978"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0138"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charset="0"/>
                  <a:ea typeface="微软雅黑"/>
                  <a:cs typeface="Arial" charset="0"/>
                </a:rPr>
                <a:t>2024-11</a:t>
              </a:r>
              <a:endParaRPr sz="1600" b="1">
                <a:solidFill>
                  <a:srgbClr val="5B6B7F"/>
                </a:solidFill>
                <a:latin typeface="Arial" charset="0"/>
                <a:ea typeface="微软雅黑"/>
                <a:cs typeface="Arial" charset="0"/>
              </a:endParaRPr>
            </a:p>
          </p:txBody>
        </p:sp>
        <p:sp>
          <p:nvSpPr>
            <p:cNvPr id="17" name="TextBox 16"/>
            <p:cNvSpPr txBox="1"/>
            <p:nvPr/>
          </p:nvSpPr>
          <p:spPr>
            <a:xfrm>
              <a:off x="4460138" y="2377439"/>
              <a:ext cx="3271418" cy="1368552"/>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七部门《关于进一步推进医疗机构检查检验结果互认的指导意见》（国卫医政发〔2024〕37号）：2025年底地市域互认项目&gt;200项，2027年底省域&gt;300项</a:t>
              </a:r>
              <a:endParaRPr sz="1700" b="0">
                <a:solidFill>
                  <a:srgbClr val="222222"/>
                </a:solidFill>
                <a:latin typeface="Arial" charset="0"/>
                <a:ea typeface="微软雅黑"/>
                <a:cs typeface="Arial" charset="0"/>
              </a:endParaRPr>
            </a:p>
          </p:txBody>
        </p:sp>
      </p:grpSp>
      <p:sp>
        <p:nvSpPr>
          <p:cNvPr id="18" name="DOT"/>
          <p:cNvSpPr/>
          <p:nvPr/>
        </p:nvSpPr>
        <p:spPr>
          <a:xfrm>
            <a:off x="8152180" y="1609343"/>
            <a:ext cx="164592" cy="164592"/>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9" name="TLNODE"/>
          <p:cNvGrpSpPr/>
          <p:nvPr/>
        </p:nvGrpSpPr>
        <p:grpSpPr>
          <a:xfrm>
            <a:off x="8097316" y="1920239"/>
            <a:ext cx="3545738" cy="1917192"/>
            <a:chOff x="8097316" y="1920239"/>
            <a:chExt cx="3545738" cy="1917192"/>
          </a:xfrm>
        </p:grpSpPr>
        <p:sp>
          <p:nvSpPr>
            <p:cNvPr id="20" name="Rounded Rectangle 19"/>
            <p:cNvSpPr/>
            <p:nvPr/>
          </p:nvSpPr>
          <p:spPr>
            <a:xfrm>
              <a:off x="8097316" y="1920239"/>
              <a:ext cx="3545738" cy="1917192"/>
            </a:xfrm>
            <a:prstGeom prst="roundRect">
              <a:avLst>
                <a:gd name="adj" fmla="val 3815"/>
              </a:avLst>
            </a:prstGeom>
            <a:solidFill>
              <a:srgbClr val="FDF1E8"/>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4476"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2026-11-01</a:t>
              </a:r>
              <a:endParaRPr sz="1600" b="1">
                <a:solidFill>
                  <a:srgbClr val="E8833A"/>
                </a:solidFill>
                <a:latin typeface="Arial" charset="0"/>
                <a:ea typeface="微软雅黑"/>
                <a:cs typeface="Arial" charset="0"/>
              </a:endParaRPr>
            </a:p>
          </p:txBody>
        </p:sp>
        <p:sp>
          <p:nvSpPr>
            <p:cNvPr id="22" name="TextBox 21"/>
            <p:cNvSpPr txBox="1"/>
            <p:nvPr/>
          </p:nvSpPr>
          <p:spPr>
            <a:xfrm>
              <a:off x="8234476" y="2377439"/>
              <a:ext cx="3271418" cy="1368552"/>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WS/T 885—2026 实施；4.2.3 要求</a:t>
              </a:r>
              <a:r>
                <a:rPr sz="1700" b="1">
                  <a:solidFill>
                    <a:srgbClr val="E8833A"/>
                  </a:solidFill>
                  <a:latin typeface="Arial" charset="0"/>
                  <a:ea typeface="微软雅黑"/>
                  <a:cs typeface="Arial" charset="0"/>
                </a:rPr>
                <a:t>“实验室内部比对”</a:t>
              </a:r>
              <a:r>
                <a:rPr sz="1700" b="0">
                  <a:solidFill>
                    <a:srgbClr val="222222"/>
                  </a:solidFill>
                  <a:latin typeface="Arial" charset="0"/>
                  <a:ea typeface="微软雅黑"/>
                  <a:cs typeface="Arial" charset="0"/>
                </a:rPr>
                <a:t>遵循 WS/T 407 等标准</a:t>
              </a:r>
              <a:endParaRPr sz="1700" b="0">
                <a:solidFill>
                  <a:srgbClr val="222222"/>
                </a:solidFill>
                <a:latin typeface="Arial" charset="0"/>
                <a:ea typeface="微软雅黑"/>
                <a:cs typeface="Arial" charset="0"/>
              </a:endParaRPr>
            </a:p>
          </p:txBody>
        </p:sp>
      </p:grpSp>
      <p:grpSp>
        <p:nvGrpSpPr>
          <p:cNvPr id="23" name="QBOX"/>
          <p:cNvGrpSpPr/>
          <p:nvPr/>
        </p:nvGrpSpPr>
        <p:grpSpPr>
          <a:xfrm>
            <a:off x="548640" y="4203192"/>
            <a:ext cx="7320076" cy="1321816"/>
            <a:chOff x="548640" y="4203192"/>
            <a:chExt cx="7320076" cy="1321816"/>
          </a:xfrm>
        </p:grpSpPr>
        <p:sp>
          <p:nvSpPr>
            <p:cNvPr id="24" name="Rounded Rectangle 23"/>
            <p:cNvSpPr/>
            <p:nvPr/>
          </p:nvSpPr>
          <p:spPr>
            <a:xfrm>
              <a:off x="548640" y="4203192"/>
              <a:ext cx="7320076"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24891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6" name="TextBox 25"/>
            <p:cNvSpPr txBox="1"/>
            <p:nvPr/>
          </p:nvSpPr>
          <p:spPr>
            <a:xfrm>
              <a:off x="960120" y="4340352"/>
              <a:ext cx="6771436" cy="837183"/>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1F3A5F"/>
                  </a:solidFill>
                  <a:latin typeface="Arial" charset="0"/>
                  <a:ea typeface="微软雅黑"/>
                  <a:cs typeface="Arial" charset="0"/>
                </a:rPr>
                <a:t>互认的技术前提＝院内结果可比</a:t>
              </a:r>
              <a:endParaRPr sz="1700" b="1">
                <a:solidFill>
                  <a:srgbClr val="1F3A5F"/>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“……发挥相关质控组织、专业机构等作用，明确不同仪器设备、试剂和检测方法的参考范围和结果判读标准”</a:t>
              </a:r>
              <a:endParaRPr sz="1700" b="0">
                <a:solidFill>
                  <a:srgbClr val="222222"/>
                </a:solidFill>
                <a:latin typeface="Arial" charset="0"/>
                <a:ea typeface="微软雅黑"/>
                <a:cs typeface="Arial" charset="0"/>
              </a:endParaRPr>
            </a:p>
          </p:txBody>
        </p:sp>
        <p:sp>
          <p:nvSpPr>
            <p:cNvPr id="27" name="CITE"/>
            <p:cNvSpPr txBox="1"/>
            <p:nvPr/>
          </p:nvSpPr>
          <p:spPr>
            <a:xfrm>
              <a:off x="5257834" y="5186679"/>
              <a:ext cx="247372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国卫医政发〔2024〕37号</a:t>
              </a:r>
              <a:endParaRPr sz="1200" b="0">
                <a:solidFill>
                  <a:srgbClr val="5B6B7F"/>
                </a:solidFill>
                <a:latin typeface="Arial" charset="0"/>
                <a:ea typeface="微软雅黑"/>
                <a:cs typeface="Arial" charset="0"/>
              </a:endParaRPr>
            </a:p>
          </p:txBody>
        </p:sp>
      </p:grpSp>
      <p:sp>
        <p:nvSpPr>
          <p:cNvPr id="28" name="BADGE"/>
          <p:cNvSpPr/>
          <p:nvPr/>
        </p:nvSpPr>
        <p:spPr>
          <a:xfrm>
            <a:off x="548640" y="5753608"/>
            <a:ext cx="1463442"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2021 征求意见稿</a:t>
            </a:r>
            <a:endParaRPr sz="1200" b="1">
              <a:solidFill>
                <a:srgbClr val="5B6B7F"/>
              </a:solidFill>
              <a:latin typeface="Arial" charset="0"/>
              <a:ea typeface="微软雅黑"/>
              <a:cs typeface="Arial" charset="0"/>
            </a:endParaRPr>
          </a:p>
        </p:txBody>
      </p:sp>
      <p:sp>
        <p:nvSpPr>
          <p:cNvPr id="29" name="BADGE"/>
          <p:cNvSpPr/>
          <p:nvPr/>
        </p:nvSpPr>
        <p:spPr>
          <a:xfrm>
            <a:off x="2140098" y="575360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
        <p:nvSpPr>
          <p:cNvPr id="30" name="BADGE"/>
          <p:cNvSpPr/>
          <p:nvPr/>
        </p:nvSpPr>
        <p:spPr>
          <a:xfrm>
            <a:off x="2579010" y="5753608"/>
            <a:ext cx="1146450" cy="274320"/>
          </a:xfrm>
          <a:prstGeom prst="roundRect">
            <a:avLst>
              <a:gd name="adj" fmla="val 26666"/>
            </a:avLst>
          </a:prstGeom>
          <a:solidFill>
            <a:srgbClr val="1F3A5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2022 正式稿</a:t>
            </a:r>
            <a:endParaRPr sz="1200" b="1">
              <a:solidFill>
                <a:srgbClr val="FFFFFF"/>
              </a:solidFill>
              <a:latin typeface="Arial" charset="0"/>
              <a:ea typeface="微软雅黑"/>
              <a:cs typeface="Arial" charset="0"/>
            </a:endParaRPr>
          </a:p>
        </p:txBody>
      </p:sp>
      <p:pic>
        <p:nvPicPr>
          <p:cNvPr id="31" name="NEWIMG" descr="06_1.png"/>
          <p:cNvPicPr>
            <a:picLocks noChangeAspect="1"/>
          </p:cNvPicPr>
          <p:nvPr/>
        </p:nvPicPr>
        <p:blipFill>
          <a:blip r:embed="rId1"/>
          <a:stretch>
            <a:fillRect/>
          </a:stretch>
        </p:blipFill>
        <p:spPr>
          <a:xfrm>
            <a:off x="8097520" y="3783965"/>
            <a:ext cx="3101340" cy="1565275"/>
          </a:xfrm>
          <a:prstGeom prst="roundRect">
            <a:avLst>
              <a:gd name="adj" fmla="val 6382"/>
            </a:avLst>
          </a:prstGeom>
        </p:spPr>
      </p:pic>
      <p:sp>
        <p:nvSpPr>
          <p:cNvPr id="32" name="TextBox 31"/>
          <p:cNvSpPr txBox="1"/>
          <p:nvPr/>
        </p:nvSpPr>
        <p:spPr>
          <a:xfrm>
            <a:off x="8097316" y="5404104"/>
            <a:ext cx="2072640"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示例图：征求意见稿与正式稿</a:t>
            </a:r>
            <a:endParaRPr sz="1200" b="0">
              <a:solidFill>
                <a:srgbClr val="6B7280"/>
              </a:solidFill>
              <a:latin typeface="Arial" charset="0"/>
              <a:ea typeface="微软雅黑"/>
              <a:cs typeface="Arial" charset="0"/>
            </a:endParaRPr>
          </a:p>
        </p:txBody>
      </p:sp>
      <p:pic>
        <p:nvPicPr>
          <p:cNvPr id="33"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9402775"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a:t>
            </a:r>
            <a:r>
              <a:rPr sz="2800" b="1">
                <a:solidFill>
                  <a:srgbClr val="C0392B"/>
                </a:solidFill>
                <a:latin typeface="Arial" charset="0"/>
                <a:ea typeface="微软雅黑"/>
                <a:cs typeface="Arial" charset="0"/>
              </a:rPr>
              <a:t>强制</a:t>
            </a:r>
            <a:r>
              <a:rPr sz="2800" b="1">
                <a:solidFill>
                  <a:srgbClr val="1F3A5F"/>
                </a:solidFill>
                <a:latin typeface="Arial" charset="0"/>
                <a:ea typeface="微软雅黑"/>
                <a:cs typeface="Arial" charset="0"/>
              </a:rPr>
              <a:t>）共分六章</a:t>
            </a:r>
            <a:r>
              <a:rPr sz="2800" b="1">
                <a:solidFill>
                  <a:srgbClr val="1F3A5F"/>
                </a:solidFill>
                <a:latin typeface="Arial" charset="0"/>
                <a:ea typeface="微软雅黑"/>
                <a:cs typeface="Arial" charset="0"/>
              </a:rPr>
              <a:t>56</a:t>
            </a:r>
            <a:r>
              <a:rPr sz="2800" b="1">
                <a:solidFill>
                  <a:srgbClr val="1F3A5F"/>
                </a:solidFill>
                <a:latin typeface="Arial" charset="0"/>
                <a:ea typeface="微软雅黑"/>
                <a:cs typeface="Arial" charset="0"/>
              </a:rPr>
              <a:t>条。</a:t>
            </a:r>
            <a:endParaRPr sz="2800" b="1">
              <a:solidFill>
                <a:srgbClr val="1F3A5F"/>
              </a:solidFill>
              <a:latin typeface="Arial" charset="0"/>
              <a:ea typeface="微软雅黑"/>
              <a:cs typeface="Arial" charset="0"/>
            </a:endParaRPr>
          </a:p>
        </p:txBody>
      </p:sp>
      <p:pic>
        <p:nvPicPr>
          <p:cNvPr id="4" name="NEWIMG_CORNER" descr="07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7</a:t>
            </a:r>
            <a:endParaRPr sz="1200" b="0">
              <a:solidFill>
                <a:srgbClr val="6B7280"/>
              </a:solidFill>
              <a:latin typeface="Arial" charset="0"/>
              <a:ea typeface="微软雅黑"/>
              <a:cs typeface="Arial" charset="0"/>
            </a:endParaRPr>
          </a:p>
        </p:txBody>
      </p:sp>
      <p:sp>
        <p:nvSpPr>
          <p:cNvPr id="7" name="SRCBADGE"/>
          <p:cNvSpPr/>
          <p:nvPr/>
        </p:nvSpPr>
        <p:spPr>
          <a:xfrm>
            <a:off x="9413365" y="5852160"/>
            <a:ext cx="2229690"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来源：卫医发〔2006〕73号</a:t>
            </a:r>
            <a:endParaRPr sz="1200" b="1">
              <a:solidFill>
                <a:srgbClr val="5B6B7F"/>
              </a:solidFill>
              <a:latin typeface="Arial" charset="0"/>
              <a:ea typeface="微软雅黑"/>
              <a:cs typeface="Arial" charset="0"/>
            </a:endParaRPr>
          </a:p>
        </p:txBody>
      </p:sp>
      <p:pic>
        <p:nvPicPr>
          <p:cNvPr id="8" name="ORIGPIC" descr="image.jpeg"/>
          <p:cNvPicPr>
            <a:picLocks noChangeAspect="1"/>
          </p:cNvPicPr>
          <p:nvPr/>
        </p:nvPicPr>
        <p:blipFill>
          <a:blip r:embed="rId3"/>
          <a:srcRect t="13135" b="14915"/>
          <a:stretch>
            <a:fillRect/>
          </a:stretch>
        </p:blipFill>
        <p:spPr>
          <a:xfrm>
            <a:off x="548640" y="1554480"/>
            <a:ext cx="2407644" cy="2011680"/>
          </a:xfrm>
          <a:prstGeom prst="roundRect">
            <a:avLst>
              <a:gd name="adj" fmla="val 3636"/>
            </a:avLst>
          </a:prstGeom>
          <a:ln w="9525">
            <a:solidFill>
              <a:srgbClr val="D5DAE0"/>
            </a:solidFill>
          </a:ln>
        </p:spPr>
      </p:pic>
      <p:graphicFrame>
        <p:nvGraphicFramePr>
          <p:cNvPr id="9" name="CHART"/>
          <p:cNvGraphicFramePr>
            <a:graphicFrameLocks noGrp="1"/>
          </p:cNvGraphicFramePr>
          <p:nvPr/>
        </p:nvGraphicFramePr>
        <p:xfrm>
          <a:off x="3184884" y="1554480"/>
          <a:ext cx="1325880" cy="1325880"/>
        </p:xfrm>
        <a:graphic>
          <a:graphicData uri="http://schemas.openxmlformats.org/drawingml/2006/chart">
            <c:chart xmlns:c="http://schemas.openxmlformats.org/drawingml/2006/chart" xmlns:r="http://schemas.openxmlformats.org/officeDocument/2006/relationships" r:id="rId1"/>
          </a:graphicData>
        </a:graphic>
      </p:graphicFrame>
      <p:sp>
        <p:nvSpPr>
          <p:cNvPr id="10" name="TextBox 9"/>
          <p:cNvSpPr txBox="1"/>
          <p:nvPr/>
        </p:nvSpPr>
        <p:spPr>
          <a:xfrm>
            <a:off x="4647924" y="1554480"/>
            <a:ext cx="2277207" cy="206552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第一章   总则 （</a:t>
            </a:r>
            <a:r>
              <a:rPr sz="1400" b="0">
                <a:solidFill>
                  <a:srgbClr val="222222"/>
                </a:solidFill>
                <a:latin typeface="Arial" charset="0"/>
                <a:ea typeface="微软雅黑"/>
                <a:cs typeface="Arial" charset="0"/>
              </a:rPr>
              <a:t>5</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第二章   实验室管理的一般规定 （</a:t>
            </a:r>
            <a:r>
              <a:rPr sz="1400" b="0">
                <a:solidFill>
                  <a:srgbClr val="222222"/>
                </a:solidFill>
                <a:latin typeface="Arial" charset="0"/>
                <a:ea typeface="微软雅黑"/>
                <a:cs typeface="Arial" charset="0"/>
              </a:rPr>
              <a:t>16</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第三章   </a:t>
            </a:r>
            <a:r>
              <a:rPr sz="1400" b="0">
                <a:solidFill>
                  <a:srgbClr val="C0392B"/>
                </a:solidFill>
                <a:latin typeface="Arial" charset="0"/>
                <a:ea typeface="微软雅黑"/>
                <a:cs typeface="Arial" charset="0"/>
              </a:rPr>
              <a:t>实验室质量管理 （</a:t>
            </a:r>
            <a:r>
              <a:rPr sz="1400" b="0">
                <a:solidFill>
                  <a:srgbClr val="C0392B"/>
                </a:solidFill>
                <a:latin typeface="Arial" charset="0"/>
                <a:ea typeface="微软雅黑"/>
                <a:cs typeface="Arial" charset="0"/>
              </a:rPr>
              <a:t>11</a:t>
            </a:r>
            <a:r>
              <a:rPr sz="1400" b="0">
                <a:solidFill>
                  <a:srgbClr val="C0392B"/>
                </a:solidFill>
                <a:latin typeface="Arial" charset="0"/>
                <a:ea typeface="微软雅黑"/>
                <a:cs typeface="Arial" charset="0"/>
              </a:rPr>
              <a:t>条）</a:t>
            </a:r>
            <a:endParaRPr sz="1400" b="0">
              <a:solidFill>
                <a:srgbClr val="C0392B"/>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第四章   实验室安全管理 （</a:t>
            </a:r>
            <a:r>
              <a:rPr sz="1400" b="0">
                <a:solidFill>
                  <a:srgbClr val="222222"/>
                </a:solidFill>
                <a:latin typeface="Arial" charset="0"/>
                <a:ea typeface="微软雅黑"/>
                <a:cs typeface="Arial" charset="0"/>
              </a:rPr>
              <a:t>11</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第五章   监督管理 （</a:t>
            </a:r>
            <a:r>
              <a:rPr sz="1400" b="0">
                <a:solidFill>
                  <a:srgbClr val="222222"/>
                </a:solidFill>
                <a:latin typeface="Arial" charset="0"/>
                <a:ea typeface="微软雅黑"/>
                <a:cs typeface="Arial" charset="0"/>
              </a:rPr>
              <a:t>9</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第六章   附则 （</a:t>
            </a:r>
            <a:r>
              <a:rPr sz="1400" b="0">
                <a:solidFill>
                  <a:srgbClr val="222222"/>
                </a:solidFill>
                <a:latin typeface="Arial" charset="0"/>
                <a:ea typeface="微软雅黑"/>
                <a:cs typeface="Arial" charset="0"/>
              </a:rPr>
              <a:t>4</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p:txBody>
      </p:sp>
      <p:grpSp>
        <p:nvGrpSpPr>
          <p:cNvPr id="11" name="QBOX"/>
          <p:cNvGrpSpPr/>
          <p:nvPr/>
        </p:nvGrpSpPr>
        <p:grpSpPr>
          <a:xfrm>
            <a:off x="548640" y="3794760"/>
            <a:ext cx="6376492" cy="1645920"/>
            <a:chOff x="548640" y="3794760"/>
            <a:chExt cx="6376492" cy="1645920"/>
          </a:xfrm>
        </p:grpSpPr>
        <p:sp>
          <p:nvSpPr>
            <p:cNvPr id="12" name="Rounded Rectangle 11"/>
            <p:cNvSpPr/>
            <p:nvPr/>
          </p:nvSpPr>
          <p:spPr>
            <a:xfrm>
              <a:off x="548640" y="3794760"/>
              <a:ext cx="6376492" cy="1645920"/>
            </a:xfrm>
            <a:prstGeom prst="roundRect">
              <a:avLst>
                <a:gd name="adj" fmla="val 444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38404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3931920"/>
              <a:ext cx="5827852"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政府对临床实验室管理十分重视，</a:t>
              </a:r>
              <a:r>
                <a:rPr sz="1800" b="0">
                  <a:solidFill>
                    <a:srgbClr val="222222"/>
                  </a:solidFill>
                  <a:latin typeface="Arial" charset="0"/>
                  <a:ea typeface="微软雅黑"/>
                  <a:cs typeface="Arial" charset="0"/>
                </a:rPr>
                <a:t>2000</a:t>
              </a:r>
              <a:r>
                <a:rPr sz="1800" b="0">
                  <a:solidFill>
                    <a:srgbClr val="222222"/>
                  </a:solidFill>
                  <a:latin typeface="Arial" charset="0"/>
                  <a:ea typeface="微软雅黑"/>
                  <a:cs typeface="Arial" charset="0"/>
                </a:rPr>
                <a:t>年</a:t>
              </a:r>
              <a:r>
                <a:rPr sz="1800" b="0">
                  <a:solidFill>
                    <a:srgbClr val="222222"/>
                  </a:solidFill>
                  <a:latin typeface="Arial" charset="0"/>
                  <a:ea typeface="微软雅黑"/>
                  <a:cs typeface="Arial" charset="0"/>
                </a:rPr>
                <a:t>1</a:t>
              </a:r>
              <a:r>
                <a:rPr sz="1800" b="0">
                  <a:solidFill>
                    <a:srgbClr val="222222"/>
                  </a:solidFill>
                  <a:latin typeface="Arial" charset="0"/>
                  <a:ea typeface="微软雅黑"/>
                  <a:cs typeface="Arial" charset="0"/>
                </a:rPr>
                <a:t>月</a:t>
              </a:r>
              <a:r>
                <a:rPr sz="1800" b="0">
                  <a:solidFill>
                    <a:srgbClr val="222222"/>
                  </a:solidFill>
                  <a:latin typeface="Arial" charset="0"/>
                  <a:ea typeface="微软雅黑"/>
                  <a:cs typeface="Arial" charset="0"/>
                </a:rPr>
                <a:t>31</a:t>
              </a:r>
              <a:r>
                <a:rPr sz="1800" b="0">
                  <a:solidFill>
                    <a:srgbClr val="222222"/>
                  </a:solidFill>
                  <a:latin typeface="Arial" charset="0"/>
                  <a:ea typeface="微软雅黑"/>
                  <a:cs typeface="Arial" charset="0"/>
                </a:rPr>
                <a:t>日卫生厅医政司批准立项起草制定</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医疗机构临床实验室管理办法</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经过六年多的调查研究、充分酝酿、讨论、修订在</a:t>
              </a:r>
              <a:r>
                <a:rPr sz="1800" b="0">
                  <a:solidFill>
                    <a:srgbClr val="222222"/>
                  </a:solidFill>
                  <a:latin typeface="Arial" charset="0"/>
                  <a:ea typeface="微软雅黑"/>
                  <a:cs typeface="Arial" charset="0"/>
                </a:rPr>
                <a:t>2006</a:t>
              </a:r>
              <a:r>
                <a:rPr sz="1800" b="0">
                  <a:solidFill>
                    <a:srgbClr val="222222"/>
                  </a:solidFill>
                  <a:latin typeface="Arial" charset="0"/>
                  <a:ea typeface="微软雅黑"/>
                  <a:cs typeface="Arial" charset="0"/>
                </a:rPr>
                <a:t>上半年正式发布。 </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办法</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的颁布对临床实验室规范化管理具有重大的意义。</a:t>
              </a:r>
              <a:endParaRPr sz="1800" b="0">
                <a:solidFill>
                  <a:srgbClr val="222222"/>
                </a:solidFill>
                <a:latin typeface="Arial" charset="0"/>
                <a:ea typeface="微软雅黑"/>
                <a:cs typeface="Arial" charset="0"/>
              </a:endParaRPr>
            </a:p>
          </p:txBody>
        </p:sp>
        <p:sp>
          <p:nvSpPr>
            <p:cNvPr id="15" name="CITE"/>
            <p:cNvSpPr txBox="1"/>
            <p:nvPr/>
          </p:nvSpPr>
          <p:spPr>
            <a:xfrm>
              <a:off x="5669957" y="5056632"/>
              <a:ext cx="1118015"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a:t>
              </a:r>
              <a:endParaRPr sz="1200" b="0">
                <a:solidFill>
                  <a:srgbClr val="5B6B7F"/>
                </a:solidFill>
                <a:latin typeface="Arial" charset="0"/>
                <a:ea typeface="微软雅黑"/>
                <a:cs typeface="Arial" charset="0"/>
              </a:endParaRPr>
            </a:p>
          </p:txBody>
        </p:sp>
      </p:grpSp>
      <p:grpSp>
        <p:nvGrpSpPr>
          <p:cNvPr id="16" name="NUMCARD"/>
          <p:cNvGrpSpPr/>
          <p:nvPr/>
        </p:nvGrpSpPr>
        <p:grpSpPr>
          <a:xfrm>
            <a:off x="7153732" y="1554480"/>
            <a:ext cx="2189797" cy="768096"/>
            <a:chOff x="7153732" y="1554480"/>
            <a:chExt cx="2189797" cy="768096"/>
          </a:xfrm>
        </p:grpSpPr>
        <p:sp>
          <p:nvSpPr>
            <p:cNvPr id="17" name="Rounded Rectangle 16"/>
            <p:cNvSpPr/>
            <p:nvPr/>
          </p:nvSpPr>
          <p:spPr>
            <a:xfrm>
              <a:off x="7153732"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6884" y="1618488"/>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1.</a:t>
              </a:r>
              <a:endParaRPr sz="1400" b="1">
                <a:solidFill>
                  <a:srgbClr val="E8833A"/>
                </a:solidFill>
                <a:latin typeface="Arial" charset="0"/>
                <a:ea typeface="微软雅黑"/>
                <a:cs typeface="Arial" charset="0"/>
              </a:endParaRPr>
            </a:p>
          </p:txBody>
        </p:sp>
        <p:sp>
          <p:nvSpPr>
            <p:cNvPr id="19" name="TextBox 18"/>
            <p:cNvSpPr txBox="1"/>
            <p:nvPr/>
          </p:nvSpPr>
          <p:spPr>
            <a:xfrm>
              <a:off x="7501204"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明确临床实验室定义及办法管辖范围</a:t>
              </a:r>
              <a:endParaRPr sz="1400" b="0">
                <a:solidFill>
                  <a:srgbClr val="222222"/>
                </a:solidFill>
                <a:latin typeface="Arial" charset="0"/>
                <a:ea typeface="微软雅黑"/>
                <a:cs typeface="Arial" charset="0"/>
              </a:endParaRPr>
            </a:p>
          </p:txBody>
        </p:sp>
      </p:grpSp>
      <p:grpSp>
        <p:nvGrpSpPr>
          <p:cNvPr id="20" name="NUMCARD"/>
          <p:cNvGrpSpPr/>
          <p:nvPr/>
        </p:nvGrpSpPr>
        <p:grpSpPr>
          <a:xfrm>
            <a:off x="9453257" y="1554480"/>
            <a:ext cx="2189797" cy="768096"/>
            <a:chOff x="9453257" y="1554480"/>
            <a:chExt cx="2189797" cy="768096"/>
          </a:xfrm>
        </p:grpSpPr>
        <p:sp>
          <p:nvSpPr>
            <p:cNvPr id="21" name="Rounded Rectangle 20"/>
            <p:cNvSpPr/>
            <p:nvPr/>
          </p:nvSpPr>
          <p:spPr>
            <a:xfrm>
              <a:off x="9453257"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0729"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6.     </a:t>
              </a:r>
              <a:r>
                <a:rPr sz="1400" b="0">
                  <a:solidFill>
                    <a:srgbClr val="222222"/>
                  </a:solidFill>
                  <a:latin typeface="Arial" charset="0"/>
                  <a:ea typeface="微软雅黑"/>
                  <a:cs typeface="Arial" charset="0"/>
                </a:rPr>
                <a:t>明确分析前质量保证要求，并由医疗机构统一组织实施</a:t>
              </a:r>
              <a:endParaRPr sz="1400" b="0">
                <a:solidFill>
                  <a:srgbClr val="222222"/>
                </a:solidFill>
                <a:latin typeface="Arial" charset="0"/>
                <a:ea typeface="微软雅黑"/>
                <a:cs typeface="Arial" charset="0"/>
              </a:endParaRPr>
            </a:p>
          </p:txBody>
        </p:sp>
      </p:grpSp>
      <p:grpSp>
        <p:nvGrpSpPr>
          <p:cNvPr id="23" name="NUMCARD"/>
          <p:cNvGrpSpPr/>
          <p:nvPr/>
        </p:nvGrpSpPr>
        <p:grpSpPr>
          <a:xfrm>
            <a:off x="7153732" y="2395728"/>
            <a:ext cx="2189797" cy="554736"/>
            <a:chOff x="7153732" y="2395728"/>
            <a:chExt cx="2189797" cy="554736"/>
          </a:xfrm>
        </p:grpSpPr>
        <p:sp>
          <p:nvSpPr>
            <p:cNvPr id="24" name="Rounded Rectangle 23"/>
            <p:cNvSpPr/>
            <p:nvPr/>
          </p:nvSpPr>
          <p:spPr>
            <a:xfrm>
              <a:off x="7153732"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6884" y="2459736"/>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2.</a:t>
              </a:r>
              <a:endParaRPr sz="1400" b="1">
                <a:solidFill>
                  <a:srgbClr val="E8833A"/>
                </a:solidFill>
                <a:latin typeface="Arial" charset="0"/>
                <a:ea typeface="微软雅黑"/>
                <a:cs typeface="Arial" charset="0"/>
              </a:endParaRPr>
            </a:p>
          </p:txBody>
        </p:sp>
        <p:sp>
          <p:nvSpPr>
            <p:cNvPr id="26" name="TextBox 25"/>
            <p:cNvSpPr txBox="1"/>
            <p:nvPr/>
          </p:nvSpPr>
          <p:spPr>
            <a:xfrm>
              <a:off x="7501204"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明确临床实验室可提供咨询服务</a:t>
              </a:r>
              <a:endParaRPr sz="1400" b="0">
                <a:solidFill>
                  <a:srgbClr val="222222"/>
                </a:solidFill>
                <a:latin typeface="Arial" charset="0"/>
                <a:ea typeface="微软雅黑"/>
                <a:cs typeface="Arial" charset="0"/>
              </a:endParaRPr>
            </a:p>
          </p:txBody>
        </p:sp>
      </p:grpSp>
      <p:grpSp>
        <p:nvGrpSpPr>
          <p:cNvPr id="27" name="NUMCARD"/>
          <p:cNvGrpSpPr/>
          <p:nvPr/>
        </p:nvGrpSpPr>
        <p:grpSpPr>
          <a:xfrm>
            <a:off x="9453257" y="2395728"/>
            <a:ext cx="2189797" cy="554736"/>
            <a:chOff x="9453257" y="2395728"/>
            <a:chExt cx="2189797" cy="554736"/>
          </a:xfrm>
        </p:grpSpPr>
        <p:sp>
          <p:nvSpPr>
            <p:cNvPr id="28" name="Rounded Rectangle 27"/>
            <p:cNvSpPr/>
            <p:nvPr/>
          </p:nvSpPr>
          <p:spPr>
            <a:xfrm>
              <a:off x="9453257"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0729"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7.     </a:t>
              </a:r>
              <a:r>
                <a:rPr sz="1400" b="0">
                  <a:solidFill>
                    <a:srgbClr val="222222"/>
                  </a:solidFill>
                  <a:latin typeface="Arial" charset="0"/>
                  <a:ea typeface="微软雅黑"/>
                  <a:cs typeface="Arial" charset="0"/>
                </a:rPr>
                <a:t>实验室工作人员应有任职资格</a:t>
              </a:r>
              <a:endParaRPr sz="1400" b="0">
                <a:solidFill>
                  <a:srgbClr val="222222"/>
                </a:solidFill>
                <a:latin typeface="Arial" charset="0"/>
                <a:ea typeface="微软雅黑"/>
                <a:cs typeface="Arial" charset="0"/>
              </a:endParaRPr>
            </a:p>
          </p:txBody>
        </p:sp>
      </p:grpSp>
      <p:grpSp>
        <p:nvGrpSpPr>
          <p:cNvPr id="30" name="NUMCARD"/>
          <p:cNvGrpSpPr/>
          <p:nvPr/>
        </p:nvGrpSpPr>
        <p:grpSpPr>
          <a:xfrm>
            <a:off x="7153732" y="3023616"/>
            <a:ext cx="2189797" cy="768096"/>
            <a:chOff x="7153732" y="3023616"/>
            <a:chExt cx="2189797" cy="768096"/>
          </a:xfrm>
        </p:grpSpPr>
        <p:sp>
          <p:nvSpPr>
            <p:cNvPr id="31" name="Rounded Rectangle 30"/>
            <p:cNvSpPr/>
            <p:nvPr/>
          </p:nvSpPr>
          <p:spPr>
            <a:xfrm>
              <a:off x="7153732"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6884" y="3087624"/>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3.</a:t>
              </a:r>
              <a:endParaRPr sz="1400" b="1">
                <a:solidFill>
                  <a:srgbClr val="E8833A"/>
                </a:solidFill>
                <a:latin typeface="Arial" charset="0"/>
                <a:ea typeface="微软雅黑"/>
                <a:cs typeface="Arial" charset="0"/>
              </a:endParaRPr>
            </a:p>
          </p:txBody>
        </p:sp>
        <p:sp>
          <p:nvSpPr>
            <p:cNvPr id="33" name="TextBox 32"/>
            <p:cNvSpPr txBox="1"/>
            <p:nvPr/>
          </p:nvSpPr>
          <p:spPr>
            <a:xfrm>
              <a:off x="7501204"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明确临床实验室可开展的临床检验项目和方法</a:t>
              </a:r>
              <a:endParaRPr sz="1400" b="0">
                <a:solidFill>
                  <a:srgbClr val="222222"/>
                </a:solidFill>
                <a:latin typeface="Arial" charset="0"/>
                <a:ea typeface="微软雅黑"/>
                <a:cs typeface="Arial" charset="0"/>
              </a:endParaRPr>
            </a:p>
          </p:txBody>
        </p:sp>
      </p:grpSp>
      <p:grpSp>
        <p:nvGrpSpPr>
          <p:cNvPr id="34" name="NUMCARD"/>
          <p:cNvGrpSpPr/>
          <p:nvPr/>
        </p:nvGrpSpPr>
        <p:grpSpPr>
          <a:xfrm>
            <a:off x="9453257" y="3023616"/>
            <a:ext cx="2189797" cy="768096"/>
            <a:chOff x="9453257" y="3023616"/>
            <a:chExt cx="2189797" cy="768096"/>
          </a:xfrm>
        </p:grpSpPr>
        <p:sp>
          <p:nvSpPr>
            <p:cNvPr id="35" name="Rounded Rectangle 34"/>
            <p:cNvSpPr/>
            <p:nvPr/>
          </p:nvSpPr>
          <p:spPr>
            <a:xfrm>
              <a:off x="9453257"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00729"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8.     </a:t>
              </a:r>
              <a:r>
                <a:rPr sz="1400" b="0">
                  <a:solidFill>
                    <a:srgbClr val="222222"/>
                  </a:solidFill>
                  <a:latin typeface="Arial" charset="0"/>
                  <a:ea typeface="微软雅黑"/>
                  <a:cs typeface="Arial" charset="0"/>
                </a:rPr>
                <a:t>诊断性报告应由执业医师出具</a:t>
              </a:r>
              <a:endParaRPr sz="1400" b="0">
                <a:solidFill>
                  <a:srgbClr val="222222"/>
                </a:solidFill>
                <a:latin typeface="Arial" charset="0"/>
                <a:ea typeface="微软雅黑"/>
                <a:cs typeface="Arial" charset="0"/>
              </a:endParaRPr>
            </a:p>
          </p:txBody>
        </p:sp>
      </p:grpSp>
      <p:grpSp>
        <p:nvGrpSpPr>
          <p:cNvPr id="37" name="NUMCARD"/>
          <p:cNvGrpSpPr/>
          <p:nvPr/>
        </p:nvGrpSpPr>
        <p:grpSpPr>
          <a:xfrm>
            <a:off x="7153732" y="3864864"/>
            <a:ext cx="2189797" cy="768096"/>
            <a:chOff x="7153732" y="3864864"/>
            <a:chExt cx="2189797" cy="768096"/>
          </a:xfrm>
        </p:grpSpPr>
        <p:sp>
          <p:nvSpPr>
            <p:cNvPr id="38" name="Rounded Rectangle 37"/>
            <p:cNvSpPr/>
            <p:nvPr/>
          </p:nvSpPr>
          <p:spPr>
            <a:xfrm>
              <a:off x="7153732"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6884" y="3928872"/>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4.</a:t>
              </a:r>
              <a:endParaRPr sz="1400" b="1">
                <a:solidFill>
                  <a:srgbClr val="E8833A"/>
                </a:solidFill>
                <a:latin typeface="Arial" charset="0"/>
                <a:ea typeface="微软雅黑"/>
                <a:cs typeface="Arial" charset="0"/>
              </a:endParaRPr>
            </a:p>
          </p:txBody>
        </p:sp>
        <p:sp>
          <p:nvSpPr>
            <p:cNvPr id="40" name="TextBox 39"/>
            <p:cNvSpPr txBox="1"/>
            <p:nvPr/>
          </p:nvSpPr>
          <p:spPr>
            <a:xfrm>
              <a:off x="7501204"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建立临床检验亚专业注册核定制度</a:t>
              </a:r>
              <a:endParaRPr sz="1400" b="0">
                <a:solidFill>
                  <a:srgbClr val="222222"/>
                </a:solidFill>
                <a:latin typeface="Arial" charset="0"/>
                <a:ea typeface="微软雅黑"/>
                <a:cs typeface="Arial" charset="0"/>
              </a:endParaRPr>
            </a:p>
          </p:txBody>
        </p:sp>
      </p:grpSp>
      <p:grpSp>
        <p:nvGrpSpPr>
          <p:cNvPr id="41" name="NUMCARD"/>
          <p:cNvGrpSpPr/>
          <p:nvPr/>
        </p:nvGrpSpPr>
        <p:grpSpPr>
          <a:xfrm>
            <a:off x="9453257" y="3864864"/>
            <a:ext cx="2189797" cy="768096"/>
            <a:chOff x="9453257" y="3864864"/>
            <a:chExt cx="2189797" cy="768096"/>
          </a:xfrm>
        </p:grpSpPr>
        <p:sp>
          <p:nvSpPr>
            <p:cNvPr id="42" name="Rounded Rectangle 41"/>
            <p:cNvSpPr/>
            <p:nvPr/>
          </p:nvSpPr>
          <p:spPr>
            <a:xfrm>
              <a:off x="9453257"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0729"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9.     </a:t>
              </a:r>
              <a:r>
                <a:rPr sz="1400" b="0">
                  <a:solidFill>
                    <a:srgbClr val="222222"/>
                  </a:solidFill>
                  <a:latin typeface="Arial" charset="0"/>
                  <a:ea typeface="微软雅黑"/>
                  <a:cs typeface="Arial" charset="0"/>
                </a:rPr>
                <a:t>明确提出检测系统完整性和有效性概念</a:t>
              </a:r>
              <a:endParaRPr sz="1400" b="0">
                <a:solidFill>
                  <a:srgbClr val="222222"/>
                </a:solidFill>
                <a:latin typeface="Arial" charset="0"/>
                <a:ea typeface="微软雅黑"/>
                <a:cs typeface="Arial" charset="0"/>
              </a:endParaRPr>
            </a:p>
          </p:txBody>
        </p:sp>
      </p:grpSp>
      <p:grpSp>
        <p:nvGrpSpPr>
          <p:cNvPr id="44" name="NUMCARD"/>
          <p:cNvGrpSpPr/>
          <p:nvPr/>
        </p:nvGrpSpPr>
        <p:grpSpPr>
          <a:xfrm>
            <a:off x="7153732" y="4706112"/>
            <a:ext cx="2189797" cy="768096"/>
            <a:chOff x="7153732" y="4706112"/>
            <a:chExt cx="2189797" cy="768096"/>
          </a:xfrm>
        </p:grpSpPr>
        <p:sp>
          <p:nvSpPr>
            <p:cNvPr id="45" name="Rounded Rectangle 44"/>
            <p:cNvSpPr/>
            <p:nvPr/>
          </p:nvSpPr>
          <p:spPr>
            <a:xfrm>
              <a:off x="7153732"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1204"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5.     </a:t>
              </a:r>
              <a:r>
                <a:rPr sz="1400" b="0">
                  <a:solidFill>
                    <a:srgbClr val="222222"/>
                  </a:solidFill>
                  <a:latin typeface="Arial" charset="0"/>
                  <a:ea typeface="微软雅黑"/>
                  <a:cs typeface="Arial" charset="0"/>
                </a:rPr>
                <a:t>要求实验室集中设置、统一管理、资源共享、保证质量</a:t>
              </a:r>
              <a:endParaRPr sz="1400" b="0">
                <a:solidFill>
                  <a:srgbClr val="222222"/>
                </a:solidFill>
                <a:latin typeface="Arial" charset="0"/>
                <a:ea typeface="微软雅黑"/>
                <a:cs typeface="Arial" charset="0"/>
              </a:endParaRPr>
            </a:p>
          </p:txBody>
        </p:sp>
      </p:grpSp>
      <p:grpSp>
        <p:nvGrpSpPr>
          <p:cNvPr id="47" name="NUMCARD"/>
          <p:cNvGrpSpPr/>
          <p:nvPr/>
        </p:nvGrpSpPr>
        <p:grpSpPr>
          <a:xfrm>
            <a:off x="9453257" y="4706112"/>
            <a:ext cx="2189797" cy="768096"/>
            <a:chOff x="9453257" y="4706112"/>
            <a:chExt cx="2189797" cy="768096"/>
          </a:xfrm>
        </p:grpSpPr>
        <p:sp>
          <p:nvSpPr>
            <p:cNvPr id="48" name="Rounded Rectangle 47"/>
            <p:cNvSpPr/>
            <p:nvPr/>
          </p:nvSpPr>
          <p:spPr>
            <a:xfrm>
              <a:off x="9453257"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00729"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10.    </a:t>
              </a:r>
              <a:r>
                <a:rPr sz="1400" b="0">
                  <a:solidFill>
                    <a:srgbClr val="222222"/>
                  </a:solidFill>
                  <a:latin typeface="Arial" charset="0"/>
                  <a:ea typeface="微软雅黑"/>
                  <a:cs typeface="Arial" charset="0"/>
                </a:rPr>
                <a:t>明确检验报告应包含的信息内容</a:t>
              </a:r>
              <a:endParaRPr sz="1400" b="0">
                <a:solidFill>
                  <a:srgbClr val="222222"/>
                </a:solidFill>
                <a:latin typeface="Arial" charset="0"/>
                <a:ea typeface="微软雅黑"/>
                <a:cs typeface="Arial" charset="0"/>
              </a:endParaRPr>
            </a:p>
          </p:txBody>
        </p:sp>
      </p:grpSp>
      <p:sp>
        <p:nvSpPr>
          <p:cNvPr id="50" name="BADGE"/>
          <p:cNvSpPr/>
          <p:nvPr/>
        </p:nvSpPr>
        <p:spPr>
          <a:xfrm>
            <a:off x="548640" y="5669280"/>
            <a:ext cx="3942827"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2020年国卫办医函〔2020〕560号修订第二十八条</a:t>
            </a:r>
            <a:endParaRPr sz="1200" b="1">
              <a:solidFill>
                <a:srgbClr val="FFFFFF"/>
              </a:solidFill>
              <a:latin typeface="Arial" charset="0"/>
              <a:ea typeface="微软雅黑"/>
              <a:cs typeface="Arial" charset="0"/>
            </a:endParaRPr>
          </a:p>
        </p:txBody>
      </p:sp>
      <p:pic>
        <p:nvPicPr>
          <p:cNvPr id="51" name="LOGO" descr="logo_940.png"/>
          <p:cNvPicPr>
            <a:picLocks noChangeAspect="1"/>
          </p:cNvPicPr>
          <p:nvPr/>
        </p:nvPicPr>
        <p:blipFill>
          <a:blip r:embed="rId5"/>
          <a:stretch>
            <a:fillRect/>
          </a:stretch>
        </p:blipFill>
        <p:spPr>
          <a:xfrm>
            <a:off x="548640" y="6249924"/>
            <a:ext cx="31089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（一）（二）……细化款项非国家《办法》原文，出处【待核】；见第13页</a:t>
              </a:r>
              <a:endParaRPr sz="1200" b="1">
                <a:solidFill>
                  <a:srgbClr val="FFFFFF"/>
                </a:solidFill>
                <a:latin typeface="Arial" charset="0"/>
                <a:ea typeface="微软雅黑"/>
                <a:cs typeface="Arial" charset="0"/>
              </a:endParaRPr>
            </a:p>
          </p:txBody>
        </p:sp>
      </p:gr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08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8</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6954121" cy="4378960"/>
            <a:chOff x="548640" y="1554480"/>
            <a:chExt cx="6954121" cy="4378960"/>
          </a:xfrm>
        </p:grpSpPr>
        <p:sp>
          <p:nvSpPr>
            <p:cNvPr id="12" name="Rounded Rectangle 11"/>
            <p:cNvSpPr/>
            <p:nvPr/>
          </p:nvSpPr>
          <p:spPr>
            <a:xfrm>
              <a:off x="548640" y="1554480"/>
              <a:ext cx="6954121" cy="4378960"/>
            </a:xfrm>
            <a:prstGeom prst="roundRect">
              <a:avLst>
                <a:gd name="adj" fmla="val 16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BADGE"/>
            <p:cNvSpPr/>
            <p:nvPr/>
          </p:nvSpPr>
          <p:spPr>
            <a:xfrm>
              <a:off x="6439572" y="1691639"/>
              <a:ext cx="926029"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（SOP）</a:t>
              </a:r>
              <a:endParaRPr sz="1200" b="1">
                <a:solidFill>
                  <a:srgbClr val="FFFFFF"/>
                </a:solidFill>
                <a:latin typeface="Arial" charset="0"/>
                <a:ea typeface="微软雅黑"/>
                <a:cs typeface="Arial" charset="0"/>
              </a:endParaRPr>
            </a:p>
          </p:txBody>
        </p:sp>
        <p:sp>
          <p:nvSpPr>
            <p:cNvPr id="15" name="BADGE"/>
            <p:cNvSpPr/>
            <p:nvPr/>
          </p:nvSpPr>
          <p:spPr>
            <a:xfrm>
              <a:off x="5141124" y="1691639"/>
              <a:ext cx="122529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（记录控制）</a:t>
              </a:r>
              <a:endParaRPr sz="1200" b="1">
                <a:solidFill>
                  <a:srgbClr val="FFFFFF"/>
                </a:solidFill>
                <a:latin typeface="Arial" charset="0"/>
                <a:ea typeface="微软雅黑"/>
                <a:cs typeface="Arial" charset="0"/>
              </a:endParaRPr>
            </a:p>
          </p:txBody>
        </p:sp>
        <p:sp>
          <p:nvSpPr>
            <p:cNvPr id="16" name="TextBox 15"/>
            <p:cNvSpPr txBox="1"/>
            <p:nvPr/>
          </p:nvSpPr>
          <p:spPr>
            <a:xfrm>
              <a:off x="960120" y="1691639"/>
              <a:ext cx="6405481" cy="411378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第二十二条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医疗机构应当加强临床</a:t>
              </a:r>
              <a:r>
                <a:rPr sz="1600" b="0">
                  <a:solidFill>
                    <a:srgbClr val="C0392B"/>
                  </a:solidFill>
                  <a:latin typeface="Arial" charset="0"/>
                  <a:ea typeface="微软雅黑"/>
                  <a:cs typeface="Arial" charset="0"/>
                </a:rPr>
                <a:t>实验室质量控制和管理工作</a:t>
              </a:r>
              <a:r>
                <a:rPr sz="1600" b="0">
                  <a:solidFill>
                    <a:srgbClr val="222222"/>
                  </a:solidFill>
                  <a:latin typeface="Arial" charset="0"/>
                  <a:ea typeface="微软雅黑"/>
                  <a:cs typeface="Arial" charset="0"/>
                </a:rPr>
                <a:t>，制定并严格执行临床检验项目标准操作规程和检验仪器的标准操作、维护规程。</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（一）实验室质量控制和管理的相关资料应记录齐全，整理归档及时，有安全保密措施。</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二）检验项目操作规程应包括实验原理、检验目的、标本种类及收集要求、使用试剂及仪器的操作步骤、质控品的使用水平和频率、计算方法、参考范围、操作性能概要、超出可报告范围的处理、危急值、方法的局限性、参考文献以及其他必需的内容。操作规程必须与实际情况相符，并有定期对操作规程进行修改的程序规定。操作卡及产品说明书</a:t>
              </a:r>
              <a:r>
                <a:rPr sz="1600" b="0">
                  <a:solidFill>
                    <a:srgbClr val="222222"/>
                  </a:solidFill>
                  <a:latin typeface="Arial" charset="0"/>
                  <a:ea typeface="微软雅黑"/>
                  <a:cs typeface="Arial" charset="0"/>
                </a:rPr>
                <a:t>不能简单代替操作规程。</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三）仪器操作人员必须熟悉操作规程，严格按照操作规程进行检验工作。仪器的操作规程应包括仪器名称及型号、生产厂家、检测原理及范围、参数设置、开、关机程序、校准程序、常规操作程序、保养维护程序、仪器的基本技术性能、常见故障的处理及其他事项等内容。</a:t>
              </a:r>
              <a:endParaRPr sz="1600" b="0">
                <a:solidFill>
                  <a:srgbClr val="222222"/>
                </a:solidFill>
                <a:latin typeface="Arial" charset="0"/>
                <a:ea typeface="微软雅黑"/>
                <a:cs typeface="Arial" charset="0"/>
              </a:endParaRPr>
            </a:p>
          </p:txBody>
        </p:sp>
        <p:sp>
          <p:nvSpPr>
            <p:cNvPr id="17" name="CITE"/>
            <p:cNvSpPr txBox="1"/>
            <p:nvPr/>
          </p:nvSpPr>
          <p:spPr>
            <a:xfrm>
              <a:off x="2855162" y="5564632"/>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引《医疗机构临床实验室管理办法》第二十二条</a:t>
              </a:r>
              <a:endParaRPr sz="1200" b="0">
                <a:solidFill>
                  <a:srgbClr val="5B6B7F"/>
                </a:solidFill>
                <a:latin typeface="Arial" charset="0"/>
                <a:ea typeface="微软雅黑"/>
                <a:cs typeface="Arial" charset="0"/>
              </a:endParaRPr>
            </a:p>
          </p:txBody>
        </p:sp>
      </p:grpSp>
      <p:grpSp>
        <p:nvGrpSpPr>
          <p:cNvPr id="18" name="QBOX"/>
          <p:cNvGrpSpPr/>
          <p:nvPr/>
        </p:nvGrpSpPr>
        <p:grpSpPr>
          <a:xfrm>
            <a:off x="7731361" y="1554480"/>
            <a:ext cx="3911693" cy="1983231"/>
            <a:chOff x="7731361" y="1554480"/>
            <a:chExt cx="3911693" cy="1983231"/>
          </a:xfrm>
        </p:grpSpPr>
        <p:sp>
          <p:nvSpPr>
            <p:cNvPr id="19" name="Rounded Rectangle 18"/>
            <p:cNvSpPr/>
            <p:nvPr/>
          </p:nvSpPr>
          <p:spPr>
            <a:xfrm>
              <a:off x="7731361" y="1554480"/>
              <a:ext cx="3911693" cy="1983231"/>
            </a:xfrm>
            <a:prstGeom prst="roundRect">
              <a:avLst>
                <a:gd name="adj" fmla="val 36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1" name="BADGE"/>
            <p:cNvSpPr/>
            <p:nvPr/>
          </p:nvSpPr>
          <p:spPr>
            <a:xfrm>
              <a:off x="10227818" y="1691639"/>
              <a:ext cx="127807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(注册证有效）</a:t>
              </a:r>
              <a:endParaRPr sz="1200" b="1">
                <a:solidFill>
                  <a:srgbClr val="FFFFFF"/>
                </a:solidFill>
                <a:latin typeface="Arial" charset="0"/>
                <a:ea typeface="微软雅黑"/>
                <a:cs typeface="Arial" charset="0"/>
              </a:endParaRPr>
            </a:p>
          </p:txBody>
        </p:sp>
        <p:sp>
          <p:nvSpPr>
            <p:cNvPr id="22" name="TextBox 21"/>
            <p:cNvSpPr txBox="1"/>
            <p:nvPr/>
          </p:nvSpPr>
          <p:spPr>
            <a:xfrm>
              <a:off x="8142841" y="1691639"/>
              <a:ext cx="3363053" cy="127914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第二十三条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a:t>
              </a:r>
              <a:r>
                <a:rPr sz="1600" b="0">
                  <a:solidFill>
                    <a:srgbClr val="222222"/>
                  </a:solidFill>
                  <a:latin typeface="Arial" charset="0"/>
                  <a:ea typeface="微软雅黑"/>
                  <a:cs typeface="Arial" charset="0"/>
                </a:rPr>
                <a:t>临床实验室使用的仪器、试剂和耗材应当符合国家有关规定。仪器、试剂、耗材应与应用的检验方法相适应。</a:t>
              </a:r>
              <a:endParaRPr sz="1600" b="0">
                <a:solidFill>
                  <a:srgbClr val="222222"/>
                </a:solidFill>
                <a:latin typeface="Arial" charset="0"/>
                <a:ea typeface="微软雅黑"/>
                <a:cs typeface="Arial" charset="0"/>
              </a:endParaRPr>
            </a:p>
          </p:txBody>
        </p:sp>
        <p:sp>
          <p:nvSpPr>
            <p:cNvPr id="23" name="CITE"/>
            <p:cNvSpPr txBox="1"/>
            <p:nvPr/>
          </p:nvSpPr>
          <p:spPr>
            <a:xfrm>
              <a:off x="7868521" y="2979928"/>
              <a:ext cx="3637373" cy="420623"/>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《医疗机构临床实验室管理办法》第二十三条</a:t>
              </a:r>
              <a:endParaRPr sz="1200" b="0">
                <a:solidFill>
                  <a:srgbClr val="5B6B7F"/>
                </a:solidFill>
                <a:latin typeface="Arial" charset="0"/>
                <a:ea typeface="微软雅黑"/>
                <a:cs typeface="Arial" charset="0"/>
              </a:endParaRPr>
            </a:p>
          </p:txBody>
        </p:sp>
      </p:grpSp>
      <p:pic>
        <p:nvPicPr>
          <p:cNvPr id="24"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（一）（二）……细化款项非国家《办法》原文，出处【待核】；见第13页</a:t>
              </a:r>
              <a:endParaRPr sz="1200" b="1">
                <a:solidFill>
                  <a:srgbClr val="FFFFFF"/>
                </a:solidFill>
                <a:latin typeface="Arial" charset="0"/>
                <a:ea typeface="微软雅黑"/>
                <a:cs typeface="Arial" charset="0"/>
              </a:endParaRPr>
            </a:p>
          </p:txBody>
        </p:sp>
      </p:gr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09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9</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5432907" cy="4354576"/>
            <a:chOff x="548640" y="1554480"/>
            <a:chExt cx="5432907" cy="4354576"/>
          </a:xfrm>
        </p:grpSpPr>
        <p:sp>
          <p:nvSpPr>
            <p:cNvPr id="12" name="Rounded Rectangle 11"/>
            <p:cNvSpPr/>
            <p:nvPr/>
          </p:nvSpPr>
          <p:spPr>
            <a:xfrm>
              <a:off x="548640" y="1554480"/>
              <a:ext cx="5432907" cy="4354576"/>
            </a:xfrm>
            <a:prstGeom prst="roundRect">
              <a:avLst>
                <a:gd name="adj" fmla="val 167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1691639"/>
              <a:ext cx="4884267" cy="386994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第二十四条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临床实验室应当保证</a:t>
              </a:r>
              <a:r>
                <a:rPr sz="1600" b="0">
                  <a:solidFill>
                    <a:srgbClr val="C0392B"/>
                  </a:solidFill>
                  <a:latin typeface="Arial" charset="0"/>
                  <a:ea typeface="微软雅黑"/>
                  <a:cs typeface="Arial" charset="0"/>
                </a:rPr>
                <a:t>检测系统的完整性和有效性</a:t>
              </a:r>
              <a:r>
                <a:rPr sz="1600" b="0">
                  <a:solidFill>
                    <a:srgbClr val="222222"/>
                  </a:solidFill>
                  <a:latin typeface="Arial" charset="0"/>
                  <a:ea typeface="微软雅黑"/>
                  <a:cs typeface="Arial" charset="0"/>
                </a:rPr>
                <a:t>，定期对需要校准的检验仪器、检验项目以及对临床检验结果有影响的辅助设备进行</a:t>
              </a:r>
              <a:r>
                <a:rPr sz="1600" b="0">
                  <a:solidFill>
                    <a:srgbClr val="C0392B"/>
                  </a:solidFill>
                  <a:latin typeface="Arial" charset="0"/>
                  <a:ea typeface="微软雅黑"/>
                  <a:cs typeface="Arial" charset="0"/>
                </a:rPr>
                <a:t>校准</a:t>
              </a:r>
              <a:endParaRPr sz="1600" b="0">
                <a:solidFill>
                  <a:srgbClr val="C0392B"/>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（一）实验室应当提供证据保证检测系统的完整性及有效性，更换试剂、校准品、质控品时应有实验依据。</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（二）各类检验设备必须有校准计划。根据不同仪器及工作情况，应规定校准日期间隙、校准方、校准品、校准方法及验收标准等，并保证有</a:t>
              </a:r>
              <a:r>
                <a:rPr sz="1600" b="0">
                  <a:solidFill>
                    <a:srgbClr val="222222"/>
                  </a:solidFill>
                  <a:latin typeface="Arial" charset="0"/>
                  <a:ea typeface="微软雅黑"/>
                  <a:cs typeface="Arial" charset="0"/>
                </a:rPr>
                <a:t>完整的校准文件和记录（含校准后的各种数据）。</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（三）国家规定强制性检定的仪器（如天平、分光光度计、微量加样器等）必须有年度检定合格证书。各种对检验结果有影响的辅助设备如压力表、温湿度计、电导仪等也需要定期检定或校准并有记录。</a:t>
              </a:r>
              <a:endParaRPr sz="1600" b="0">
                <a:solidFill>
                  <a:srgbClr val="222222"/>
                </a:solidFill>
                <a:latin typeface="Arial" charset="0"/>
                <a:ea typeface="微软雅黑"/>
                <a:cs typeface="Arial" charset="0"/>
              </a:endParaRPr>
            </a:p>
          </p:txBody>
        </p:sp>
        <p:sp>
          <p:nvSpPr>
            <p:cNvPr id="15" name="CITE"/>
            <p:cNvSpPr txBox="1"/>
            <p:nvPr/>
          </p:nvSpPr>
          <p:spPr>
            <a:xfrm>
              <a:off x="1333948" y="5570727"/>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《医疗机构临床实验室管理办法》第二十四条</a:t>
              </a:r>
              <a:endParaRPr sz="1200" b="0">
                <a:solidFill>
                  <a:srgbClr val="5B6B7F"/>
                </a:solidFill>
                <a:latin typeface="Arial" charset="0"/>
                <a:ea typeface="微软雅黑"/>
                <a:cs typeface="Arial" charset="0"/>
              </a:endParaRPr>
            </a:p>
          </p:txBody>
        </p:sp>
      </p:grpSp>
      <p:grpSp>
        <p:nvGrpSpPr>
          <p:cNvPr id="16" name="QBOX"/>
          <p:cNvGrpSpPr/>
          <p:nvPr/>
        </p:nvGrpSpPr>
        <p:grpSpPr>
          <a:xfrm>
            <a:off x="6210147" y="1554480"/>
            <a:ext cx="5432907" cy="1519936"/>
            <a:chOff x="6210147" y="1554480"/>
            <a:chExt cx="5432907" cy="1519936"/>
          </a:xfrm>
        </p:grpSpPr>
        <p:sp>
          <p:nvSpPr>
            <p:cNvPr id="17" name="Rounded Rectangle 16"/>
            <p:cNvSpPr/>
            <p:nvPr/>
          </p:nvSpPr>
          <p:spPr>
            <a:xfrm>
              <a:off x="6210147" y="1554480"/>
              <a:ext cx="5432907" cy="1519936"/>
            </a:xfrm>
            <a:prstGeom prst="roundRect">
              <a:avLst>
                <a:gd name="adj" fmla="val 481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6621627" y="1691639"/>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第二十五条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a:t>
              </a:r>
              <a:r>
                <a:rPr sz="1600" b="0">
                  <a:solidFill>
                    <a:srgbClr val="222222"/>
                  </a:solidFill>
                  <a:latin typeface="Arial" charset="0"/>
                  <a:ea typeface="微软雅黑"/>
                  <a:cs typeface="Arial" charset="0"/>
                </a:rPr>
                <a:t>临床实验室应当对开展的临床检验项目进行</a:t>
              </a:r>
              <a:r>
                <a:rPr sz="1600" b="0">
                  <a:solidFill>
                    <a:srgbClr val="C0392B"/>
                  </a:solidFill>
                  <a:latin typeface="Arial" charset="0"/>
                  <a:ea typeface="微软雅黑"/>
                  <a:cs typeface="Arial" charset="0"/>
                </a:rPr>
                <a:t>室内质量控制</a:t>
              </a:r>
              <a:r>
                <a:rPr sz="1600" b="0">
                  <a:solidFill>
                    <a:srgbClr val="222222"/>
                  </a:solidFill>
                  <a:latin typeface="Arial" charset="0"/>
                  <a:ea typeface="微软雅黑"/>
                  <a:cs typeface="Arial" charset="0"/>
                </a:rPr>
                <a:t>，绘制质量控制图。出现质量失控现象时，应当及时查找原因，采取纠正措施，并详细记录。</a:t>
              </a:r>
              <a:endParaRPr sz="1600" b="0">
                <a:solidFill>
                  <a:srgbClr val="222222"/>
                </a:solidFill>
                <a:latin typeface="Arial" charset="0"/>
                <a:ea typeface="微软雅黑"/>
                <a:cs typeface="Arial" charset="0"/>
              </a:endParaRPr>
            </a:p>
          </p:txBody>
        </p:sp>
        <p:sp>
          <p:nvSpPr>
            <p:cNvPr id="20" name="CITE"/>
            <p:cNvSpPr txBox="1"/>
            <p:nvPr/>
          </p:nvSpPr>
          <p:spPr>
            <a:xfrm>
              <a:off x="6995456" y="2736088"/>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原PPT引《医疗机构临床实验室管理办法》第二十五条</a:t>
              </a:r>
              <a:endParaRPr sz="1200" b="0">
                <a:solidFill>
                  <a:srgbClr val="5B6B7F"/>
                </a:solidFill>
                <a:latin typeface="Arial" charset="0"/>
                <a:ea typeface="微软雅黑"/>
                <a:cs typeface="Arial" charset="0"/>
              </a:endParaRPr>
            </a:p>
          </p:txBody>
        </p:sp>
      </p:grpSp>
      <p:pic>
        <p:nvPicPr>
          <p:cNvPr id="21" name="ORIGPIC" descr="image.jpeg"/>
          <p:cNvPicPr>
            <a:picLocks noChangeAspect="1"/>
          </p:cNvPicPr>
          <p:nvPr/>
        </p:nvPicPr>
        <p:blipFill>
          <a:blip r:embed="rId2"/>
          <a:srcRect/>
          <a:stretch>
            <a:fillRect/>
          </a:stretch>
        </p:blipFill>
        <p:spPr>
          <a:xfrm>
            <a:off x="6210147" y="3303016"/>
            <a:ext cx="4415782" cy="1828800"/>
          </a:xfrm>
          <a:prstGeom prst="roundRect">
            <a:avLst>
              <a:gd name="adj" fmla="val 4000"/>
            </a:avLst>
          </a:prstGeom>
          <a:ln w="9525">
            <a:solidFill>
              <a:srgbClr val="D5DAE0"/>
            </a:solidFill>
          </a:ln>
        </p:spPr>
      </p:pic>
      <p:sp>
        <p:nvSpPr>
          <p:cNvPr id="22" name="TextBox 21"/>
          <p:cNvSpPr txBox="1"/>
          <p:nvPr/>
        </p:nvSpPr>
        <p:spPr>
          <a:xfrm>
            <a:off x="6210147" y="5186679"/>
            <a:ext cx="5432907"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示例图：精密度 ≠ 正确度</a:t>
            </a:r>
            <a:endParaRPr sz="1200" b="0">
              <a:solidFill>
                <a:srgbClr val="6B7280"/>
              </a:solidFill>
              <a:latin typeface="Arial" charset="0"/>
              <a:ea typeface="微软雅黑"/>
              <a:cs typeface="Arial" charset="0"/>
            </a:endParaRPr>
          </a:p>
        </p:txBody>
      </p:sp>
      <p:pic>
        <p:nvPicPr>
          <p:cNvPr id="23"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（一）（二）……细化款项非国家《办法》原文，出处【待核】；见第13页</a:t>
              </a:r>
              <a:endParaRPr sz="1200" b="1">
                <a:solidFill>
                  <a:srgbClr val="FFFFFF"/>
                </a:solidFill>
                <a:latin typeface="Arial" charset="0"/>
                <a:ea typeface="微软雅黑"/>
                <a:cs typeface="Arial" charset="0"/>
              </a:endParaRPr>
            </a:p>
          </p:txBody>
        </p:sp>
      </p:gr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10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10</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6954121" cy="4329176"/>
            <a:chOff x="548640" y="1554480"/>
            <a:chExt cx="6954121" cy="4329176"/>
          </a:xfrm>
        </p:grpSpPr>
        <p:sp>
          <p:nvSpPr>
            <p:cNvPr id="12" name="Rounded Rectangle 11"/>
            <p:cNvSpPr/>
            <p:nvPr/>
          </p:nvSpPr>
          <p:spPr>
            <a:xfrm>
              <a:off x="548640" y="1554480"/>
              <a:ext cx="6954121" cy="4329176"/>
            </a:xfrm>
            <a:prstGeom prst="roundRect">
              <a:avLst>
                <a:gd name="adj" fmla="val 168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1691639"/>
              <a:ext cx="6405481" cy="38445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第二十六条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临床实验室室内质量控制主要包括质控品的选择、质控品的数量、质控频度、质控方法、失控的判断规则、失控时原因分析及处理措施、质控数据管理要求等。</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（一）质控品的成分应与检测患者样本的</a:t>
              </a:r>
              <a:r>
                <a:rPr sz="1500" b="0">
                  <a:solidFill>
                    <a:srgbClr val="C0392B"/>
                  </a:solidFill>
                  <a:latin typeface="Arial" charset="0"/>
                  <a:ea typeface="微软雅黑"/>
                  <a:cs typeface="Arial" charset="0"/>
                </a:rPr>
                <a:t>基质</a:t>
              </a:r>
              <a:r>
                <a:rPr sz="1500" b="0">
                  <a:solidFill>
                    <a:srgbClr val="222222"/>
                  </a:solidFill>
                  <a:latin typeface="Arial" charset="0"/>
                  <a:ea typeface="微软雅黑"/>
                  <a:cs typeface="Arial" charset="0"/>
                </a:rPr>
                <a:t>相似或一致，质控品应均一、稳定，瓶间变异性应小于分析系统的变异。</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（二）使用</a:t>
              </a:r>
              <a:r>
                <a:rPr sz="1500" b="0">
                  <a:solidFill>
                    <a:srgbClr val="C0392B"/>
                  </a:solidFill>
                  <a:latin typeface="Arial" charset="0"/>
                  <a:ea typeface="微软雅黑"/>
                  <a:cs typeface="Arial" charset="0"/>
                </a:rPr>
                <a:t>定值</a:t>
              </a:r>
              <a:r>
                <a:rPr sz="1500" b="0">
                  <a:solidFill>
                    <a:srgbClr val="222222"/>
                  </a:solidFill>
                  <a:latin typeface="Arial" charset="0"/>
                  <a:ea typeface="微软雅黑"/>
                  <a:cs typeface="Arial" charset="0"/>
                </a:rPr>
                <a:t>质控品时，说明书上的原有标定值只作为参考，必须由实验室作重复测定来确定实际的均值和标准差。</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（三）质控品一次储存数量应不低于半年的用</a:t>
              </a:r>
              <a:r>
                <a:rPr sz="1500" b="0">
                  <a:solidFill>
                    <a:srgbClr val="C0392B"/>
                  </a:solidFill>
                  <a:latin typeface="Arial" charset="0"/>
                  <a:ea typeface="微软雅黑"/>
                  <a:cs typeface="Arial" charset="0"/>
                </a:rPr>
                <a:t>量</a:t>
              </a:r>
              <a:r>
                <a:rPr sz="1500" b="0">
                  <a:solidFill>
                    <a:srgbClr val="222222"/>
                  </a:solidFill>
                  <a:latin typeface="Arial" charset="0"/>
                  <a:ea typeface="微软雅黑"/>
                  <a:cs typeface="Arial" charset="0"/>
                </a:rPr>
                <a:t>，条件允许的单位可储存一年的用量，效期较短的质控品可适量保存。</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（四）质控</a:t>
              </a:r>
              <a:r>
                <a:rPr sz="1500" b="0">
                  <a:solidFill>
                    <a:srgbClr val="C0392B"/>
                  </a:solidFill>
                  <a:latin typeface="Arial" charset="0"/>
                  <a:ea typeface="微软雅黑"/>
                  <a:cs typeface="Arial" charset="0"/>
                </a:rPr>
                <a:t>频度</a:t>
              </a:r>
              <a:r>
                <a:rPr sz="1500" b="0">
                  <a:solidFill>
                    <a:srgbClr val="222222"/>
                  </a:solidFill>
                  <a:latin typeface="Arial" charset="0"/>
                  <a:ea typeface="微软雅黑"/>
                  <a:cs typeface="Arial" charset="0"/>
                </a:rPr>
                <a:t>应在每一个分析批长度内至少对质控品作一次检测。</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（五）临床实验室应确定每批内的质控品的检测</a:t>
              </a:r>
              <a:r>
                <a:rPr sz="1500" b="0">
                  <a:solidFill>
                    <a:srgbClr val="C0392B"/>
                  </a:solidFill>
                  <a:latin typeface="Arial" charset="0"/>
                  <a:ea typeface="微软雅黑"/>
                  <a:cs typeface="Arial" charset="0"/>
                </a:rPr>
                <a:t>位置</a:t>
              </a:r>
              <a:r>
                <a:rPr sz="1500" b="0">
                  <a:solidFill>
                    <a:srgbClr val="222222"/>
                  </a:solidFill>
                  <a:latin typeface="Arial" charset="0"/>
                  <a:ea typeface="微软雅黑"/>
                  <a:cs typeface="Arial" charset="0"/>
                </a:rPr>
                <a:t>，质控品的位置须考虑分析方法的类型、可能产生的误差类型。</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（六）当确认室内质控数据符合</a:t>
              </a:r>
              <a:r>
                <a:rPr sz="1500" b="0">
                  <a:solidFill>
                    <a:srgbClr val="C0392B"/>
                  </a:solidFill>
                  <a:latin typeface="Arial" charset="0"/>
                  <a:ea typeface="微软雅黑"/>
                  <a:cs typeface="Arial" charset="0"/>
                </a:rPr>
                <a:t>质控规则</a:t>
              </a:r>
              <a:r>
                <a:rPr sz="1500" b="0">
                  <a:solidFill>
                    <a:srgbClr val="222222"/>
                  </a:solidFill>
                  <a:latin typeface="Arial" charset="0"/>
                  <a:ea typeface="微软雅黑"/>
                  <a:cs typeface="Arial" charset="0"/>
                </a:rPr>
                <a:t>时，方可发放检验报告。</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（七）临床实验室需建立</a:t>
              </a:r>
              <a:r>
                <a:rPr sz="1500" b="0">
                  <a:solidFill>
                    <a:srgbClr val="C0392B"/>
                  </a:solidFill>
                  <a:latin typeface="Arial" charset="0"/>
                  <a:ea typeface="微软雅黑"/>
                  <a:cs typeface="Arial" charset="0"/>
                </a:rPr>
                <a:t>失控纠正</a:t>
              </a:r>
              <a:r>
                <a:rPr sz="1500" b="0">
                  <a:solidFill>
                    <a:srgbClr val="222222"/>
                  </a:solidFill>
                  <a:latin typeface="Arial" charset="0"/>
                  <a:ea typeface="微软雅黑"/>
                  <a:cs typeface="Arial" charset="0"/>
                </a:rPr>
                <a:t>措施并记录处理情况。</a:t>
              </a:r>
              <a:endParaRPr sz="1500" b="0">
                <a:solidFill>
                  <a:srgbClr val="222222"/>
                </a:solidFill>
                <a:latin typeface="Arial" charset="0"/>
                <a:ea typeface="微软雅黑"/>
                <a:cs typeface="Arial" charset="0"/>
              </a:endParaRPr>
            </a:p>
          </p:txBody>
        </p:sp>
        <p:sp>
          <p:nvSpPr>
            <p:cNvPr id="15" name="CITE"/>
            <p:cNvSpPr txBox="1"/>
            <p:nvPr/>
          </p:nvSpPr>
          <p:spPr>
            <a:xfrm>
              <a:off x="2855162" y="5545327"/>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原PPT引《医疗机构临床实验室管理办法》第二十六条</a:t>
              </a:r>
              <a:endParaRPr sz="1200" b="0">
                <a:solidFill>
                  <a:srgbClr val="5B6B7F"/>
                </a:solidFill>
                <a:latin typeface="Arial" charset="0"/>
                <a:ea typeface="微软雅黑"/>
                <a:cs typeface="Arial" charset="0"/>
              </a:endParaRPr>
            </a:p>
          </p:txBody>
        </p:sp>
      </p:grpSp>
      <p:grpSp>
        <p:nvGrpSpPr>
          <p:cNvPr id="16" name="QBOX"/>
          <p:cNvGrpSpPr/>
          <p:nvPr/>
        </p:nvGrpSpPr>
        <p:grpSpPr>
          <a:xfrm>
            <a:off x="7731361" y="1554480"/>
            <a:ext cx="3911693" cy="1907032"/>
            <a:chOff x="7731361" y="1554480"/>
            <a:chExt cx="3911693" cy="1907032"/>
          </a:xfrm>
        </p:grpSpPr>
        <p:sp>
          <p:nvSpPr>
            <p:cNvPr id="17" name="Rounded Rectangle 16"/>
            <p:cNvSpPr/>
            <p:nvPr/>
          </p:nvSpPr>
          <p:spPr>
            <a:xfrm>
              <a:off x="7731361" y="1554480"/>
              <a:ext cx="3911693" cy="1907032"/>
            </a:xfrm>
            <a:prstGeom prst="roundRect">
              <a:avLst>
                <a:gd name="adj" fmla="val 383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8142841" y="1691639"/>
              <a:ext cx="3363053"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第二十七条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临床实验室定量测定项目的室内质量控制标准应按照《临床实验室定量测定室内质量控制指南》（</a:t>
              </a:r>
              <a:r>
                <a:rPr sz="1500" b="0">
                  <a:solidFill>
                    <a:srgbClr val="222222"/>
                  </a:solidFill>
                  <a:latin typeface="Arial" charset="0"/>
                  <a:ea typeface="微软雅黑"/>
                  <a:cs typeface="Arial" charset="0"/>
                </a:rPr>
                <a:t>GB/20032302-T-361</a:t>
              </a:r>
              <a:r>
                <a:rPr sz="1500" b="0">
                  <a:solidFill>
                    <a:srgbClr val="222222"/>
                  </a:solidFill>
                  <a:latin typeface="Arial" charset="0"/>
                  <a:ea typeface="微软雅黑"/>
                  <a:cs typeface="Arial" charset="0"/>
                </a:rPr>
                <a:t>）执行。</a:t>
              </a:r>
              <a:endParaRPr sz="1500" b="0">
                <a:solidFill>
                  <a:srgbClr val="222222"/>
                </a:solidFill>
                <a:latin typeface="Arial" charset="0"/>
                <a:ea typeface="微软雅黑"/>
                <a:cs typeface="Arial" charset="0"/>
              </a:endParaRPr>
            </a:p>
          </p:txBody>
        </p:sp>
        <p:sp>
          <p:nvSpPr>
            <p:cNvPr id="20" name="CITE"/>
            <p:cNvSpPr txBox="1"/>
            <p:nvPr/>
          </p:nvSpPr>
          <p:spPr>
            <a:xfrm>
              <a:off x="7868521" y="2903728"/>
              <a:ext cx="3637373" cy="420623"/>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《医疗机构临床实验室管理办法》第二十七条</a:t>
              </a:r>
              <a:endParaRPr sz="1200" b="0">
                <a:solidFill>
                  <a:srgbClr val="5B6B7F"/>
                </a:solidFill>
                <a:latin typeface="Arial" charset="0"/>
                <a:ea typeface="微软雅黑"/>
                <a:cs typeface="Arial" charset="0"/>
              </a:endParaRPr>
            </a:p>
          </p:txBody>
        </p:sp>
      </p:grpSp>
      <p:pic>
        <p:nvPicPr>
          <p:cNvPr id="21" name="ORIGPIC" descr="image.jpeg"/>
          <p:cNvPicPr>
            <a:picLocks noChangeAspect="1"/>
          </p:cNvPicPr>
          <p:nvPr/>
        </p:nvPicPr>
        <p:blipFill>
          <a:blip r:embed="rId2"/>
          <a:srcRect/>
          <a:stretch>
            <a:fillRect/>
          </a:stretch>
        </p:blipFill>
        <p:spPr>
          <a:xfrm>
            <a:off x="7594600" y="3616960"/>
            <a:ext cx="2005965" cy="1309370"/>
          </a:xfrm>
          <a:prstGeom prst="roundRect">
            <a:avLst>
              <a:gd name="adj" fmla="val 19177"/>
            </a:avLst>
          </a:prstGeom>
          <a:ln w="9525">
            <a:solidFill>
              <a:srgbClr val="D5DAE0"/>
            </a:solidFill>
          </a:ln>
        </p:spPr>
      </p:pic>
      <p:pic>
        <p:nvPicPr>
          <p:cNvPr id="22" name="ORIGPIC" descr="image.jpeg"/>
          <p:cNvPicPr>
            <a:picLocks noChangeAspect="1"/>
          </p:cNvPicPr>
          <p:nvPr/>
        </p:nvPicPr>
        <p:blipFill>
          <a:blip r:embed="rId3"/>
          <a:srcRect/>
          <a:stretch>
            <a:fillRect/>
          </a:stretch>
        </p:blipFill>
        <p:spPr>
          <a:xfrm>
            <a:off x="7687310" y="4969510"/>
            <a:ext cx="1699260" cy="1477010"/>
          </a:xfrm>
          <a:prstGeom prst="roundRect">
            <a:avLst>
              <a:gd name="adj" fmla="val 13618"/>
            </a:avLst>
          </a:prstGeom>
          <a:ln w="9525">
            <a:solidFill>
              <a:srgbClr val="D5DAE0"/>
            </a:solidFill>
          </a:ln>
        </p:spPr>
      </p:pic>
      <p:pic>
        <p:nvPicPr>
          <p:cNvPr id="23" name="ORIGPIC" descr="image.jpeg"/>
          <p:cNvPicPr>
            <a:picLocks noChangeAspect="1"/>
          </p:cNvPicPr>
          <p:nvPr/>
        </p:nvPicPr>
        <p:blipFill>
          <a:blip r:embed="rId4"/>
          <a:srcRect/>
          <a:stretch>
            <a:fillRect/>
          </a:stretch>
        </p:blipFill>
        <p:spPr>
          <a:xfrm>
            <a:off x="9467850" y="5091430"/>
            <a:ext cx="2064385" cy="1233805"/>
          </a:xfrm>
          <a:prstGeom prst="roundRect">
            <a:avLst>
              <a:gd name="adj" fmla="val 22022"/>
            </a:avLst>
          </a:prstGeom>
          <a:ln w="9525">
            <a:solidFill>
              <a:srgbClr val="D5DAE0"/>
            </a:solidFill>
          </a:ln>
        </p:spPr>
      </p:pic>
      <p:pic>
        <p:nvPicPr>
          <p:cNvPr id="24" name="ORIGPIC" descr="image.jpeg"/>
          <p:cNvPicPr>
            <a:picLocks noChangeAspect="1"/>
          </p:cNvPicPr>
          <p:nvPr/>
        </p:nvPicPr>
        <p:blipFill>
          <a:blip r:embed="rId5"/>
          <a:srcRect/>
          <a:stretch>
            <a:fillRect/>
          </a:stretch>
        </p:blipFill>
        <p:spPr>
          <a:xfrm rot="10800000" flipH="1" flipV="1">
            <a:off x="9946640" y="3590925"/>
            <a:ext cx="1975485" cy="1287780"/>
          </a:xfrm>
          <a:prstGeom prst="roundRect">
            <a:avLst>
              <a:gd name="adj" fmla="val 50000"/>
            </a:avLst>
          </a:prstGeom>
          <a:ln w="9525">
            <a:solidFill>
              <a:srgbClr val="D5DAE0"/>
            </a:solidFill>
          </a:ln>
        </p:spPr>
      </p:pic>
      <p:pic>
        <p:nvPicPr>
          <p:cNvPr id="25" name="LOGO" descr="logo_940.png"/>
          <p:cNvPicPr>
            <a:picLocks noChangeAspect="1"/>
          </p:cNvPicPr>
          <p:nvPr/>
        </p:nvPicPr>
        <p:blipFill>
          <a:blip r:embed="rId7"/>
          <a:stretch>
            <a:fillRect/>
          </a:stretch>
        </p:blipFill>
        <p:spPr>
          <a:xfrm>
            <a:off x="548640" y="6249924"/>
            <a:ext cx="31089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第二十八条“全省……”非国家《办法》原文，出处【待核】；见第13页</a:t>
              </a:r>
              <a:endParaRPr sz="1200" b="1">
                <a:solidFill>
                  <a:srgbClr val="FFFFFF"/>
                </a:solidFill>
                <a:latin typeface="Arial" charset="0"/>
                <a:ea typeface="微软雅黑"/>
                <a:cs typeface="Arial" charset="0"/>
              </a:endParaRPr>
            </a:p>
          </p:txBody>
        </p:sp>
      </p:gr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11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11</a:t>
            </a:r>
            <a:endParaRPr sz="1200" b="0">
              <a:solidFill>
                <a:srgbClr val="6B7280"/>
              </a:solidFill>
              <a:latin typeface="Arial" charset="0"/>
              <a:ea typeface="微软雅黑"/>
              <a:cs typeface="Arial" charset="0"/>
            </a:endParaRPr>
          </a:p>
        </p:txBody>
      </p:sp>
      <p:grpSp>
        <p:nvGrpSpPr>
          <p:cNvPr id="11" name="QBOX"/>
          <p:cNvGrpSpPr/>
          <p:nvPr/>
        </p:nvGrpSpPr>
        <p:grpSpPr>
          <a:xfrm>
            <a:off x="379730" y="1554480"/>
            <a:ext cx="7802245" cy="2509520"/>
            <a:chOff x="548640" y="1554480"/>
            <a:chExt cx="8263661" cy="2509520"/>
          </a:xfrm>
        </p:grpSpPr>
        <p:sp>
          <p:nvSpPr>
            <p:cNvPr id="12" name="Rounded Rectangle 11"/>
            <p:cNvSpPr/>
            <p:nvPr/>
          </p:nvSpPr>
          <p:spPr>
            <a:xfrm>
              <a:off x="548640" y="1554480"/>
              <a:ext cx="8263661" cy="2509520"/>
            </a:xfrm>
            <a:prstGeom prst="roundRect">
              <a:avLst>
                <a:gd name="adj" fmla="val 291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BADGE"/>
            <p:cNvSpPr/>
            <p:nvPr/>
          </p:nvSpPr>
          <p:spPr>
            <a:xfrm>
              <a:off x="6340373" y="1691639"/>
              <a:ext cx="2334768"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（实验室间比对、能力验证）</a:t>
              </a:r>
              <a:endParaRPr sz="1200" b="1">
                <a:solidFill>
                  <a:srgbClr val="FFFFFF"/>
                </a:solidFill>
                <a:latin typeface="Arial" charset="0"/>
                <a:ea typeface="微软雅黑"/>
                <a:cs typeface="Arial" charset="0"/>
              </a:endParaRPr>
            </a:p>
          </p:txBody>
        </p:sp>
        <p:sp>
          <p:nvSpPr>
            <p:cNvPr id="15" name="TextBox 14"/>
            <p:cNvSpPr txBox="1"/>
            <p:nvPr/>
          </p:nvSpPr>
          <p:spPr>
            <a:xfrm>
              <a:off x="960120" y="1691639"/>
              <a:ext cx="7715021" cy="22443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第二十八条</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医疗机构临床实验室</a:t>
              </a:r>
              <a:r>
                <a:rPr sz="1400" b="0">
                  <a:solidFill>
                    <a:srgbClr val="C0392B"/>
                  </a:solidFill>
                  <a:latin typeface="Arial" charset="0"/>
                  <a:ea typeface="微软雅黑"/>
                  <a:cs typeface="Arial" charset="0"/>
                </a:rPr>
                <a:t>必须参加临床检验室间质量评价活动</a:t>
              </a:r>
              <a:r>
                <a:rPr sz="1400" b="0">
                  <a:solidFill>
                    <a:srgbClr val="222222"/>
                  </a:solidFill>
                  <a:latin typeface="Arial" charset="0"/>
                  <a:ea typeface="微软雅黑"/>
                  <a:cs typeface="Arial" charset="0"/>
                </a:rPr>
                <a:t>。全省三级以上医疗机构、省属医疗机构和独立设置的临床检验中心必须参加由省卫生厅临床检验中心组织的室间质量评价活动；其他医疗机构临床实验室参加由省辖市临床检验中心组织的室间质量评价活动。开展质评活动的市级临床检验中心应将辖区内二级以上医疗机构临床检验质量评价结果及时上报省卫生厅临床检验中心备案。不具备承担临床检验室间质量评价活动的省辖市，其辖区内</a:t>
              </a:r>
              <a:r>
                <a:rPr sz="1400" b="0">
                  <a:solidFill>
                    <a:srgbClr val="222222"/>
                  </a:solidFill>
                  <a:latin typeface="Arial" charset="0"/>
                  <a:ea typeface="微软雅黑"/>
                  <a:cs typeface="Arial" charset="0"/>
                </a:rPr>
                <a:t>医疗机构临床实验室的质控管理由省卫生厅临床检验中心负责。</a:t>
              </a:r>
              <a:r>
                <a:rPr sz="1400" b="0">
                  <a:solidFill>
                    <a:srgbClr val="222222"/>
                  </a:solidFill>
                  <a:latin typeface="Arial" charset="0"/>
                  <a:ea typeface="微软雅黑"/>
                  <a:cs typeface="Arial" charset="0"/>
                </a:rPr>
                <a:t> </a:t>
              </a:r>
              <a:r>
                <a:rPr sz="1400" b="0">
                  <a:solidFill>
                    <a:srgbClr val="C0392B"/>
                  </a:solidFill>
                  <a:latin typeface="Arial" charset="0"/>
                  <a:ea typeface="微软雅黑"/>
                  <a:cs typeface="Arial" charset="0"/>
                </a:rPr>
                <a:t>WS/T 644-2018 </a:t>
              </a:r>
              <a:r>
                <a:rPr sz="1400" b="0">
                  <a:solidFill>
                    <a:srgbClr val="C0392B"/>
                  </a:solidFill>
                  <a:latin typeface="Arial" charset="0"/>
                  <a:ea typeface="微软雅黑"/>
                  <a:cs typeface="Arial" charset="0"/>
                </a:rPr>
                <a:t>临床检验室间质量评价</a:t>
              </a:r>
              <a:endParaRPr sz="1400" b="0">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省辖市级临床检验中心开展临床检验质量评价须达到规定标准（另外制订）并经省卫生厅检查评估合格。省临床检验中心应对一、二级医疗机构临床实验室室间质量评价活动进行监督抽查。</a:t>
              </a:r>
              <a:endParaRPr sz="1400" b="0">
                <a:solidFill>
                  <a:srgbClr val="222222"/>
                </a:solidFill>
                <a:latin typeface="Arial" charset="0"/>
                <a:ea typeface="微软雅黑"/>
                <a:cs typeface="Arial" charset="0"/>
              </a:endParaRPr>
            </a:p>
          </p:txBody>
        </p:sp>
        <p:sp>
          <p:nvSpPr>
            <p:cNvPr id="16" name="CITE"/>
            <p:cNvSpPr txBox="1"/>
            <p:nvPr/>
          </p:nvSpPr>
          <p:spPr>
            <a:xfrm>
              <a:off x="4164702" y="3710432"/>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引《医疗机构临床实验室管理办法》第二十八条</a:t>
              </a:r>
              <a:endParaRPr sz="1200" b="0">
                <a:solidFill>
                  <a:srgbClr val="5B6B7F"/>
                </a:solidFill>
                <a:latin typeface="Arial" charset="0"/>
                <a:ea typeface="微软雅黑"/>
                <a:cs typeface="Arial" charset="0"/>
              </a:endParaRPr>
            </a:p>
          </p:txBody>
        </p:sp>
      </p:grpSp>
      <p:grpSp>
        <p:nvGrpSpPr>
          <p:cNvPr id="17" name="QBOX"/>
          <p:cNvGrpSpPr/>
          <p:nvPr/>
        </p:nvGrpSpPr>
        <p:grpSpPr>
          <a:xfrm>
            <a:off x="548640" y="4292600"/>
            <a:ext cx="7762240" cy="1398270"/>
            <a:chOff x="548640" y="4292600"/>
            <a:chExt cx="8263661" cy="1398016"/>
          </a:xfrm>
        </p:grpSpPr>
        <p:sp>
          <p:nvSpPr>
            <p:cNvPr id="18" name="Rounded Rectangle 17"/>
            <p:cNvSpPr/>
            <p:nvPr/>
          </p:nvSpPr>
          <p:spPr>
            <a:xfrm>
              <a:off x="548640" y="4292600"/>
              <a:ext cx="8263661" cy="1398016"/>
            </a:xfrm>
            <a:prstGeom prst="roundRect">
              <a:avLst>
                <a:gd name="adj" fmla="val 523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338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0" name="TextBox 19"/>
            <p:cNvSpPr txBox="1"/>
            <p:nvPr/>
          </p:nvSpPr>
          <p:spPr>
            <a:xfrm>
              <a:off x="960120" y="4429760"/>
              <a:ext cx="7715021" cy="9133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第二十九条</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临床实验室参加室间质量评价应当按照常规临床检验方法与临床检验标本同时进行，不得另选检测系统，以确保检验结果的真实性。临床实验室对于室间质量评价不合格的项目，应当及时查找原因，采取纠正措施，并将各专业参加室间质量评价项目的原始数据保存归档。</a:t>
              </a:r>
              <a:endParaRPr sz="1400" b="0">
                <a:solidFill>
                  <a:srgbClr val="222222"/>
                </a:solidFill>
                <a:latin typeface="Arial" charset="0"/>
                <a:ea typeface="微软雅黑"/>
                <a:cs typeface="Arial" charset="0"/>
              </a:endParaRPr>
            </a:p>
          </p:txBody>
        </p:sp>
        <p:sp>
          <p:nvSpPr>
            <p:cNvPr id="21" name="CITE"/>
            <p:cNvSpPr txBox="1"/>
            <p:nvPr/>
          </p:nvSpPr>
          <p:spPr>
            <a:xfrm>
              <a:off x="4164702" y="5352287"/>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引《医疗机构临床实验室管理办法》第二十九条</a:t>
              </a:r>
              <a:endParaRPr sz="1200" b="0">
                <a:solidFill>
                  <a:srgbClr val="5B6B7F"/>
                </a:solidFill>
                <a:latin typeface="Arial" charset="0"/>
                <a:ea typeface="微软雅黑"/>
                <a:cs typeface="Arial" charset="0"/>
              </a:endParaRPr>
            </a:p>
          </p:txBody>
        </p:sp>
      </p:grpSp>
      <p:pic>
        <p:nvPicPr>
          <p:cNvPr id="22" name="ORIGPIC" descr="image.jpeg"/>
          <p:cNvPicPr>
            <a:picLocks noChangeAspect="1"/>
          </p:cNvPicPr>
          <p:nvPr/>
        </p:nvPicPr>
        <p:blipFill>
          <a:blip r:embed="rId2"/>
          <a:srcRect/>
          <a:stretch>
            <a:fillRect/>
          </a:stretch>
        </p:blipFill>
        <p:spPr>
          <a:xfrm>
            <a:off x="8470900" y="1554480"/>
            <a:ext cx="3624580" cy="3441700"/>
          </a:xfrm>
          <a:prstGeom prst="roundRect">
            <a:avLst>
              <a:gd name="adj" fmla="val 8588"/>
            </a:avLst>
          </a:prstGeom>
          <a:ln w="9525">
            <a:solidFill>
              <a:srgbClr val="D5DAE0"/>
            </a:solidFill>
          </a:ln>
        </p:spPr>
      </p:pic>
      <p:sp>
        <p:nvSpPr>
          <p:cNvPr id="23" name="BADGE"/>
          <p:cNvSpPr/>
          <p:nvPr/>
        </p:nvSpPr>
        <p:spPr>
          <a:xfrm>
            <a:off x="9040901" y="5352615"/>
            <a:ext cx="2220310"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 图中中心：临床检验中心</a:t>
            </a:r>
            <a:endParaRPr sz="1200" b="1">
              <a:solidFill>
                <a:srgbClr val="5B6B7F"/>
              </a:solidFill>
              <a:latin typeface="Arial" charset="0"/>
              <a:ea typeface="微软雅黑"/>
              <a:cs typeface="Arial" charset="0"/>
            </a:endParaRPr>
          </a:p>
        </p:txBody>
      </p:sp>
      <p:pic>
        <p:nvPicPr>
          <p:cNvPr id="24"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“每年比对不少于2次”“1/2PT”非国家《办法》原文，出处【待核】；见第13页</a:t>
              </a:r>
              <a:endParaRPr sz="1200" b="1">
                <a:solidFill>
                  <a:srgbClr val="FFFFFF"/>
                </a:solidFill>
                <a:latin typeface="Arial" charset="0"/>
                <a:ea typeface="微软雅黑"/>
                <a:cs typeface="Arial" charset="0"/>
              </a:endParaRPr>
            </a:p>
          </p:txBody>
        </p:sp>
      </p:gr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12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12</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5432907" cy="4405376"/>
            <a:chOff x="548640" y="1554480"/>
            <a:chExt cx="5432907" cy="4405376"/>
          </a:xfrm>
        </p:grpSpPr>
        <p:sp>
          <p:nvSpPr>
            <p:cNvPr id="12" name="Rounded Rectangle 11"/>
            <p:cNvSpPr/>
            <p:nvPr/>
          </p:nvSpPr>
          <p:spPr>
            <a:xfrm>
              <a:off x="548640" y="1554480"/>
              <a:ext cx="5432907" cy="4405376"/>
            </a:xfrm>
            <a:prstGeom prst="roundRect">
              <a:avLst>
                <a:gd name="adj" fmla="val 1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1691639"/>
              <a:ext cx="4884267" cy="39207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第三十条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临床实验室应对开展的所有检测项目结果的可靠性进行验证。</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（一）</a:t>
              </a:r>
              <a:r>
                <a:rPr sz="1500" b="0">
                  <a:solidFill>
                    <a:srgbClr val="C0392B"/>
                  </a:solidFill>
                  <a:latin typeface="Arial" charset="0"/>
                  <a:ea typeface="微软雅黑"/>
                  <a:cs typeface="Arial" charset="0"/>
                </a:rPr>
                <a:t>尚未开展室间质量评价的项目</a:t>
              </a:r>
              <a:r>
                <a:rPr sz="1500" b="0">
                  <a:solidFill>
                    <a:srgbClr val="222222"/>
                  </a:solidFill>
                  <a:latin typeface="Arial" charset="0"/>
                  <a:ea typeface="微软雅黑"/>
                  <a:cs typeface="Arial" charset="0"/>
                </a:rPr>
                <a:t>，应选择开展同类项目的其他临床实验室或有经验、质量有保证的实验室进行</a:t>
              </a:r>
              <a:r>
                <a:rPr sz="1500" b="0">
                  <a:solidFill>
                    <a:srgbClr val="C0392B"/>
                  </a:solidFill>
                  <a:latin typeface="Arial" charset="0"/>
                  <a:ea typeface="微软雅黑"/>
                  <a:cs typeface="Arial" charset="0"/>
                </a:rPr>
                <a:t>比对</a:t>
              </a:r>
              <a:r>
                <a:rPr sz="1500" b="0">
                  <a:solidFill>
                    <a:srgbClr val="222222"/>
                  </a:solidFill>
                  <a:latin typeface="Arial" charset="0"/>
                  <a:ea typeface="微软雅黑"/>
                  <a:cs typeface="Arial" charset="0"/>
                </a:rPr>
                <a:t>，每年比对不少于</a:t>
              </a:r>
              <a:r>
                <a:rPr sz="1500" b="0">
                  <a:solidFill>
                    <a:srgbClr val="222222"/>
                  </a:solidFill>
                  <a:latin typeface="Arial" charset="0"/>
                  <a:ea typeface="微软雅黑"/>
                  <a:cs typeface="Arial" charset="0"/>
                </a:rPr>
                <a:t>2</a:t>
              </a:r>
              <a:r>
                <a:rPr sz="1500" b="0">
                  <a:solidFill>
                    <a:srgbClr val="222222"/>
                  </a:solidFill>
                  <a:latin typeface="Arial" charset="0"/>
                  <a:ea typeface="微软雅黑"/>
                  <a:cs typeface="Arial" charset="0"/>
                </a:rPr>
                <a:t>次，比对样本不少于</a:t>
              </a:r>
              <a:r>
                <a:rPr sz="1500" b="0">
                  <a:solidFill>
                    <a:srgbClr val="222222"/>
                  </a:solidFill>
                  <a:latin typeface="Arial" charset="0"/>
                  <a:ea typeface="微软雅黑"/>
                  <a:cs typeface="Arial" charset="0"/>
                </a:rPr>
                <a:t>5</a:t>
              </a:r>
              <a:r>
                <a:rPr sz="1500" b="0">
                  <a:solidFill>
                    <a:srgbClr val="222222"/>
                  </a:solidFill>
                  <a:latin typeface="Arial" charset="0"/>
                  <a:ea typeface="微软雅黑"/>
                  <a:cs typeface="Arial" charset="0"/>
                </a:rPr>
                <a:t>个，比对结果应有完整记录并进行统计学分析。</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（二）临床检验项目比对有困难时，临床实验室应当对方法学进行评价，包括准确性、精密度、特异性、线性范围、稳定性、抗干扰性、参考范围等，并有质量保证措施。</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（三）</a:t>
              </a:r>
              <a:r>
                <a:rPr sz="1500" b="0">
                  <a:solidFill>
                    <a:srgbClr val="C0392B"/>
                  </a:solidFill>
                  <a:latin typeface="Arial" charset="0"/>
                  <a:ea typeface="微软雅黑"/>
                  <a:cs typeface="Arial" charset="0"/>
                </a:rPr>
                <a:t>同一实验室使用不同仪器或方法开展同一项目时，应有比对试验</a:t>
              </a:r>
              <a:r>
                <a:rPr sz="1500" b="0">
                  <a:solidFill>
                    <a:srgbClr val="222222"/>
                  </a:solidFill>
                  <a:latin typeface="Arial" charset="0"/>
                  <a:ea typeface="微软雅黑"/>
                  <a:cs typeface="Arial" charset="0"/>
                </a:rPr>
                <a:t>，结果之间相对偏差不能大于</a:t>
              </a:r>
              <a:r>
                <a:rPr sz="1500" b="0">
                  <a:solidFill>
                    <a:srgbClr val="222222"/>
                  </a:solidFill>
                  <a:latin typeface="Arial" charset="0"/>
                  <a:ea typeface="微软雅黑"/>
                  <a:cs typeface="Arial" charset="0"/>
                </a:rPr>
                <a:t>1/2PT</a:t>
              </a:r>
              <a:r>
                <a:rPr sz="1500" b="0">
                  <a:solidFill>
                    <a:srgbClr val="222222"/>
                  </a:solidFill>
                  <a:latin typeface="Arial" charset="0"/>
                  <a:ea typeface="微软雅黑"/>
                  <a:cs typeface="Arial" charset="0"/>
                </a:rPr>
                <a:t>可接受范围。</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（四） 所有进行结果可靠性验证的检测项目都应保存原始数据。</a:t>
              </a:r>
              <a:endParaRPr sz="1500" b="0">
                <a:solidFill>
                  <a:srgbClr val="222222"/>
                </a:solidFill>
                <a:latin typeface="Arial" charset="0"/>
                <a:ea typeface="微软雅黑"/>
                <a:cs typeface="Arial" charset="0"/>
              </a:endParaRPr>
            </a:p>
          </p:txBody>
        </p:sp>
        <p:sp>
          <p:nvSpPr>
            <p:cNvPr id="15" name="CITE"/>
            <p:cNvSpPr txBox="1"/>
            <p:nvPr/>
          </p:nvSpPr>
          <p:spPr>
            <a:xfrm>
              <a:off x="1495492" y="5621527"/>
              <a:ext cx="4348895"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《医疗机构临床实验室管理办法》第三十条</a:t>
              </a:r>
              <a:endParaRPr sz="1200" b="0">
                <a:solidFill>
                  <a:srgbClr val="5B6B7F"/>
                </a:solidFill>
                <a:latin typeface="Arial" charset="0"/>
                <a:ea typeface="微软雅黑"/>
                <a:cs typeface="Arial" charset="0"/>
              </a:endParaRPr>
            </a:p>
          </p:txBody>
        </p:sp>
      </p:grpSp>
      <p:grpSp>
        <p:nvGrpSpPr>
          <p:cNvPr id="16" name="QBOX"/>
          <p:cNvGrpSpPr/>
          <p:nvPr/>
        </p:nvGrpSpPr>
        <p:grpSpPr>
          <a:xfrm>
            <a:off x="6210147" y="1554480"/>
            <a:ext cx="5432907" cy="1230376"/>
            <a:chOff x="6210147" y="1554480"/>
            <a:chExt cx="5432907" cy="1230376"/>
          </a:xfrm>
        </p:grpSpPr>
        <p:sp>
          <p:nvSpPr>
            <p:cNvPr id="17" name="Rounded Rectangle 16"/>
            <p:cNvSpPr/>
            <p:nvPr/>
          </p:nvSpPr>
          <p:spPr>
            <a:xfrm>
              <a:off x="6210147" y="1554480"/>
              <a:ext cx="5432907" cy="1230376"/>
            </a:xfrm>
            <a:prstGeom prst="roundRect">
              <a:avLst>
                <a:gd name="adj" fmla="val 594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6621627" y="1691639"/>
              <a:ext cx="4884267" cy="7457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第三十一条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临床实验室室间质量评价标准按照《临床实验室室间质量评价要求》（</a:t>
              </a:r>
              <a:r>
                <a:rPr sz="1500" b="0">
                  <a:solidFill>
                    <a:srgbClr val="222222"/>
                  </a:solidFill>
                  <a:latin typeface="Arial" charset="0"/>
                  <a:ea typeface="微软雅黑"/>
                  <a:cs typeface="Arial" charset="0"/>
                </a:rPr>
                <a:t>GB/20032301-T-361</a:t>
              </a:r>
              <a:r>
                <a:rPr sz="1500" b="0">
                  <a:solidFill>
                    <a:srgbClr val="222222"/>
                  </a:solidFill>
                  <a:latin typeface="Arial" charset="0"/>
                  <a:ea typeface="微软雅黑"/>
                  <a:cs typeface="Arial" charset="0"/>
                </a:rPr>
                <a:t>）执行。</a:t>
              </a:r>
              <a:endParaRPr sz="1500" b="0">
                <a:solidFill>
                  <a:srgbClr val="222222"/>
                </a:solidFill>
                <a:latin typeface="Arial" charset="0"/>
                <a:ea typeface="微软雅黑"/>
                <a:cs typeface="Arial" charset="0"/>
              </a:endParaRPr>
            </a:p>
          </p:txBody>
        </p:sp>
        <p:sp>
          <p:nvSpPr>
            <p:cNvPr id="20" name="CITE"/>
            <p:cNvSpPr txBox="1"/>
            <p:nvPr/>
          </p:nvSpPr>
          <p:spPr>
            <a:xfrm>
              <a:off x="6995456" y="2446528"/>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引《医疗机构临床实验室管理办法》第三十一条</a:t>
              </a:r>
              <a:endParaRPr sz="1200" b="0">
                <a:solidFill>
                  <a:srgbClr val="5B6B7F"/>
                </a:solidFill>
                <a:latin typeface="Arial" charset="0"/>
                <a:ea typeface="微软雅黑"/>
                <a:cs typeface="Arial" charset="0"/>
              </a:endParaRPr>
            </a:p>
          </p:txBody>
        </p:sp>
      </p:grpSp>
      <p:grpSp>
        <p:nvGrpSpPr>
          <p:cNvPr id="21" name="QBOX"/>
          <p:cNvGrpSpPr/>
          <p:nvPr/>
        </p:nvGrpSpPr>
        <p:grpSpPr>
          <a:xfrm>
            <a:off x="6210147" y="3013456"/>
            <a:ext cx="5432907" cy="1687576"/>
            <a:chOff x="6210147" y="3013456"/>
            <a:chExt cx="5432907" cy="1687576"/>
          </a:xfrm>
        </p:grpSpPr>
        <p:sp>
          <p:nvSpPr>
            <p:cNvPr id="22" name="Rounded Rectangle 21"/>
            <p:cNvSpPr/>
            <p:nvPr/>
          </p:nvSpPr>
          <p:spPr>
            <a:xfrm>
              <a:off x="6210147" y="3013456"/>
              <a:ext cx="5432907" cy="1687576"/>
            </a:xfrm>
            <a:prstGeom prst="roundRect">
              <a:avLst>
                <a:gd name="adj" fmla="val 43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0591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4" name="TextBox 23"/>
            <p:cNvSpPr txBox="1"/>
            <p:nvPr/>
          </p:nvSpPr>
          <p:spPr>
            <a:xfrm>
              <a:off x="6621627" y="3150616"/>
              <a:ext cx="4884267"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第三十二条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临床实验室应当建立质量管理记录，包括标本接收、标本储存、标本处理、仪器和试剂及耗材使用情况、校准、室内质控、室间质评、检验结果、报告发放等内容，质量管理记录保存期限在</a:t>
              </a:r>
              <a:r>
                <a:rPr sz="1500" b="0">
                  <a:solidFill>
                    <a:srgbClr val="222222"/>
                  </a:solidFill>
                  <a:latin typeface="Arial" charset="0"/>
                  <a:ea typeface="微软雅黑"/>
                  <a:cs typeface="Arial" charset="0"/>
                </a:rPr>
                <a:t>2</a:t>
              </a:r>
              <a:r>
                <a:rPr sz="1500" b="0">
                  <a:solidFill>
                    <a:srgbClr val="222222"/>
                  </a:solidFill>
                  <a:latin typeface="Arial" charset="0"/>
                  <a:ea typeface="微软雅黑"/>
                  <a:cs typeface="Arial" charset="0"/>
                </a:rPr>
                <a:t>年以上。</a:t>
              </a:r>
              <a:endParaRPr sz="1500" b="0">
                <a:solidFill>
                  <a:srgbClr val="222222"/>
                </a:solidFill>
                <a:latin typeface="Arial" charset="0"/>
                <a:ea typeface="微软雅黑"/>
                <a:cs typeface="Arial" charset="0"/>
              </a:endParaRPr>
            </a:p>
          </p:txBody>
        </p:sp>
        <p:sp>
          <p:nvSpPr>
            <p:cNvPr id="25" name="CITE"/>
            <p:cNvSpPr txBox="1"/>
            <p:nvPr/>
          </p:nvSpPr>
          <p:spPr>
            <a:xfrm>
              <a:off x="6995456" y="4362703"/>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引《医疗机构临床实验室管理办法》第三十二条</a:t>
              </a:r>
              <a:endParaRPr sz="1200" b="0">
                <a:solidFill>
                  <a:srgbClr val="5B6B7F"/>
                </a:solidFill>
                <a:latin typeface="Arial" charset="0"/>
                <a:ea typeface="微软雅黑"/>
                <a:cs typeface="Arial" charset="0"/>
              </a:endParaRPr>
            </a:p>
          </p:txBody>
        </p:sp>
      </p:grpSp>
      <p:pic>
        <p:nvPicPr>
          <p:cNvPr id="26"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7994903"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《医疗机构临床实验室管理办法》国家原文对照</a:t>
            </a:r>
            <a:endParaRPr sz="2800" b="1">
              <a:solidFill>
                <a:srgbClr val="1F3A5F"/>
              </a:solidFill>
              <a:latin typeface="Arial" charset="0"/>
              <a:ea typeface="微软雅黑"/>
              <a:cs typeface="Arial" charset="0"/>
            </a:endParaRPr>
          </a:p>
        </p:txBody>
      </p:sp>
      <p:pic>
        <p:nvPicPr>
          <p:cNvPr id="4" name="NEWIMG_CORNER" descr="13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13</a:t>
            </a:r>
            <a:endParaRPr sz="1200" b="0">
              <a:solidFill>
                <a:srgbClr val="6B7280"/>
              </a:solidFill>
              <a:latin typeface="Arial" charset="0"/>
              <a:ea typeface="微软雅黑"/>
              <a:cs typeface="Arial" charset="0"/>
            </a:endParaRPr>
          </a:p>
        </p:txBody>
      </p:sp>
      <p:sp>
        <p:nvSpPr>
          <p:cNvPr id="7" name="SRCBADGE"/>
          <p:cNvSpPr/>
          <p:nvPr/>
        </p:nvSpPr>
        <p:spPr>
          <a:xfrm>
            <a:off x="8268281" y="5852160"/>
            <a:ext cx="337477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来源：卫医发〔2006〕73号（2020年修订）</a:t>
            </a:r>
            <a:endParaRPr sz="1200" b="1">
              <a:solidFill>
                <a:srgbClr val="5B6B7F"/>
              </a:solidFill>
              <a:latin typeface="Arial" charset="0"/>
              <a:ea typeface="微软雅黑"/>
              <a:cs typeface="Arial" charset="0"/>
            </a:endParaRPr>
          </a:p>
        </p:txBody>
      </p:sp>
      <p:graphicFrame>
        <p:nvGraphicFramePr>
          <p:cNvPr id="8" name="TABLE"/>
          <p:cNvGraphicFramePr>
            <a:graphicFrameLocks noGrp="1"/>
          </p:cNvGraphicFramePr>
          <p:nvPr/>
        </p:nvGraphicFramePr>
        <p:xfrm>
          <a:off x="548640" y="1554480"/>
          <a:ext cx="11094415" cy="4008627"/>
        </p:xfrm>
        <a:graphic>
          <a:graphicData uri="http://schemas.openxmlformats.org/drawingml/2006/table">
            <a:tbl>
              <a:tblPr firstRow="1">
                <a:tableStyleId>{5940675A-B579-460E-94D1-54222C63F5DA}</a:tableStyleId>
              </a:tblPr>
              <a:tblGrid>
                <a:gridCol w="960120"/>
                <a:gridCol w="3931920"/>
                <a:gridCol w="411480"/>
                <a:gridCol w="5790895"/>
              </a:tblGrid>
              <a:tr h="305308">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条款</a:t>
                      </a:r>
                      <a:endParaRPr sz="1400" b="1">
                        <a:solidFill>
                          <a:srgbClr val="FFFFFF"/>
                        </a:solidFill>
                        <a:latin typeface="Arial" charset="0"/>
                        <a:ea typeface="微软雅黑"/>
                        <a:cs typeface="Arial" charset="0"/>
                      </a:endParaRP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原表述</a:t>
                      </a:r>
                      <a:endParaRPr sz="1400" b="1">
                        <a:solidFill>
                          <a:srgbClr val="FFFFFF"/>
                        </a:solidFill>
                        <a:latin typeface="Arial" charset="0"/>
                        <a:ea typeface="微软雅黑"/>
                        <a:cs typeface="Arial" charset="0"/>
                      </a:endParaRPr>
                    </a:p>
                  </a:txBody>
                  <a:tcPr marL="73152" marR="73152" marT="54864" marB="54864" anchor="ctr">
                    <a:solidFill>
                      <a:srgbClr val="C0392B"/>
                    </a:solidFill>
                  </a:tcPr>
                </a:tc>
                <a:tc>
                  <a:txBody>
                    <a:bodyPr wrap="square"/>
                    <a:lstStyle/>
                    <a:p>
                      <a:pPr algn="l">
                        <a:lnSpc>
                          <a:spcPts val="1540"/>
                        </a:lnSpc>
                        <a:spcBef>
                          <a:spcPts val="0"/>
                        </a:spcBef>
                        <a:spcAft>
                          <a:spcPts val="0"/>
                        </a:spcAft>
                        <a:buNone/>
                      </a:p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国家原文（卫医发〔2006〕73号，2020年修订）</a:t>
                      </a:r>
                      <a:endParaRPr sz="1400" b="1">
                        <a:solidFill>
                          <a:srgbClr val="FFFFFF"/>
                        </a:solidFill>
                        <a:latin typeface="Arial" charset="0"/>
                        <a:ea typeface="微软雅黑"/>
                        <a:cs typeface="Arial" charset="0"/>
                      </a:endParaRPr>
                    </a:p>
                  </a:txBody>
                  <a:tcPr marL="73152" marR="73152" marT="54864" marB="54864" anchor="ctr">
                    <a:solidFill>
                      <a:srgbClr val="5B6B7F"/>
                    </a:solidFill>
                  </a:tcPr>
                </a:tc>
              </a:tr>
              <a:tr h="69646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第二十二条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……加强临床实验室质量控制和管理</a:t>
                      </a:r>
                      <a:r>
                        <a:rPr sz="1400" b="0">
                          <a:solidFill>
                            <a:srgbClr val="E8833A"/>
                          </a:solidFill>
                          <a:latin typeface="Arial" charset="0"/>
                          <a:ea typeface="微软雅黑"/>
                          <a:cs typeface="Arial" charset="0"/>
                        </a:rPr>
                        <a:t>工作，</a:t>
                      </a:r>
                      <a:r>
                        <a:rPr sz="1400" b="0">
                          <a:solidFill>
                            <a:srgbClr val="222222"/>
                          </a:solidFill>
                          <a:latin typeface="Arial" charset="0"/>
                          <a:ea typeface="微软雅黑"/>
                          <a:cs typeface="Arial" charset="0"/>
                        </a:rPr>
                        <a:t>制定并严格执行……</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医疗机构应当加强临床实验室质量控制和管理</a:t>
                      </a:r>
                      <a:r>
                        <a:rPr sz="1400" b="0">
                          <a:solidFill>
                            <a:srgbClr val="E8833A"/>
                          </a:solidFill>
                          <a:latin typeface="Arial" charset="0"/>
                          <a:ea typeface="微软雅黑"/>
                          <a:cs typeface="Arial" charset="0"/>
                        </a:rPr>
                        <a:t>。医疗机构临床实验室应当</a:t>
                      </a:r>
                      <a:r>
                        <a:rPr sz="1400" b="0">
                          <a:solidFill>
                            <a:srgbClr val="222222"/>
                          </a:solidFill>
                          <a:latin typeface="Arial" charset="0"/>
                          <a:ea typeface="微软雅黑"/>
                          <a:cs typeface="Arial" charset="0"/>
                        </a:rPr>
                        <a:t>制定并严格执行临床检验项目标准操作规程和检验仪器的标准操作、维护规程。</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第二十八条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全省三级以上医疗机构</a:t>
                      </a:r>
                      <a:r>
                        <a:rPr sz="1400" b="0">
                          <a:solidFill>
                            <a:srgbClr val="222222"/>
                          </a:solidFill>
                          <a:latin typeface="Arial" charset="0"/>
                          <a:ea typeface="微软雅黑"/>
                          <a:cs typeface="Arial" charset="0"/>
                        </a:rPr>
                        <a:t>……必须参加由</a:t>
                      </a:r>
                      <a:r>
                        <a:rPr sz="1400" b="0">
                          <a:solidFill>
                            <a:srgbClr val="E8833A"/>
                          </a:solidFill>
                          <a:latin typeface="Arial" charset="0"/>
                          <a:ea typeface="微软雅黑"/>
                          <a:cs typeface="Arial" charset="0"/>
                        </a:rPr>
                        <a:t>省卫生厅临床检验中心</a:t>
                      </a:r>
                      <a:r>
                        <a:rPr sz="1400" b="0">
                          <a:solidFill>
                            <a:srgbClr val="222222"/>
                          </a:solidFill>
                          <a:latin typeface="Arial" charset="0"/>
                          <a:ea typeface="微软雅黑"/>
                          <a:cs typeface="Arial" charset="0"/>
                        </a:rPr>
                        <a:t>组织的室间质量评价活动</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医疗机构临床实验室应当参加</a:t>
                      </a:r>
                      <a:r>
                        <a:rPr sz="1400" b="0">
                          <a:solidFill>
                            <a:srgbClr val="E8833A"/>
                          </a:solidFill>
                          <a:latin typeface="Arial" charset="0"/>
                          <a:ea typeface="微软雅黑"/>
                          <a:cs typeface="Arial" charset="0"/>
                        </a:rPr>
                        <a:t>室间质量评价机构</a:t>
                      </a:r>
                      <a:r>
                        <a:rPr sz="1400" b="0">
                          <a:solidFill>
                            <a:srgbClr val="222222"/>
                          </a:solidFill>
                          <a:latin typeface="Arial" charset="0"/>
                          <a:ea typeface="微软雅黑"/>
                          <a:cs typeface="Arial" charset="0"/>
                        </a:rPr>
                        <a:t>组织的临床检验室间质量评价。</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91744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第二十九条（末句）</a:t>
                      </a:r>
                      <a:endParaRPr sz="1400" b="1">
                        <a:solidFill>
                          <a:srgbClr val="1F3A5F"/>
                        </a:solidFill>
                        <a:latin typeface="Arial" charset="0"/>
                        <a:ea typeface="微软雅黑"/>
                        <a:cs typeface="Arial" charset="0"/>
                      </a:endParaRPr>
                    </a:p>
                    <a:p>
                      <a:pPr algn="l">
                        <a:lnSpc>
                          <a:spcPts val="1540"/>
                        </a:lnSpc>
                        <a:spcBef>
                          <a:spcPts val="200"/>
                        </a:spcBef>
                        <a:spcAft>
                          <a:spcPts val="0"/>
                        </a:spcAft>
                        <a:buNone/>
                      </a:pPr>
                      <a:r>
                        <a:rPr sz="1400" b="1">
                          <a:solidFill>
                            <a:srgbClr val="E8833A"/>
                          </a:solidFill>
                          <a:latin typeface="Arial" charset="0"/>
                          <a:ea typeface="微软雅黑"/>
                          <a:cs typeface="Arial" charset="0"/>
                        </a:rPr>
                        <a:t>↑ 新增</a:t>
                      </a:r>
                      <a:endParaRPr sz="1400" b="1">
                        <a:solidFill>
                          <a:srgbClr val="E8833A"/>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endParaRPr sz="1400" b="0">
                        <a:solidFill>
                          <a:srgbClr val="6B7280"/>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医疗机构应当对床旁临床检验项目与临床实验室相同临床检验项目常规临床检验方法进行比对。</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1087627">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第三十条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（一）</a:t>
                      </a:r>
                      <a:r>
                        <a:rPr sz="1400" b="0">
                          <a:solidFill>
                            <a:srgbClr val="E8833A"/>
                          </a:solidFill>
                          <a:latin typeface="Arial" charset="0"/>
                          <a:ea typeface="微软雅黑"/>
                          <a:cs typeface="Arial" charset="0"/>
                        </a:rPr>
                        <a:t>每年比对不少于2次，比对样本不少于5个</a:t>
                      </a:r>
                      <a:r>
                        <a:rPr sz="1400" b="0">
                          <a:solidFill>
                            <a:srgbClr val="222222"/>
                          </a:solidFill>
                          <a:latin typeface="Arial" charset="0"/>
                          <a:ea typeface="微软雅黑"/>
                          <a:cs typeface="Arial" charset="0"/>
                        </a:rPr>
                        <a:t>……（三）……相对偏差不能大于</a:t>
                      </a:r>
                      <a:r>
                        <a:rPr sz="1400" b="0">
                          <a:solidFill>
                            <a:srgbClr val="E8833A"/>
                          </a:solidFill>
                          <a:latin typeface="Arial" charset="0"/>
                          <a:ea typeface="微软雅黑"/>
                          <a:cs typeface="Arial" charset="0"/>
                        </a:rPr>
                        <a:t>1/2PT</a:t>
                      </a:r>
                      <a:r>
                        <a:rPr sz="1400" b="0">
                          <a:solidFill>
                            <a:srgbClr val="222222"/>
                          </a:solidFill>
                          <a:latin typeface="Arial" charset="0"/>
                          <a:ea typeface="微软雅黑"/>
                          <a:cs typeface="Arial" charset="0"/>
                        </a:rPr>
                        <a:t>可接受范围</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临床实验室应当将尚未开展室间质量评价的临床检验项目与其他临床实验室的同类项目进行比对，或者用其他方法验证其结果的可靠性。临床检验项目比对有困难时，医疗机构临床实验室应当对方法学进行评价，包括准确性、精密度、特异性、线性范围、稳定性、抗干扰性、参考范围等，并有质量保证措施。</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第三十二条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质量管理记录保存期限</a:t>
                      </a:r>
                      <a:r>
                        <a:rPr sz="1400" b="0">
                          <a:solidFill>
                            <a:srgbClr val="E8833A"/>
                          </a:solidFill>
                          <a:latin typeface="Arial" charset="0"/>
                          <a:ea typeface="微软雅黑"/>
                          <a:cs typeface="Arial" charset="0"/>
                        </a:rPr>
                        <a:t>在2年以上</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质量管理记录保存期限</a:t>
                      </a:r>
                      <a:r>
                        <a:rPr sz="1400" b="0">
                          <a:solidFill>
                            <a:srgbClr val="E8833A"/>
                          </a:solidFill>
                          <a:latin typeface="Arial" charset="0"/>
                          <a:ea typeface="微软雅黑"/>
                          <a:cs typeface="Arial" charset="0"/>
                        </a:rPr>
                        <a:t>至少为2年</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bl>
          </a:graphicData>
        </a:graphic>
      </p:graphicFrame>
      <p:pic>
        <p:nvPicPr>
          <p:cNvPr id="9"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9402775"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《医学实验室质量和能力认可准则》CNAS-CL02：2023</a:t>
            </a:r>
          </a:p>
        </p:txBody>
      </p:sp>
      <p:pic>
        <p:nvPicPr>
          <p:cNvPr id="4" name="NEWIMG_CORNER" descr="image.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14</a:t>
            </a:r>
          </a:p>
        </p:txBody>
      </p:sp>
      <p:sp>
        <p:nvSpPr>
          <p:cNvPr id="7" name="SRCBADGE"/>
          <p:cNvSpPr/>
          <p:nvPr/>
        </p:nvSpPr>
        <p:spPr>
          <a:xfrm>
            <a:off x="7713340" y="5852160"/>
            <a:ext cx="3929714"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来源：CNAS-CL02:2023；CNAS-CL02-A001:2023</a:t>
            </a:r>
          </a:p>
        </p:txBody>
      </p:sp>
      <p:pic>
        <p:nvPicPr>
          <p:cNvPr id="8" name="ORIGPIC" descr="cl02_2023_cover.png"/>
          <p:cNvPicPr>
            <a:picLocks noChangeAspect="1"/>
          </p:cNvPicPr>
          <p:nvPr/>
        </p:nvPicPr>
        <p:blipFill>
          <a:blip r:embed="rId5"/>
          <a:stretch>
            <a:fillRect/>
          </a:stretch>
        </p:blipFill>
        <p:spPr>
          <a:xfrm>
            <a:off x="548640" y="1554480"/>
            <a:ext cx="1099127" cy="1554480"/>
          </a:xfrm>
          <a:prstGeom prst="roundRect">
            <a:avLst>
              <a:gd name="adj" fmla="val 6655"/>
            </a:avLst>
          </a:prstGeom>
          <a:ln w="9525">
            <a:solidFill>
              <a:srgbClr val="D5DAE0"/>
            </a:solidFill>
          </a:ln>
        </p:spPr>
      </p:pic>
      <p:sp>
        <p:nvSpPr>
          <p:cNvPr id="9" name="TextBox 8"/>
          <p:cNvSpPr txBox="1"/>
          <p:nvPr/>
        </p:nvSpPr>
        <p:spPr>
          <a:xfrm>
            <a:off x="1757495" y="1554480"/>
            <a:ext cx="1534344" cy="118668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2023-06-01</a:t>
            </a:r>
          </a:p>
          <a:p>
            <a:pPr algn="l">
              <a:lnSpc>
                <a:spcPts val="1680"/>
              </a:lnSpc>
              <a:spcBef>
                <a:spcPts val="200"/>
              </a:spcBef>
              <a:spcAft>
                <a:spcPts val="0"/>
              </a:spcAft>
              <a:buNone/>
            </a:pPr>
            <a:r>
              <a:rPr sz="1400" b="0">
                <a:solidFill>
                  <a:srgbClr val="222222"/>
                </a:solidFill>
                <a:latin typeface="Arial"/>
                <a:ea typeface="微软雅黑"/>
                <a:cs typeface="Arial"/>
              </a:rPr>
              <a:t>发布</a:t>
            </a:r>
          </a:p>
          <a:p>
            <a:pPr algn="l">
              <a:lnSpc>
                <a:spcPts val="1680"/>
              </a:lnSpc>
              <a:spcBef>
                <a:spcPts val="200"/>
              </a:spcBef>
              <a:spcAft>
                <a:spcPts val="0"/>
              </a:spcAft>
              <a:buNone/>
            </a:pPr>
            <a:r>
              <a:rPr sz="1400" b="0">
                <a:solidFill>
                  <a:srgbClr val="222222"/>
                </a:solidFill>
                <a:latin typeface="Arial"/>
                <a:ea typeface="微软雅黑"/>
                <a:cs typeface="Arial"/>
              </a:rPr>
              <a:t>2023-12-01</a:t>
            </a:r>
          </a:p>
          <a:p>
            <a:pPr algn="l">
              <a:lnSpc>
                <a:spcPts val="1680"/>
              </a:lnSpc>
              <a:spcBef>
                <a:spcPts val="200"/>
              </a:spcBef>
              <a:spcAft>
                <a:spcPts val="0"/>
              </a:spcAft>
              <a:buNone/>
            </a:pPr>
            <a:r>
              <a:rPr sz="1400" b="0">
                <a:solidFill>
                  <a:srgbClr val="222222"/>
                </a:solidFill>
                <a:latin typeface="Arial"/>
                <a:ea typeface="微软雅黑"/>
                <a:cs typeface="Arial"/>
              </a:rPr>
              <a:t>实施</a:t>
            </a:r>
          </a:p>
          <a:p>
            <a:pPr algn="l">
              <a:lnSpc>
                <a:spcPts val="1680"/>
              </a:lnSpc>
              <a:spcBef>
                <a:spcPts val="200"/>
              </a:spcBef>
              <a:spcAft>
                <a:spcPts val="0"/>
              </a:spcAft>
              <a:buNone/>
            </a:pPr>
            <a:r>
              <a:rPr sz="1400" b="1">
                <a:solidFill>
                  <a:srgbClr val="E8833A"/>
                </a:solidFill>
                <a:latin typeface="Arial"/>
                <a:ea typeface="微软雅黑"/>
                <a:cs typeface="Arial"/>
              </a:rPr>
              <a:t>代替2012版</a:t>
            </a:r>
          </a:p>
        </p:txBody>
      </p:sp>
      <p:grpSp>
        <p:nvGrpSpPr>
          <p:cNvPr id="10" name="QBOX"/>
          <p:cNvGrpSpPr/>
          <p:nvPr/>
        </p:nvGrpSpPr>
        <p:grpSpPr>
          <a:xfrm>
            <a:off x="548640" y="3337560"/>
            <a:ext cx="2743200" cy="2566416"/>
            <a:chOff x="548640" y="3337560"/>
            <a:chExt cx="2743200" cy="2566416"/>
          </a:xfrm>
        </p:grpSpPr>
        <p:sp>
          <p:nvSpPr>
            <p:cNvPr id="11" name="Rounded Rectangle 10"/>
            <p:cNvSpPr/>
            <p:nvPr/>
          </p:nvSpPr>
          <p:spPr>
            <a:xfrm>
              <a:off x="548640" y="3337560"/>
              <a:ext cx="2743200" cy="2566416"/>
            </a:xfrm>
            <a:prstGeom prst="roundRect">
              <a:avLst>
                <a:gd name="adj" fmla="val 285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338327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3" name="TextBox 12"/>
            <p:cNvSpPr txBox="1"/>
            <p:nvPr/>
          </p:nvSpPr>
          <p:spPr>
            <a:xfrm>
              <a:off x="960120" y="3474720"/>
              <a:ext cx="2194560" cy="208178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前言（节选）</a:t>
              </a:r>
            </a:p>
            <a:p>
              <a:pPr algn="l">
                <a:lnSpc>
                  <a:spcPts val="1680"/>
                </a:lnSpc>
                <a:spcBef>
                  <a:spcPts val="400"/>
                </a:spcBef>
                <a:spcAft>
                  <a:spcPts val="0"/>
                </a:spcAft>
                <a:buNone/>
              </a:pPr>
              <a:r>
                <a:rPr sz="1400" b="0">
                  <a:solidFill>
                    <a:srgbClr val="222222"/>
                  </a:solidFill>
                  <a:latin typeface="Arial"/>
                  <a:ea typeface="微软雅黑"/>
                  <a:cs typeface="Arial"/>
                </a:rPr>
                <a:t>本准则等同采用ISO 15189:2022《医学实验室—质量和能力的要求》……</a:t>
              </a:r>
            </a:p>
            <a:p>
              <a:pPr algn="l">
                <a:lnSpc>
                  <a:spcPts val="1680"/>
                </a:lnSpc>
                <a:spcBef>
                  <a:spcPts val="400"/>
                </a:spcBef>
                <a:spcAft>
                  <a:spcPts val="0"/>
                </a:spcAft>
                <a:buNone/>
              </a:pPr>
              <a:r>
                <a:rPr sz="1400" b="0">
                  <a:solidFill>
                    <a:srgbClr val="222222"/>
                  </a:solidFill>
                  <a:latin typeface="Arial"/>
                  <a:ea typeface="微软雅黑"/>
                  <a:cs typeface="Arial"/>
                </a:rPr>
                <a:t>本准则包含即时检验（POCT）的要求。</a:t>
              </a:r>
            </a:p>
            <a:p>
              <a:pPr algn="l">
                <a:lnSpc>
                  <a:spcPts val="1680"/>
                </a:lnSpc>
                <a:spcBef>
                  <a:spcPts val="400"/>
                </a:spcBef>
                <a:spcAft>
                  <a:spcPts val="0"/>
                </a:spcAft>
                <a:buNone/>
              </a:pPr>
              <a:r>
                <a:rPr sz="1400" b="0">
                  <a:solidFill>
                    <a:srgbClr val="222222"/>
                  </a:solidFill>
                  <a:latin typeface="Arial"/>
                  <a:ea typeface="微软雅黑"/>
                  <a:cs typeface="Arial"/>
                </a:rPr>
                <a:t>本准则为第四版，取代CNAS-CL02:2012(第三版)。</a:t>
              </a:r>
            </a:p>
          </p:txBody>
        </p:sp>
        <p:sp>
          <p:nvSpPr>
            <p:cNvPr id="14" name="CITE"/>
            <p:cNvSpPr txBox="1"/>
            <p:nvPr/>
          </p:nvSpPr>
          <p:spPr>
            <a:xfrm>
              <a:off x="851316" y="5565647"/>
              <a:ext cx="230336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CNAS-CL02:2023 前言</a:t>
              </a:r>
            </a:p>
          </p:txBody>
        </p:sp>
      </p:grpSp>
      <p:grpSp>
        <p:nvGrpSpPr>
          <p:cNvPr id="15" name="QBOX"/>
          <p:cNvGrpSpPr/>
          <p:nvPr/>
        </p:nvGrpSpPr>
        <p:grpSpPr>
          <a:xfrm>
            <a:off x="3520440" y="1554480"/>
            <a:ext cx="3710187" cy="3419855"/>
            <a:chOff x="3520440" y="1554480"/>
            <a:chExt cx="3710187" cy="3419855"/>
          </a:xfrm>
        </p:grpSpPr>
        <p:sp>
          <p:nvSpPr>
            <p:cNvPr id="16" name="Rounded Rectangle 15"/>
            <p:cNvSpPr/>
            <p:nvPr/>
          </p:nvSpPr>
          <p:spPr>
            <a:xfrm>
              <a:off x="3520440" y="1554480"/>
              <a:ext cx="3710187" cy="3419855"/>
            </a:xfrm>
            <a:prstGeom prst="roundRect">
              <a:avLst>
                <a:gd name="adj" fmla="val 213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8" name="BADGE"/>
            <p:cNvSpPr/>
            <p:nvPr/>
          </p:nvSpPr>
          <p:spPr>
            <a:xfrm>
              <a:off x="6308121" y="1691639"/>
              <a:ext cx="785345"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原5.6.3</a:t>
              </a:r>
            </a:p>
          </p:txBody>
        </p:sp>
        <p:sp>
          <p:nvSpPr>
            <p:cNvPr id="19" name="TextBox 18"/>
            <p:cNvSpPr txBox="1"/>
            <p:nvPr/>
          </p:nvSpPr>
          <p:spPr>
            <a:xfrm>
              <a:off x="3931920" y="1691639"/>
              <a:ext cx="3161547" cy="29352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7.3.7.3 室间质量评价（节选）</a:t>
              </a:r>
            </a:p>
            <a:p>
              <a:pPr algn="l">
                <a:lnSpc>
                  <a:spcPts val="1680"/>
                </a:lnSpc>
                <a:spcBef>
                  <a:spcPts val="400"/>
                </a:spcBef>
                <a:spcAft>
                  <a:spcPts val="0"/>
                </a:spcAft>
                <a:buNone/>
              </a:pPr>
              <a:r>
                <a:rPr sz="1400" b="0">
                  <a:solidFill>
                    <a:srgbClr val="222222"/>
                  </a:solidFill>
                  <a:latin typeface="Arial"/>
                  <a:ea typeface="微软雅黑"/>
                  <a:cs typeface="Arial"/>
                </a:rPr>
                <a:t>应符合 ISO 15189，7.3.7.3 条款及下列要求：</a:t>
              </a:r>
            </a:p>
            <a:p>
              <a:pPr algn="l">
                <a:lnSpc>
                  <a:spcPts val="1680"/>
                </a:lnSpc>
                <a:spcBef>
                  <a:spcPts val="400"/>
                </a:spcBef>
                <a:spcAft>
                  <a:spcPts val="0"/>
                </a:spcAft>
                <a:buNone/>
              </a:pPr>
              <a:r>
                <a:rPr sz="1400" b="0">
                  <a:solidFill>
                    <a:srgbClr val="222222"/>
                  </a:solidFill>
                  <a:latin typeface="Arial"/>
                  <a:ea typeface="微软雅黑"/>
                  <a:cs typeface="Arial"/>
                </a:rPr>
                <a:t>……</a:t>
              </a:r>
            </a:p>
            <a:p>
              <a:pPr algn="l">
                <a:lnSpc>
                  <a:spcPts val="1680"/>
                </a:lnSpc>
                <a:spcBef>
                  <a:spcPts val="400"/>
                </a:spcBef>
                <a:spcAft>
                  <a:spcPts val="0"/>
                </a:spcAft>
                <a:buNone/>
              </a:pPr>
              <a:r>
                <a:rPr sz="1400" b="0">
                  <a:solidFill>
                    <a:srgbClr val="222222"/>
                  </a:solidFill>
                  <a:latin typeface="Arial"/>
                  <a:ea typeface="微软雅黑"/>
                  <a:cs typeface="Arial"/>
                </a:rPr>
                <a:t>3) 室间质量评价不可获得的检验（检查）项目，可参考 </a:t>
              </a:r>
              <a:r>
                <a:rPr sz="1400" b="1">
                  <a:solidFill>
                    <a:srgbClr val="E8833A"/>
                  </a:solidFill>
                  <a:latin typeface="Arial"/>
                  <a:ea typeface="微软雅黑"/>
                  <a:cs typeface="Arial"/>
                </a:rPr>
                <a:t>WS/T 415 通过与其他实验室比对</a:t>
              </a:r>
              <a:r>
                <a:rPr sz="1400" b="0">
                  <a:solidFill>
                    <a:srgbClr val="222222"/>
                  </a:solidFill>
                  <a:latin typeface="Arial"/>
                  <a:ea typeface="微软雅黑"/>
                  <a:cs typeface="Arial"/>
                </a:rPr>
                <a:t>的方式确定检验结果的可接受性，并规定比对实验室的选择原则（如使用相同检测系统/检测方法的已获认可的实验室或其它同级别、高级别实验室）、比对样品数量、比对频次（宜参考 7.3.7.3 1）参加室间质量评价的频次要求）、判断标准等。</a:t>
              </a:r>
            </a:p>
          </p:txBody>
        </p:sp>
        <p:sp>
          <p:nvSpPr>
            <p:cNvPr id="20" name="CITE"/>
            <p:cNvSpPr txBox="1"/>
            <p:nvPr/>
          </p:nvSpPr>
          <p:spPr>
            <a:xfrm>
              <a:off x="4188068" y="4636007"/>
              <a:ext cx="2905398"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CNAS-CL02-A001:2023 7.3.7.3</a:t>
              </a:r>
            </a:p>
          </p:txBody>
        </p:sp>
      </p:grpSp>
      <p:sp>
        <p:nvSpPr>
          <p:cNvPr id="21" name="TextBox 20"/>
          <p:cNvSpPr txBox="1"/>
          <p:nvPr/>
        </p:nvSpPr>
        <p:spPr>
          <a:xfrm>
            <a:off x="3520440" y="5084064"/>
            <a:ext cx="3710187" cy="749808"/>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注：CL02:2023第7.3.7.3、7.3.7.4条正文与ISO 15189:2022完全一致，受版权保护未公开【条文待核】；两框为CNAS应用要求CNAS-CL02-A001:2023原文。</a:t>
            </a:r>
          </a:p>
        </p:txBody>
      </p:sp>
      <p:grpSp>
        <p:nvGrpSpPr>
          <p:cNvPr id="22" name="QBOX"/>
          <p:cNvGrpSpPr/>
          <p:nvPr/>
        </p:nvGrpSpPr>
        <p:grpSpPr>
          <a:xfrm>
            <a:off x="7459227" y="1554480"/>
            <a:ext cx="4183828" cy="3897376"/>
            <a:chOff x="7459227" y="1554480"/>
            <a:chExt cx="4183828" cy="3897376"/>
          </a:xfrm>
        </p:grpSpPr>
        <p:sp>
          <p:nvSpPr>
            <p:cNvPr id="23" name="Rounded Rectangle 22"/>
            <p:cNvSpPr/>
            <p:nvPr/>
          </p:nvSpPr>
          <p:spPr>
            <a:xfrm>
              <a:off x="7459227" y="1554480"/>
              <a:ext cx="4183828" cy="3897376"/>
            </a:xfrm>
            <a:prstGeom prst="roundRect">
              <a:avLst>
                <a:gd name="adj" fmla="val 187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5981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5" name="BADGE"/>
            <p:cNvSpPr/>
            <p:nvPr/>
          </p:nvSpPr>
          <p:spPr>
            <a:xfrm>
              <a:off x="10720549" y="1691639"/>
              <a:ext cx="785345"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原5.6.4</a:t>
              </a:r>
            </a:p>
          </p:txBody>
        </p:sp>
        <p:sp>
          <p:nvSpPr>
            <p:cNvPr id="26" name="TextBox 25"/>
            <p:cNvSpPr txBox="1"/>
            <p:nvPr/>
          </p:nvSpPr>
          <p:spPr>
            <a:xfrm>
              <a:off x="7870707" y="1691639"/>
              <a:ext cx="3635188" cy="3412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7.3.7.4 检验结果可比性</a:t>
              </a:r>
            </a:p>
            <a:p>
              <a:pPr algn="l">
                <a:lnSpc>
                  <a:spcPts val="1680"/>
                </a:lnSpc>
                <a:spcBef>
                  <a:spcPts val="400"/>
                </a:spcBef>
                <a:spcAft>
                  <a:spcPts val="0"/>
                </a:spcAft>
                <a:buNone/>
              </a:pPr>
              <a:r>
                <a:rPr sz="1400" b="0">
                  <a:solidFill>
                    <a:srgbClr val="222222"/>
                  </a:solidFill>
                  <a:latin typeface="Arial"/>
                  <a:ea typeface="微软雅黑"/>
                  <a:cs typeface="Arial"/>
                </a:rPr>
                <a:t>应符合 ISO 15189，7.3.7.4 条款及下列要求：</a:t>
              </a:r>
            </a:p>
            <a:p>
              <a:pPr algn="l">
                <a:lnSpc>
                  <a:spcPts val="1680"/>
                </a:lnSpc>
                <a:spcBef>
                  <a:spcPts val="400"/>
                </a:spcBef>
                <a:spcAft>
                  <a:spcPts val="0"/>
                </a:spcAft>
                <a:buNone/>
              </a:pPr>
              <a:r>
                <a:rPr sz="1400" b="0">
                  <a:solidFill>
                    <a:srgbClr val="222222"/>
                  </a:solidFill>
                  <a:latin typeface="Arial"/>
                  <a:ea typeface="微软雅黑"/>
                  <a:cs typeface="Arial"/>
                </a:rPr>
                <a:t>1) 实验室内部结果比对的程序文件应规定比对条件、样品类型及数量、比对方案、判断标准、频次及相关措施，</a:t>
              </a:r>
              <a:r>
                <a:rPr sz="1400" b="1">
                  <a:solidFill>
                    <a:srgbClr val="E8833A"/>
                  </a:solidFill>
                  <a:latin typeface="Arial"/>
                  <a:ea typeface="微软雅黑"/>
                  <a:cs typeface="Arial"/>
                </a:rPr>
                <a:t>可参考 CNAS-GL047 以及相关国家/行业标准，如 WS/T 406、WS/T 407</a:t>
              </a:r>
              <a:r>
                <a:rPr sz="1400" b="0">
                  <a:solidFill>
                    <a:srgbClr val="222222"/>
                  </a:solidFill>
                  <a:latin typeface="Arial"/>
                  <a:ea typeface="微软雅黑"/>
                  <a:cs typeface="Arial"/>
                </a:rPr>
                <a:t>。</a:t>
              </a:r>
            </a:p>
            <a:p>
              <a:pPr algn="l">
                <a:lnSpc>
                  <a:spcPts val="1680"/>
                </a:lnSpc>
                <a:spcBef>
                  <a:spcPts val="400"/>
                </a:spcBef>
                <a:spcAft>
                  <a:spcPts val="0"/>
                </a:spcAft>
                <a:buNone/>
              </a:pPr>
              <a:r>
                <a:rPr sz="1400" b="0">
                  <a:solidFill>
                    <a:srgbClr val="222222"/>
                  </a:solidFill>
                  <a:latin typeface="Arial"/>
                  <a:ea typeface="微软雅黑"/>
                  <a:cs typeface="Arial"/>
                </a:rPr>
                <a:t>2) 应规定由多个人员进行的手工检验项目比对的方法和判断标准，例如：显微镜检查、培养结果判读、抑菌圈测量等，定期（至少每 6 个月 1 次，每次至少 5 份临床样品）进行检验人员的结果比对。</a:t>
              </a:r>
            </a:p>
            <a:p>
              <a:pPr algn="l">
                <a:lnSpc>
                  <a:spcPts val="1680"/>
                </a:lnSpc>
                <a:spcBef>
                  <a:spcPts val="400"/>
                </a:spcBef>
                <a:spcAft>
                  <a:spcPts val="0"/>
                </a:spcAft>
                <a:buNone/>
              </a:pPr>
              <a:r>
                <a:rPr sz="1400" b="0">
                  <a:solidFill>
                    <a:srgbClr val="222222"/>
                  </a:solidFill>
                  <a:latin typeface="Arial"/>
                  <a:ea typeface="微软雅黑"/>
                  <a:cs typeface="Arial"/>
                </a:rPr>
                <a:t>3) 比对记录应由授权人员审核并签字，并至少保留 2 年。</a:t>
              </a:r>
            </a:p>
          </p:txBody>
        </p:sp>
        <p:sp>
          <p:nvSpPr>
            <p:cNvPr id="27" name="CITE"/>
            <p:cNvSpPr txBox="1"/>
            <p:nvPr/>
          </p:nvSpPr>
          <p:spPr>
            <a:xfrm>
              <a:off x="8600496" y="5113527"/>
              <a:ext cx="2905398"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CNAS-CL02-A001:2023 7.3.7.4</a:t>
              </a:r>
            </a:p>
          </p:txBody>
        </p:sp>
      </p:grpSp>
      <p:pic>
        <p:nvPicPr>
          <p:cNvPr id="28"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可比性验证的文件层级</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15</a:t>
            </a:r>
            <a:endParaRPr sz="1200" b="0">
              <a:solidFill>
                <a:srgbClr val="6B7280"/>
              </a:solidFill>
              <a:latin typeface="Arial" charset="0"/>
              <a:ea typeface="微软雅黑"/>
              <a:cs typeface="Arial" charset="0"/>
            </a:endParaRPr>
          </a:p>
        </p:txBody>
      </p:sp>
      <p:sp>
        <p:nvSpPr>
          <p:cNvPr id="6" name="SRCBADGE"/>
          <p:cNvSpPr/>
          <p:nvPr/>
        </p:nvSpPr>
        <p:spPr>
          <a:xfrm>
            <a:off x="10100767" y="5852160"/>
            <a:ext cx="1542288"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来源：各文件原文</a:t>
            </a:r>
            <a:endParaRPr sz="1200" b="1">
              <a:solidFill>
                <a:srgbClr val="5B6B7F"/>
              </a:solidFill>
              <a:latin typeface="Arial" charset="0"/>
              <a:ea typeface="微软雅黑"/>
              <a:cs typeface="Arial" charset="0"/>
            </a:endParaRPr>
          </a:p>
        </p:txBody>
      </p:sp>
      <p:sp>
        <p:nvSpPr>
          <p:cNvPr id="7" name="PYRAMID"/>
          <p:cNvSpPr/>
          <p:nvPr/>
        </p:nvSpPr>
        <p:spPr>
          <a:xfrm>
            <a:off x="1499616" y="1554480"/>
            <a:ext cx="1755648" cy="713232"/>
          </a:xfrm>
          <a:prstGeom prst="trapezoid">
            <a:avLst>
              <a:gd name="adj" fmla="val 33333"/>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① 部门规范性文件</a:t>
            </a:r>
            <a:endParaRPr sz="1600" b="1">
              <a:solidFill>
                <a:srgbClr val="FFFFFF"/>
              </a:solidFill>
              <a:latin typeface="Arial" charset="0"/>
              <a:ea typeface="微软雅黑"/>
              <a:cs typeface="Arial" charset="0"/>
            </a:endParaRPr>
          </a:p>
        </p:txBody>
      </p:sp>
      <p:grpSp>
        <p:nvGrpSpPr>
          <p:cNvPr id="8" name="TIERTEXT"/>
          <p:cNvGrpSpPr/>
          <p:nvPr/>
        </p:nvGrpSpPr>
        <p:grpSpPr>
          <a:xfrm>
            <a:off x="4434840" y="1554480"/>
            <a:ext cx="3433876" cy="713232"/>
            <a:chOff x="4434840" y="1554480"/>
            <a:chExt cx="3433876" cy="713232"/>
          </a:xfrm>
        </p:grpSpPr>
        <p:sp>
          <p:nvSpPr>
            <p:cNvPr id="9" name="Rounded Rectangle 8"/>
            <p:cNvSpPr/>
            <p:nvPr/>
          </p:nvSpPr>
          <p:spPr>
            <a:xfrm>
              <a:off x="4434840" y="1554480"/>
              <a:ext cx="3433876" cy="713232"/>
            </a:xfrm>
            <a:prstGeom prst="roundRect">
              <a:avLst>
                <a:gd name="adj" fmla="val 1025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0934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《医疗机构临床实验室管理办法》《医疗机构检查检验结果互认管理办法》</a:t>
              </a:r>
              <a:endParaRPr sz="1400" b="0">
                <a:solidFill>
                  <a:srgbClr val="222222"/>
                </a:solidFill>
                <a:latin typeface="Arial" charset="0"/>
                <a:ea typeface="微软雅黑"/>
                <a:cs typeface="Arial" charset="0"/>
              </a:endParaRPr>
            </a:p>
          </p:txBody>
        </p:sp>
      </p:grpSp>
      <p:sp>
        <p:nvSpPr>
          <p:cNvPr id="11" name="PYRAMID"/>
          <p:cNvSpPr/>
          <p:nvPr/>
        </p:nvSpPr>
        <p:spPr>
          <a:xfrm>
            <a:off x="1261872" y="2377440"/>
            <a:ext cx="2231136" cy="713232"/>
          </a:xfrm>
          <a:prstGeom prst="trapezoid">
            <a:avLst>
              <a:gd name="adj" fmla="val 33333"/>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② 行业标准</a:t>
            </a:r>
            <a:endParaRPr sz="1600" b="1">
              <a:solidFill>
                <a:srgbClr val="FFFFFF"/>
              </a:solidFill>
              <a:latin typeface="Arial" charset="0"/>
              <a:ea typeface="微软雅黑"/>
              <a:cs typeface="Arial" charset="0"/>
            </a:endParaRPr>
          </a:p>
        </p:txBody>
      </p:sp>
      <p:grpSp>
        <p:nvGrpSpPr>
          <p:cNvPr id="12" name="TIERTEXT"/>
          <p:cNvGrpSpPr/>
          <p:nvPr/>
        </p:nvGrpSpPr>
        <p:grpSpPr>
          <a:xfrm>
            <a:off x="4434840" y="2377440"/>
            <a:ext cx="3433876" cy="713232"/>
            <a:chOff x="4434840" y="2377440"/>
            <a:chExt cx="3433876" cy="713232"/>
          </a:xfrm>
        </p:grpSpPr>
        <p:sp>
          <p:nvSpPr>
            <p:cNvPr id="13" name="Rounded Rectangle 12"/>
            <p:cNvSpPr/>
            <p:nvPr/>
          </p:nvSpPr>
          <p:spPr>
            <a:xfrm>
              <a:off x="4434840" y="2377440"/>
              <a:ext cx="3433876" cy="713232"/>
            </a:xfrm>
            <a:prstGeom prst="roundRect">
              <a:avLst>
                <a:gd name="adj" fmla="val 10256"/>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3230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WS/T 407-2012、WS/T 885—2026</a:t>
              </a:r>
              <a:endParaRPr sz="1400" b="0">
                <a:solidFill>
                  <a:srgbClr val="222222"/>
                </a:solidFill>
                <a:latin typeface="Arial" charset="0"/>
                <a:ea typeface="微软雅黑"/>
                <a:cs typeface="Arial" charset="0"/>
              </a:endParaRPr>
            </a:p>
          </p:txBody>
        </p:sp>
      </p:grpSp>
      <p:sp>
        <p:nvSpPr>
          <p:cNvPr id="15" name="PYRAMID"/>
          <p:cNvSpPr/>
          <p:nvPr/>
        </p:nvSpPr>
        <p:spPr>
          <a:xfrm>
            <a:off x="1024128" y="3200400"/>
            <a:ext cx="2706624" cy="713232"/>
          </a:xfrm>
          <a:prstGeom prst="trapezoid">
            <a:avLst>
              <a:gd name="adj" fmla="val 33333"/>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③ 认可准则</a:t>
            </a:r>
            <a:endParaRPr sz="1600" b="1">
              <a:solidFill>
                <a:srgbClr val="FFFFFF"/>
              </a:solidFill>
              <a:latin typeface="Arial" charset="0"/>
              <a:ea typeface="微软雅黑"/>
              <a:cs typeface="Arial" charset="0"/>
            </a:endParaRPr>
          </a:p>
        </p:txBody>
      </p:sp>
      <p:grpSp>
        <p:nvGrpSpPr>
          <p:cNvPr id="16" name="TIERTEXT"/>
          <p:cNvGrpSpPr/>
          <p:nvPr/>
        </p:nvGrpSpPr>
        <p:grpSpPr>
          <a:xfrm>
            <a:off x="4434840" y="3200400"/>
            <a:ext cx="3433876" cy="713232"/>
            <a:chOff x="4434840" y="3200400"/>
            <a:chExt cx="3433876" cy="713232"/>
          </a:xfrm>
        </p:grpSpPr>
        <p:sp>
          <p:nvSpPr>
            <p:cNvPr id="17" name="Rounded Rectangle 16"/>
            <p:cNvSpPr/>
            <p:nvPr/>
          </p:nvSpPr>
          <p:spPr>
            <a:xfrm>
              <a:off x="4434840" y="3200400"/>
              <a:ext cx="3433876" cy="713232"/>
            </a:xfrm>
            <a:prstGeom prst="roundRect">
              <a:avLst>
                <a:gd name="adj" fmla="val 1025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25526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CNAS-CL02:2023 第7.3.7.4条</a:t>
              </a:r>
              <a:endParaRPr sz="1400" b="0">
                <a:solidFill>
                  <a:srgbClr val="222222"/>
                </a:solidFill>
                <a:latin typeface="Arial" charset="0"/>
                <a:ea typeface="微软雅黑"/>
                <a:cs typeface="Arial" charset="0"/>
              </a:endParaRPr>
            </a:p>
          </p:txBody>
        </p:sp>
      </p:grpSp>
      <p:sp>
        <p:nvSpPr>
          <p:cNvPr id="19" name="PYRAMID"/>
          <p:cNvSpPr/>
          <p:nvPr/>
        </p:nvSpPr>
        <p:spPr>
          <a:xfrm>
            <a:off x="786384" y="4023360"/>
            <a:ext cx="3182112" cy="713232"/>
          </a:xfrm>
          <a:prstGeom prst="trapezoid">
            <a:avLst>
              <a:gd name="adj" fmla="val 33333"/>
            </a:avLst>
          </a:prstGeom>
          <a:solidFill>
            <a:srgbClr val="2E54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④ 认可指南</a:t>
            </a:r>
            <a:endParaRPr sz="1600" b="1">
              <a:solidFill>
                <a:srgbClr val="FFFFFF"/>
              </a:solidFill>
              <a:latin typeface="Arial" charset="0"/>
              <a:ea typeface="微软雅黑"/>
              <a:cs typeface="Arial" charset="0"/>
            </a:endParaRPr>
          </a:p>
        </p:txBody>
      </p:sp>
      <p:grpSp>
        <p:nvGrpSpPr>
          <p:cNvPr id="20" name="TIERTEXT"/>
          <p:cNvGrpSpPr/>
          <p:nvPr/>
        </p:nvGrpSpPr>
        <p:grpSpPr>
          <a:xfrm>
            <a:off x="4434840" y="4023360"/>
            <a:ext cx="3433876" cy="713232"/>
            <a:chOff x="4434840" y="4023360"/>
            <a:chExt cx="3433876" cy="713232"/>
          </a:xfrm>
        </p:grpSpPr>
        <p:sp>
          <p:nvSpPr>
            <p:cNvPr id="21" name="Rounded Rectangle 20"/>
            <p:cNvSpPr/>
            <p:nvPr/>
          </p:nvSpPr>
          <p:spPr>
            <a:xfrm>
              <a:off x="4434840" y="4023360"/>
              <a:ext cx="3433876" cy="713232"/>
            </a:xfrm>
            <a:prstGeom prst="roundRect">
              <a:avLst>
                <a:gd name="adj" fmla="val 10256"/>
              </a:avLst>
            </a:prstGeom>
            <a:solidFill>
              <a:srgbClr val="F3F5F7"/>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07822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CNAS-GL047:2021</a:t>
              </a:r>
              <a:endParaRPr sz="1400" b="0">
                <a:solidFill>
                  <a:srgbClr val="222222"/>
                </a:solidFill>
                <a:latin typeface="Arial" charset="0"/>
                <a:ea typeface="微软雅黑"/>
                <a:cs typeface="Arial" charset="0"/>
              </a:endParaRPr>
            </a:p>
          </p:txBody>
        </p:sp>
      </p:grpSp>
      <p:sp>
        <p:nvSpPr>
          <p:cNvPr id="23" name="PYRAMID"/>
          <p:cNvSpPr/>
          <p:nvPr/>
        </p:nvSpPr>
        <p:spPr>
          <a:xfrm>
            <a:off x="548640" y="4846320"/>
            <a:ext cx="3657600" cy="713232"/>
          </a:xfrm>
          <a:prstGeom prst="trapezoid">
            <a:avLst>
              <a:gd name="adj" fmla="val 33333"/>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⑤ 我科</a:t>
            </a:r>
            <a:endParaRPr sz="1600" b="1">
              <a:solidFill>
                <a:srgbClr val="FFFFFF"/>
              </a:solidFill>
              <a:latin typeface="Arial" charset="0"/>
              <a:ea typeface="微软雅黑"/>
              <a:cs typeface="Arial" charset="0"/>
            </a:endParaRPr>
          </a:p>
        </p:txBody>
      </p:sp>
      <p:grpSp>
        <p:nvGrpSpPr>
          <p:cNvPr id="24" name="TIERTEXT"/>
          <p:cNvGrpSpPr/>
          <p:nvPr/>
        </p:nvGrpSpPr>
        <p:grpSpPr>
          <a:xfrm>
            <a:off x="4434840" y="4846320"/>
            <a:ext cx="3433876" cy="713232"/>
            <a:chOff x="4434840" y="4846320"/>
            <a:chExt cx="3433876" cy="713232"/>
          </a:xfrm>
        </p:grpSpPr>
        <p:sp>
          <p:nvSpPr>
            <p:cNvPr id="25" name="Rounded Rectangle 24"/>
            <p:cNvSpPr/>
            <p:nvPr/>
          </p:nvSpPr>
          <p:spPr>
            <a:xfrm>
              <a:off x="4434840" y="4846320"/>
              <a:ext cx="3433876" cy="713232"/>
            </a:xfrm>
            <a:prstGeom prst="roundRect">
              <a:avLst>
                <a:gd name="adj" fmla="val 10256"/>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901183"/>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LZJY-2-CX-38《比对管理程序》</a:t>
              </a:r>
              <a:endParaRPr sz="1400" b="0">
                <a:solidFill>
                  <a:srgbClr val="222222"/>
                </a:solidFill>
                <a:latin typeface="Arial" charset="0"/>
                <a:ea typeface="微软雅黑"/>
                <a:cs typeface="Arial" charset="0"/>
              </a:endParaRPr>
            </a:p>
          </p:txBody>
        </p:sp>
      </p:grpSp>
      <p:sp>
        <p:nvSpPr>
          <p:cNvPr id="27" name="TextBox 26"/>
          <p:cNvSpPr txBox="1"/>
          <p:nvPr/>
        </p:nvSpPr>
        <p:spPr>
          <a:xfrm>
            <a:off x="548640" y="5788152"/>
            <a:ext cx="7320076"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charset="0"/>
                <a:ea typeface="微软雅黑"/>
                <a:cs typeface="Arial" charset="0"/>
              </a:rPr>
              <a:t>①②面向所有医疗机构；③④面向申请或已获 CNAS 认可的实验室；⑤为我科执行文件</a:t>
            </a:r>
            <a:endParaRPr sz="1400" b="0">
              <a:solidFill>
                <a:srgbClr val="6B7280"/>
              </a:solidFill>
              <a:latin typeface="Arial" charset="0"/>
              <a:ea typeface="微软雅黑"/>
              <a:cs typeface="Arial" charset="0"/>
            </a:endParaRPr>
          </a:p>
        </p:txBody>
      </p:sp>
      <p:pic>
        <p:nvPicPr>
          <p:cNvPr id="28" name="NEWIMG" descr="15_1.png"/>
          <p:cNvPicPr>
            <a:picLocks noChangeAspect="1"/>
          </p:cNvPicPr>
          <p:nvPr/>
        </p:nvPicPr>
        <p:blipFill>
          <a:blip r:embed="rId1"/>
          <a:stretch>
            <a:fillRect/>
          </a:stretch>
        </p:blipFill>
        <p:spPr>
          <a:xfrm>
            <a:off x="8097316" y="1554480"/>
            <a:ext cx="2529840" cy="3794760"/>
          </a:xfrm>
          <a:prstGeom prst="roundRect">
            <a:avLst>
              <a:gd name="adj" fmla="val 2891"/>
            </a:avLst>
          </a:prstGeom>
        </p:spPr>
      </p:pic>
      <p:sp>
        <p:nvSpPr>
          <p:cNvPr id="29" name="TextBox 28"/>
          <p:cNvSpPr txBox="1"/>
          <p:nvPr/>
        </p:nvSpPr>
        <p:spPr>
          <a:xfrm>
            <a:off x="8097316" y="5404104"/>
            <a:ext cx="3545738"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示例图：五级文件层级</a:t>
            </a:r>
            <a:endParaRPr sz="1200" b="0">
              <a:solidFill>
                <a:srgbClr val="6B7280"/>
              </a:solidFill>
              <a:latin typeface="Arial" charset="0"/>
              <a:ea typeface="微软雅黑"/>
              <a:cs typeface="Arial" charset="0"/>
            </a:endParaRPr>
          </a:p>
        </p:txBody>
      </p:sp>
      <p:pic>
        <p:nvPicPr>
          <p:cNvPr id="30"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659897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两份文件：CNAS-GL047 与 WS/T 407</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16</a:t>
            </a:r>
            <a:endParaRPr sz="1200" b="0">
              <a:solidFill>
                <a:srgbClr val="6B7280"/>
              </a:solidFill>
              <a:latin typeface="Arial" charset="0"/>
              <a:ea typeface="微软雅黑"/>
              <a:cs typeface="Arial" charset="0"/>
            </a:endParaRPr>
          </a:p>
        </p:txBody>
      </p:sp>
      <p:sp>
        <p:nvSpPr>
          <p:cNvPr id="6"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来源：CNAS-GL047:2021；WS/T 407-2012</a:t>
            </a:r>
            <a:endParaRPr sz="1200" b="1">
              <a:solidFill>
                <a:srgbClr val="1F3A5F"/>
              </a:solidFill>
              <a:latin typeface="Arial" charset="0"/>
              <a:ea typeface="微软雅黑"/>
              <a:cs typeface="Arial" charset="0"/>
            </a:endParaRPr>
          </a:p>
        </p:txBody>
      </p:sp>
      <p:pic>
        <p:nvPicPr>
          <p:cNvPr id="7" name="NEWIMG" descr="16_1.png"/>
          <p:cNvPicPr>
            <a:picLocks noChangeAspect="1"/>
          </p:cNvPicPr>
          <p:nvPr/>
        </p:nvPicPr>
        <p:blipFill>
          <a:blip r:embed="rId1"/>
          <a:stretch>
            <a:fillRect/>
          </a:stretch>
        </p:blipFill>
        <p:spPr>
          <a:xfrm>
            <a:off x="4322978" y="1554480"/>
            <a:ext cx="3545738" cy="886434"/>
          </a:xfrm>
          <a:prstGeom prst="roundRect">
            <a:avLst>
              <a:gd name="adj" fmla="val 8252"/>
            </a:avLst>
          </a:prstGeom>
        </p:spPr>
      </p:pic>
      <p:pic>
        <p:nvPicPr>
          <p:cNvPr id="8" name="ORIGPIC" descr="image.jpeg"/>
          <p:cNvPicPr>
            <a:picLocks noChangeAspect="1"/>
          </p:cNvPicPr>
          <p:nvPr/>
        </p:nvPicPr>
        <p:blipFill>
          <a:blip r:embed="rId2"/>
          <a:srcRect/>
          <a:stretch>
            <a:fillRect/>
          </a:stretch>
        </p:blipFill>
        <p:spPr>
          <a:xfrm>
            <a:off x="67310" y="1525270"/>
            <a:ext cx="2108835" cy="2506980"/>
          </a:xfrm>
          <a:prstGeom prst="roundRect">
            <a:avLst>
              <a:gd name="adj" fmla="val 7914"/>
            </a:avLst>
          </a:prstGeom>
          <a:ln w="9525">
            <a:solidFill>
              <a:srgbClr val="D5DAE0"/>
            </a:solidFill>
          </a:ln>
        </p:spPr>
      </p:pic>
      <p:sp>
        <p:nvSpPr>
          <p:cNvPr id="9" name="BADGE"/>
          <p:cNvSpPr/>
          <p:nvPr/>
        </p:nvSpPr>
        <p:spPr>
          <a:xfrm>
            <a:off x="2252746" y="2669514"/>
            <a:ext cx="26614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该条款在CL02:2023中对应7.3.7.4</a:t>
            </a:r>
            <a:endParaRPr sz="1200" b="1">
              <a:solidFill>
                <a:srgbClr val="FFFFFF"/>
              </a:solidFill>
              <a:latin typeface="Arial" charset="0"/>
              <a:ea typeface="微软雅黑"/>
              <a:cs typeface="Arial" charset="0"/>
            </a:endParaRPr>
          </a:p>
        </p:txBody>
      </p:sp>
      <p:grpSp>
        <p:nvGrpSpPr>
          <p:cNvPr id="10" name="QBOX"/>
          <p:cNvGrpSpPr/>
          <p:nvPr/>
        </p:nvGrpSpPr>
        <p:grpSpPr>
          <a:xfrm>
            <a:off x="548640" y="4261104"/>
            <a:ext cx="4038447" cy="1408176"/>
            <a:chOff x="548640" y="4261104"/>
            <a:chExt cx="4038447" cy="1408176"/>
          </a:xfrm>
        </p:grpSpPr>
        <p:sp>
          <p:nvSpPr>
            <p:cNvPr id="11" name="Rounded Rectangle 10"/>
            <p:cNvSpPr/>
            <p:nvPr/>
          </p:nvSpPr>
          <p:spPr>
            <a:xfrm>
              <a:off x="548640" y="4261104"/>
              <a:ext cx="4038447" cy="1408176"/>
            </a:xfrm>
            <a:prstGeom prst="roundRect">
              <a:avLst>
                <a:gd name="adj" fmla="val 519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306824"/>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3" name="TextBox 12"/>
            <p:cNvSpPr txBox="1"/>
            <p:nvPr/>
          </p:nvSpPr>
          <p:spPr>
            <a:xfrm>
              <a:off x="960120" y="4398264"/>
              <a:ext cx="348980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是对 </a:t>
              </a:r>
              <a:r>
                <a:rPr sz="1500" b="0">
                  <a:solidFill>
                    <a:srgbClr val="222222"/>
                  </a:solidFill>
                  <a:latin typeface="Arial" charset="0"/>
                  <a:ea typeface="微软雅黑"/>
                  <a:cs typeface="Arial" charset="0"/>
                </a:rPr>
                <a:t>CNAS-CL02《</a:t>
              </a:r>
              <a:r>
                <a:rPr sz="1500" b="0">
                  <a:solidFill>
                    <a:srgbClr val="222222"/>
                  </a:solidFill>
                  <a:latin typeface="Arial" charset="0"/>
                  <a:ea typeface="微软雅黑"/>
                  <a:cs typeface="Arial" charset="0"/>
                </a:rPr>
                <a:t>医学实验室质量和能力认可准则</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中“</a:t>
              </a:r>
              <a:r>
                <a:rPr sz="1500" b="0">
                  <a:solidFill>
                    <a:srgbClr val="222222"/>
                  </a:solidFill>
                  <a:latin typeface="Arial" charset="0"/>
                  <a:ea typeface="微软雅黑"/>
                  <a:cs typeface="Arial" charset="0"/>
                </a:rPr>
                <a:t>5.6.4 </a:t>
              </a:r>
              <a:r>
                <a:rPr sz="1500" b="0">
                  <a:solidFill>
                    <a:srgbClr val="222222"/>
                  </a:solidFill>
                  <a:latin typeface="Arial" charset="0"/>
                  <a:ea typeface="微软雅黑"/>
                  <a:cs typeface="Arial" charset="0"/>
                </a:rPr>
                <a:t>检验结果的可比性”要求涉及的定量检验程序间检验结果可比性验证所做的具体解释和指导</a:t>
              </a:r>
              <a:endParaRPr sz="1500" b="0">
                <a:solidFill>
                  <a:srgbClr val="222222"/>
                </a:solidFill>
                <a:latin typeface="Arial" charset="0"/>
                <a:ea typeface="微软雅黑"/>
                <a:cs typeface="Arial" charset="0"/>
              </a:endParaRPr>
            </a:p>
          </p:txBody>
        </p:sp>
        <p:sp>
          <p:nvSpPr>
            <p:cNvPr id="14" name="CITE"/>
            <p:cNvSpPr txBox="1"/>
            <p:nvPr/>
          </p:nvSpPr>
          <p:spPr>
            <a:xfrm>
              <a:off x="2451996" y="5330951"/>
              <a:ext cx="199793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前言</a:t>
              </a:r>
              <a:endParaRPr sz="1200" b="0">
                <a:solidFill>
                  <a:srgbClr val="1F3A5F"/>
                </a:solidFill>
                <a:latin typeface="Arial" charset="0"/>
                <a:ea typeface="微软雅黑"/>
                <a:cs typeface="Arial" charset="0"/>
              </a:endParaRPr>
            </a:p>
          </p:txBody>
        </p:sp>
      </p:grpSp>
      <p:grpSp>
        <p:nvGrpSpPr>
          <p:cNvPr id="15" name="QBOX"/>
          <p:cNvGrpSpPr/>
          <p:nvPr/>
        </p:nvGrpSpPr>
        <p:grpSpPr>
          <a:xfrm>
            <a:off x="5044287" y="2669514"/>
            <a:ext cx="2103120" cy="3050031"/>
            <a:chOff x="5044287" y="2669514"/>
            <a:chExt cx="2103120" cy="3050031"/>
          </a:xfrm>
        </p:grpSpPr>
        <p:sp>
          <p:nvSpPr>
            <p:cNvPr id="16" name="Rounded Rectangle 15"/>
            <p:cNvSpPr/>
            <p:nvPr/>
          </p:nvSpPr>
          <p:spPr>
            <a:xfrm>
              <a:off x="5044287" y="2669514"/>
              <a:ext cx="2103120" cy="3050031"/>
            </a:xfrm>
            <a:prstGeom prst="roundRect">
              <a:avLst>
                <a:gd name="adj" fmla="val 3478"/>
              </a:avLst>
            </a:prstGeom>
            <a:solidFill>
              <a:srgbClr val="FFF7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1447" y="2806674"/>
              <a:ext cx="1828799" cy="2345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1F3A5F"/>
                  </a:solidFill>
                  <a:latin typeface="Arial" charset="0"/>
                  <a:ea typeface="微软雅黑"/>
                  <a:cs typeface="Arial" charset="0"/>
                </a:rPr>
                <a:t>医学实验室在相同或不同地点，使用多个相同或不同的定量检验程序、检测系统、检验方法等 （通称“检验程序”）检测同一分析物（检验项目）时，验证检验结果间的可比性。</a:t>
              </a:r>
              <a:endParaRPr sz="1500" b="0">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1F3A5F"/>
                  </a:solidFill>
                  <a:latin typeface="Arial" charset="0"/>
                  <a:ea typeface="微软雅黑"/>
                  <a:cs typeface="Arial" charset="0"/>
                </a:rPr>
                <a:t>（周期性）</a:t>
              </a:r>
              <a:endParaRPr sz="1500" b="0">
                <a:solidFill>
                  <a:srgbClr val="1F3A5F"/>
                </a:solidFill>
                <a:latin typeface="Arial" charset="0"/>
                <a:ea typeface="微软雅黑"/>
                <a:cs typeface="Arial" charset="0"/>
              </a:endParaRPr>
            </a:p>
          </p:txBody>
        </p:sp>
        <p:sp>
          <p:nvSpPr>
            <p:cNvPr id="18" name="CITE"/>
            <p:cNvSpPr txBox="1"/>
            <p:nvPr/>
          </p:nvSpPr>
          <p:spPr>
            <a:xfrm>
              <a:off x="5181447" y="5161762"/>
              <a:ext cx="1828799" cy="420623"/>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范围</a:t>
              </a:r>
              <a:endParaRPr sz="1200" b="0">
                <a:solidFill>
                  <a:srgbClr val="1F3A5F"/>
                </a:solidFill>
                <a:latin typeface="Arial" charset="0"/>
                <a:ea typeface="微软雅黑"/>
                <a:cs typeface="Arial" charset="0"/>
              </a:endParaRPr>
            </a:p>
          </p:txBody>
        </p:sp>
      </p:grpSp>
      <p:cxnSp>
        <p:nvCxnSpPr>
          <p:cNvPr id="19" name="ARROW"/>
          <p:cNvCxnSpPr/>
          <p:nvPr/>
        </p:nvCxnSpPr>
        <p:spPr>
          <a:xfrm>
            <a:off x="464195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p:cNvCxnSpPr/>
          <p:nvPr/>
        </p:nvCxnSpPr>
        <p:spPr>
          <a:xfrm flipH="1">
            <a:off x="720227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918297" y="2361539"/>
            <a:ext cx="4038447"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WS/T 407-2012 </a:t>
            </a:r>
            <a:r>
              <a:rPr sz="1400" b="1">
                <a:solidFill>
                  <a:srgbClr val="222222"/>
                </a:solidFill>
                <a:latin typeface="Arial" charset="0"/>
                <a:ea typeface="微软雅黑"/>
                <a:cs typeface="Arial" charset="0"/>
              </a:rPr>
              <a:t>医疗机构内定量检验结果的可比性验证指南</a:t>
            </a:r>
            <a:endParaRPr sz="1400" b="1">
              <a:solidFill>
                <a:srgbClr val="222222"/>
              </a:solidFill>
              <a:latin typeface="Arial" charset="0"/>
              <a:ea typeface="微软雅黑"/>
              <a:cs typeface="Arial" charset="0"/>
            </a:endParaRPr>
          </a:p>
        </p:txBody>
      </p:sp>
      <p:pic>
        <p:nvPicPr>
          <p:cNvPr id="22" name="ORIGPIC" descr="image.jpeg"/>
          <p:cNvPicPr>
            <a:picLocks noChangeAspect="1"/>
          </p:cNvPicPr>
          <p:nvPr/>
        </p:nvPicPr>
        <p:blipFill>
          <a:blip r:embed="rId3"/>
          <a:srcRect/>
          <a:stretch>
            <a:fillRect/>
          </a:stretch>
        </p:blipFill>
        <p:spPr>
          <a:xfrm>
            <a:off x="7604607" y="3251682"/>
            <a:ext cx="1854067" cy="627734"/>
          </a:xfrm>
          <a:prstGeom prst="roundRect">
            <a:avLst>
              <a:gd name="adj" fmla="val 11653"/>
            </a:avLst>
          </a:prstGeom>
          <a:ln w="9525">
            <a:solidFill>
              <a:srgbClr val="D5DAE0"/>
            </a:solidFill>
          </a:ln>
        </p:spPr>
      </p:pic>
      <p:pic>
        <p:nvPicPr>
          <p:cNvPr id="23" name="ORIGPIC" descr="image.jpeg"/>
          <p:cNvPicPr>
            <a:picLocks noChangeAspect="1"/>
          </p:cNvPicPr>
          <p:nvPr/>
        </p:nvPicPr>
        <p:blipFill>
          <a:blip r:embed="rId4"/>
          <a:srcRect/>
          <a:stretch>
            <a:fillRect/>
          </a:stretch>
        </p:blipFill>
        <p:spPr>
          <a:xfrm>
            <a:off x="7604760" y="3068955"/>
            <a:ext cx="4138295" cy="2554605"/>
          </a:xfrm>
          <a:prstGeom prst="roundRect">
            <a:avLst>
              <a:gd name="adj" fmla="val 4194"/>
            </a:avLst>
          </a:prstGeom>
          <a:ln w="9525">
            <a:solidFill>
              <a:srgbClr val="D5DAE0"/>
            </a:solidFill>
          </a:ln>
        </p:spPr>
      </p:pic>
      <p:pic>
        <p:nvPicPr>
          <p:cNvPr id="24" name="LOGO" descr="logo_940.png"/>
          <p:cNvPicPr>
            <a:picLocks noChangeAspect="1"/>
          </p:cNvPicPr>
          <p:nvPr/>
        </p:nvPicPr>
        <p:blipFill>
          <a:blip r:embed="rId6"/>
          <a:stretch>
            <a:fillRect/>
          </a:stretch>
        </p:blipFill>
        <p:spPr>
          <a:xfrm>
            <a:off x="548640" y="6249924"/>
            <a:ext cx="310896" cy="3108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9230419"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两份文件对照：WS/T 407-2012 与 CNAS-GL047:2021</a:t>
            </a:r>
            <a:endParaRPr sz="2800" b="1">
              <a:solidFill>
                <a:srgbClr val="1F3A5F"/>
              </a:solidFill>
              <a:latin typeface="Arial" charset="0"/>
              <a:ea typeface="微软雅黑"/>
              <a:cs typeface="Arial" charset="0"/>
            </a:endParaRPr>
          </a:p>
        </p:txBody>
      </p:sp>
      <p:pic>
        <p:nvPicPr>
          <p:cNvPr id="4" name="NEWIMG_CORNER" descr="17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17</a:t>
            </a:r>
            <a:endParaRPr sz="1200" b="0">
              <a:solidFill>
                <a:srgbClr val="6B7280"/>
              </a:solidFill>
              <a:latin typeface="Arial" charset="0"/>
              <a:ea typeface="微软雅黑"/>
              <a:cs typeface="Arial" charset="0"/>
            </a:endParaRPr>
          </a:p>
        </p:txBody>
      </p:sp>
      <p:sp>
        <p:nvSpPr>
          <p:cNvPr id="7"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来源：WS/T 407-2012；CNAS-GL047:2021</a:t>
            </a:r>
            <a:endParaRPr sz="1200" b="1">
              <a:solidFill>
                <a:srgbClr val="1F3A5F"/>
              </a:solidFill>
              <a:latin typeface="Arial" charset="0"/>
              <a:ea typeface="微软雅黑"/>
              <a:cs typeface="Arial" charset="0"/>
            </a:endParaRPr>
          </a:p>
        </p:txBody>
      </p:sp>
      <p:graphicFrame>
        <p:nvGraphicFramePr>
          <p:cNvPr id="8" name="TABLE"/>
          <p:cNvGraphicFramePr>
            <a:graphicFrameLocks noGrp="1"/>
          </p:cNvGraphicFramePr>
          <p:nvPr/>
        </p:nvGraphicFramePr>
        <p:xfrm>
          <a:off x="548640" y="1554480"/>
          <a:ext cx="11094414" cy="3908290"/>
        </p:xfrm>
        <a:graphic>
          <a:graphicData uri="http://schemas.openxmlformats.org/drawingml/2006/table">
            <a:tbl>
              <a:tblPr firstRow="1">
                <a:tableStyleId>{5940675A-B579-460E-94D1-54222C63F5DA}</a:tableStyleId>
              </a:tblPr>
              <a:tblGrid>
                <a:gridCol w="868680"/>
                <a:gridCol w="4838547"/>
                <a:gridCol w="4838547"/>
                <a:gridCol w="548640"/>
              </a:tblGrid>
              <a:tr h="314198">
                <a:tc>
                  <a:txBody>
                    <a:bodyPr wrap="square"/>
                    <a:lstStyle/>
                    <a:p>
                      <a:pPr algn="l">
                        <a:lnSpc>
                          <a:spcPts val="1610"/>
                        </a:lnSpc>
                        <a:spcBef>
                          <a:spcPts val="0"/>
                        </a:spcBef>
                        <a:spcAft>
                          <a:spcPts val="0"/>
                        </a:spcAft>
                        <a:buNone/>
                      </a:pPr>
                      <a:r>
                        <a:rPr sz="1400" b="1">
                          <a:solidFill>
                            <a:srgbClr val="FFFFFF"/>
                          </a:solidFill>
                          <a:latin typeface="Arial" charset="0"/>
                          <a:ea typeface="微软雅黑"/>
                          <a:cs typeface="Arial" charset="0"/>
                        </a:rPr>
                        <a:t>维度</a:t>
                      </a:r>
                      <a:endParaRPr sz="1400" b="1">
                        <a:solidFill>
                          <a:srgbClr val="FFFFFF"/>
                        </a:solidFill>
                        <a:latin typeface="Arial" charset="0"/>
                        <a:ea typeface="微软雅黑"/>
                        <a:cs typeface="Arial" charset="0"/>
                      </a:endParaRPr>
                    </a:p>
                  </a:txBody>
                  <a:tcPr marL="73152" marR="73152" anchor="ctr">
                    <a:solidFill>
                      <a:srgbClr val="5B6B7F"/>
                    </a:solidFill>
                  </a:tcPr>
                </a:tc>
                <a:tc>
                  <a:txBody>
                    <a:bodyPr wrap="square"/>
                    <a:lstStyle/>
                    <a:p>
                      <a:pPr algn="l">
                        <a:lnSpc>
                          <a:spcPts val="1610"/>
                        </a:lnSpc>
                        <a:spcBef>
                          <a:spcPts val="0"/>
                        </a:spcBef>
                        <a:spcAft>
                          <a:spcPts val="0"/>
                        </a:spcAft>
                        <a:buNone/>
                      </a:pPr>
                      <a:r>
                        <a:rPr sz="1400" b="1">
                          <a:solidFill>
                            <a:srgbClr val="FFFFFF"/>
                          </a:solidFill>
                          <a:latin typeface="Arial" charset="0"/>
                          <a:ea typeface="微软雅黑"/>
                          <a:cs typeface="Arial" charset="0"/>
                        </a:rPr>
                        <a:t>WS/T 407-2012</a:t>
                      </a:r>
                      <a:endParaRPr sz="1400" b="1">
                        <a:solidFill>
                          <a:srgbClr val="FFFFFF"/>
                        </a:solidFill>
                        <a:latin typeface="Arial" charset="0"/>
                        <a:ea typeface="微软雅黑"/>
                        <a:cs typeface="Arial" charset="0"/>
                      </a:endParaRPr>
                    </a:p>
                  </a:txBody>
                  <a:tcPr marL="73152" marR="73152" anchor="ctr">
                    <a:solidFill>
                      <a:srgbClr val="148F8A"/>
                    </a:solidFill>
                  </a:tcPr>
                </a:tc>
                <a:tc>
                  <a:txBody>
                    <a:bodyPr wrap="square"/>
                    <a:lstStyle/>
                    <a:p>
                      <a:pPr algn="l">
                        <a:lnSpc>
                          <a:spcPts val="1610"/>
                        </a:lnSpc>
                        <a:spcBef>
                          <a:spcPts val="0"/>
                        </a:spcBef>
                        <a:spcAft>
                          <a:spcPts val="0"/>
                        </a:spcAft>
                        <a:buNone/>
                      </a:pPr>
                      <a:r>
                        <a:rPr sz="1400" b="1">
                          <a:solidFill>
                            <a:srgbClr val="FFFFFF"/>
                          </a:solidFill>
                          <a:latin typeface="Arial" charset="0"/>
                          <a:ea typeface="微软雅黑"/>
                          <a:cs typeface="Arial" charset="0"/>
                        </a:rPr>
                        <a:t>CNAS-GL047:2021</a:t>
                      </a:r>
                      <a:endParaRPr sz="1400" b="1">
                        <a:solidFill>
                          <a:srgbClr val="FFFFFF"/>
                        </a:solidFill>
                        <a:latin typeface="Arial" charset="0"/>
                        <a:ea typeface="微软雅黑"/>
                        <a:cs typeface="Arial" charset="0"/>
                      </a:endParaRPr>
                    </a:p>
                  </a:txBody>
                  <a:tcPr marL="73152" marR="73152" anchor="ctr">
                    <a:solidFill>
                      <a:srgbClr val="1F3A5F"/>
                    </a:solidFill>
                  </a:tcPr>
                </a:tc>
                <a:tc>
                  <a:txBody>
                    <a:bodyPr wrap="square"/>
                    <a:lstStyle/>
                    <a:p>
                      <a:pPr algn="l">
                        <a:lnSpc>
                          <a:spcPts val="1610"/>
                        </a:lnSpc>
                        <a:spcBef>
                          <a:spcPts val="0"/>
                        </a:spcBef>
                        <a:spcAft>
                          <a:spcPts val="0"/>
                        </a:spcAft>
                        <a:buNone/>
                      </a:pPr>
                      <a:endParaRPr sz="1400" b="1">
                        <a:solidFill>
                          <a:srgbClr val="FFFFFF"/>
                        </a:solidFill>
                        <a:latin typeface="Arial" charset="0"/>
                        <a:ea typeface="微软雅黑"/>
                        <a:cs typeface="Arial" charset="0"/>
                      </a:endParaRPr>
                    </a:p>
                  </a:txBody>
                  <a:tcPr marL="73152" marR="73152" anchor="ctr">
                    <a:solidFill>
                      <a:srgbClr val="5B6B7F"/>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性质</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卫生行业推荐性标准，2012-12-25发布，2013-08-01实施</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CNAS认可指南，2021-04-25发布实施，解释认可准则的可比性条款</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29590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适用</a:t>
                      </a:r>
                      <a:endParaRPr sz="1400" b="1">
                        <a:solidFill>
                          <a:srgbClr val="1F3A5F"/>
                        </a:solidFill>
                        <a:latin typeface="Arial" charset="0"/>
                        <a:ea typeface="微软雅黑"/>
                        <a:cs typeface="Arial" charset="0"/>
                      </a:endParaRPr>
                    </a:p>
                  </a:txBody>
                  <a:tcPr marL="73152" marR="73152" anchor="ctr">
                    <a:lnL w="22225" cmpd="sng">
                      <a:solidFill>
                        <a:srgbClr val="E8833A"/>
                      </a:solidFill>
                    </a:lnL>
                    <a:lnT w="22225" cmpd="sng">
                      <a:solidFill>
                        <a:srgbClr val="E8833A"/>
                      </a:solidFill>
                    </a:lnT>
                    <a:lnB w="22225" cmpd="sng">
                      <a:solidFill>
                        <a:srgbClr val="E8833A"/>
                      </a:solidFill>
                    </a:lnB>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同一医疗机构内；最多10个检测系统；重复不超过5次</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相同或不同地点的多个检验程序</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lnR w="22225" cmpd="sng">
                      <a:solidFill>
                        <a:srgbClr val="E8833A"/>
                      </a:solidFill>
                    </a:lnR>
                    <a:lnT w="22225" cmpd="sng">
                      <a:solidFill>
                        <a:srgbClr val="E8833A"/>
                      </a:solidFill>
                    </a:lnT>
                    <a:lnB w="22225" cmpd="sng">
                      <a:solidFill>
                        <a:srgbClr val="E8833A"/>
                      </a:solidFill>
                    </a:lnB>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前提</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各系统已按EP9-A2/EP15-A2完成性能评价；最大CV/最小CV&lt;2倍</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关键性能指标经验证满足要求</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2E9E5B"/>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样本</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宜首选临床标本，用其他物质须验证互通性；至少2个浓度（正常+异常），取质控总均值±20%</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应使用患者样本（抗凝剂相同）；覆盖临床适宜区间，重点关注医学决定水平；不少于5例</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方法</a:t>
                      </a:r>
                      <a:endParaRPr sz="1400" b="1">
                        <a:solidFill>
                          <a:srgbClr val="1F3A5F"/>
                        </a:solidFill>
                        <a:latin typeface="Arial" charset="0"/>
                        <a:ea typeface="微软雅黑"/>
                        <a:cs typeface="Arial" charset="0"/>
                      </a:endParaRPr>
                    </a:p>
                  </a:txBody>
                  <a:tcPr marL="73152" marR="73152" anchor="ctr">
                    <a:lnL w="22225" cmpd="sng">
                      <a:solidFill>
                        <a:srgbClr val="E8833A"/>
                      </a:solidFill>
                    </a:lnL>
                    <a:lnT w="22225" cmpd="sng">
                      <a:solidFill>
                        <a:srgbClr val="E8833A"/>
                      </a:solidFill>
                    </a:lnT>
                    <a:lnB w="22225" cmpd="sng">
                      <a:solidFill>
                        <a:srgbClr val="E8833A"/>
                      </a:solidFill>
                    </a:lnB>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合并CV→查表A.1定重复次数→相对极差R</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检测系统≤4个用参比系统比对法；&gt;4个用均值法；7.2.3可参考WS/T 407</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lnR w="22225" cmpd="sng">
                      <a:solidFill>
                        <a:srgbClr val="E8833A"/>
                      </a:solidFill>
                    </a:lnR>
                    <a:lnT w="22225" cmpd="sng">
                      <a:solidFill>
                        <a:srgbClr val="E8833A"/>
                      </a:solidFill>
                    </a:lnT>
                    <a:lnB w="22225" cmpd="sng">
                      <a:solidFill>
                        <a:srgbClr val="E8833A"/>
                      </a:solidFill>
                    </a:lnB>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判定</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R ≤ 分析质量要求（按7级优选顺序确定）</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参比法：5份中≥4份符合，或扩样后≥90%符合；均值法：R符合判断标准</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不通过</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剔除偏差大的系统，与规范操作系统比对；必要时校准转换；不可比时采用不同参考区间并在报告单标示</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具有计量学可比性的可用修正值/修正因子；否则避免向临床发出具有不同临床意义的结果，与用户沟通并记录</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29590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时机</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8种情形（见WS/T 407第5章）</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启用前、常规定期评审、任一要素变更时</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bl>
          </a:graphicData>
        </a:graphic>
      </p:graphicFrame>
      <p:pic>
        <p:nvPicPr>
          <p:cNvPr id="9"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 name="NEWIMG_HERO" descr="407_hero_w.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548640" y="2103120"/>
            <a:ext cx="6376492" cy="1581912"/>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1F3A5F"/>
                </a:solidFill>
                <a:latin typeface="Arial"/>
                <a:ea typeface="微软雅黑"/>
                <a:cs typeface="Arial"/>
              </a:rPr>
              <a:t>WS/T 407-2012</a:t>
            </a:r>
          </a:p>
          <a:p>
            <a:pPr algn="l">
              <a:lnSpc>
                <a:spcPts val="3840"/>
              </a:lnSpc>
              <a:spcBef>
                <a:spcPts val="400"/>
              </a:spcBef>
              <a:spcAft>
                <a:spcPts val="0"/>
              </a:spcAft>
              <a:buNone/>
            </a:pPr>
            <a:r>
              <a:rPr sz="3200" b="1">
                <a:solidFill>
                  <a:srgbClr val="1F3A5F"/>
                </a:solidFill>
                <a:latin typeface="Arial"/>
                <a:ea typeface="微软雅黑"/>
                <a:cs typeface="Arial"/>
              </a:rPr>
              <a:t>医疗机构内定量检验结果的</a:t>
            </a:r>
          </a:p>
          <a:p>
            <a:pPr algn="l">
              <a:lnSpc>
                <a:spcPts val="3840"/>
              </a:lnSpc>
              <a:spcBef>
                <a:spcPts val="400"/>
              </a:spcBef>
              <a:spcAft>
                <a:spcPts val="0"/>
              </a:spcAft>
              <a:buNone/>
            </a:pPr>
            <a:r>
              <a:rPr sz="3200" b="1">
                <a:solidFill>
                  <a:srgbClr val="1F3A5F"/>
                </a:solidFill>
                <a:latin typeface="Arial"/>
                <a:ea typeface="微软雅黑"/>
                <a:cs typeface="Arial"/>
              </a:rPr>
              <a:t>可比性验证指南</a:t>
            </a:r>
          </a:p>
        </p:txBody>
      </p:sp>
      <p:sp>
        <p:nvSpPr>
          <p:cNvPr id="5" name="TextBox 4"/>
          <p:cNvSpPr txBox="1"/>
          <p:nvPr/>
        </p:nvSpPr>
        <p:spPr>
          <a:xfrm>
            <a:off x="548640" y="3959352"/>
            <a:ext cx="6376492" cy="320040"/>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148F8A"/>
                </a:solidFill>
                <a:latin typeface="Arial"/>
                <a:ea typeface="微软雅黑"/>
                <a:cs typeface="Arial"/>
              </a:rPr>
              <a:t>2012-12-25发布　2013-08-01实施</a:t>
            </a:r>
          </a:p>
        </p:txBody>
      </p:sp>
      <p:sp>
        <p:nvSpPr>
          <p:cNvPr id="7"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18</a:t>
            </a:r>
          </a:p>
        </p:txBody>
      </p:sp>
      <p:pic>
        <p:nvPicPr>
          <p:cNvPr id="8"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p:cNvSpPr txBox="1"/>
          <p:nvPr/>
        </p:nvSpPr>
        <p:spPr>
          <a:xfrm>
            <a:off x="548640" y="676656"/>
            <a:ext cx="5303986"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WS/T 407 适用范围与使用条件</a:t>
            </a:r>
          </a:p>
        </p:txBody>
      </p:sp>
      <p:pic>
        <p:nvPicPr>
          <p:cNvPr id="4" name="NEWIMG_CORNER" descr="407_scope.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19</a:t>
            </a:r>
          </a:p>
        </p:txBody>
      </p:sp>
      <p:sp>
        <p:nvSpPr>
          <p:cNvPr id="7" name="SRCBADGE"/>
          <p:cNvSpPr/>
          <p:nvPr/>
        </p:nvSpPr>
        <p:spPr>
          <a:xfrm>
            <a:off x="8840724" y="5852160"/>
            <a:ext cx="2802331"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第1、4、5章</a:t>
            </a:r>
          </a:p>
        </p:txBody>
      </p:sp>
      <p:grpSp>
        <p:nvGrpSpPr>
          <p:cNvPr id="8" name="QBOX"/>
          <p:cNvGrpSpPr/>
          <p:nvPr/>
        </p:nvGrpSpPr>
        <p:grpSpPr>
          <a:xfrm>
            <a:off x="548640" y="1554480"/>
            <a:ext cx="6126480" cy="1662176"/>
            <a:chOff x="548640" y="1554480"/>
            <a:chExt cx="6126480" cy="1662176"/>
          </a:xfrm>
        </p:grpSpPr>
        <p:sp>
          <p:nvSpPr>
            <p:cNvPr id="9" name="Rounded Rectangle 8"/>
            <p:cNvSpPr/>
            <p:nvPr/>
          </p:nvSpPr>
          <p:spPr>
            <a:xfrm>
              <a:off x="548640" y="1554480"/>
              <a:ext cx="6126480" cy="1662176"/>
            </a:xfrm>
            <a:prstGeom prst="roundRect">
              <a:avLst>
                <a:gd name="adj" fmla="val 440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5577840" cy="11775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1 范围</a:t>
              </a:r>
            </a:p>
            <a:p>
              <a:pPr algn="l">
                <a:lnSpc>
                  <a:spcPts val="1680"/>
                </a:lnSpc>
                <a:spcBef>
                  <a:spcPts val="400"/>
                </a:spcBef>
                <a:spcAft>
                  <a:spcPts val="0"/>
                </a:spcAft>
                <a:buNone/>
              </a:pPr>
              <a:r>
                <a:rPr sz="1400" b="0">
                  <a:solidFill>
                    <a:srgbClr val="222222"/>
                  </a:solidFill>
                  <a:latin typeface="Arial"/>
                  <a:ea typeface="微软雅黑"/>
                  <a:cs typeface="Arial"/>
                </a:rPr>
                <a:t>本标准规定了对定量检验项目的多个检测系统实施结果可比性验证的要求，包括可比性验证方案的使用条件和适用情况、验证方法和程序、验证结果不符合要求的处理措施。</a:t>
              </a:r>
            </a:p>
            <a:p>
              <a:pPr algn="l">
                <a:lnSpc>
                  <a:spcPts val="1680"/>
                </a:lnSpc>
                <a:spcBef>
                  <a:spcPts val="400"/>
                </a:spcBef>
                <a:spcAft>
                  <a:spcPts val="0"/>
                </a:spcAft>
                <a:buNone/>
              </a:pPr>
              <a:r>
                <a:rPr sz="1400" b="0">
                  <a:solidFill>
                    <a:srgbClr val="222222"/>
                  </a:solidFill>
                  <a:latin typeface="Arial"/>
                  <a:ea typeface="微软雅黑"/>
                  <a:cs typeface="Arial"/>
                </a:rPr>
                <a:t>本标准适用于</a:t>
              </a:r>
              <a:r>
                <a:rPr sz="1400" b="1">
                  <a:solidFill>
                    <a:srgbClr val="E8833A"/>
                  </a:solidFill>
                  <a:latin typeface="Arial"/>
                  <a:ea typeface="微软雅黑"/>
                  <a:cs typeface="Arial"/>
                </a:rPr>
                <a:t>同一医疗机构内</a:t>
              </a:r>
              <a:r>
                <a:rPr sz="1400" b="0">
                  <a:solidFill>
                    <a:srgbClr val="222222"/>
                  </a:solidFill>
                  <a:latin typeface="Arial"/>
                  <a:ea typeface="微软雅黑"/>
                  <a:cs typeface="Arial"/>
                </a:rPr>
                <a:t>的临床实验室。</a:t>
              </a:r>
            </a:p>
          </p:txBody>
        </p:sp>
        <p:sp>
          <p:nvSpPr>
            <p:cNvPr id="12" name="CITE"/>
            <p:cNvSpPr txBox="1"/>
            <p:nvPr/>
          </p:nvSpPr>
          <p:spPr>
            <a:xfrm>
              <a:off x="4629540" y="2878328"/>
              <a:ext cx="190841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1</a:t>
              </a:r>
            </a:p>
          </p:txBody>
        </p:sp>
      </p:grpSp>
      <p:grpSp>
        <p:nvGrpSpPr>
          <p:cNvPr id="13" name="QBOX"/>
          <p:cNvGrpSpPr/>
          <p:nvPr/>
        </p:nvGrpSpPr>
        <p:grpSpPr>
          <a:xfrm>
            <a:off x="548640" y="3445256"/>
            <a:ext cx="6126480" cy="2560320"/>
            <a:chOff x="548640" y="3445256"/>
            <a:chExt cx="6126480" cy="2560320"/>
          </a:xfrm>
        </p:grpSpPr>
        <p:sp>
          <p:nvSpPr>
            <p:cNvPr id="14" name="Rounded Rectangle 13"/>
            <p:cNvSpPr/>
            <p:nvPr/>
          </p:nvSpPr>
          <p:spPr>
            <a:xfrm>
              <a:off x="548640" y="3445256"/>
              <a:ext cx="6126480" cy="2560320"/>
            </a:xfrm>
            <a:prstGeom prst="roundRect">
              <a:avLst>
                <a:gd name="adj" fmla="val 285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4909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960120" y="3582416"/>
              <a:ext cx="5577840" cy="22951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4 可比性验证方案的使用条件</a:t>
              </a:r>
            </a:p>
            <a:p>
              <a:pPr algn="l">
                <a:lnSpc>
                  <a:spcPts val="1680"/>
                </a:lnSpc>
                <a:spcBef>
                  <a:spcPts val="400"/>
                </a:spcBef>
                <a:spcAft>
                  <a:spcPts val="0"/>
                </a:spcAft>
                <a:buNone/>
              </a:pPr>
              <a:r>
                <a:rPr sz="1400" b="0">
                  <a:solidFill>
                    <a:srgbClr val="222222"/>
                  </a:solidFill>
                  <a:latin typeface="Arial"/>
                  <a:ea typeface="微软雅黑"/>
                  <a:cs typeface="Arial"/>
                </a:rPr>
                <a:t>4.1 本指南规定的比对方案仅适用于</a:t>
              </a:r>
              <a:r>
                <a:rPr sz="1400" b="1">
                  <a:solidFill>
                    <a:srgbClr val="E8833A"/>
                  </a:solidFill>
                  <a:latin typeface="Arial"/>
                  <a:ea typeface="微软雅黑"/>
                  <a:cs typeface="Arial"/>
                </a:rPr>
                <a:t>最多10个检测系统</a:t>
              </a:r>
              <a:r>
                <a:rPr sz="1400" b="0">
                  <a:solidFill>
                    <a:srgbClr val="222222"/>
                  </a:solidFill>
                  <a:latin typeface="Arial"/>
                  <a:ea typeface="微软雅黑"/>
                  <a:cs typeface="Arial"/>
                </a:rPr>
                <a:t>的结果比对，比对物质的重复检测次数</a:t>
              </a:r>
              <a:r>
                <a:rPr sz="1400" b="1">
                  <a:solidFill>
                    <a:srgbClr val="E8833A"/>
                  </a:solidFill>
                  <a:latin typeface="Arial"/>
                  <a:ea typeface="微软雅黑"/>
                  <a:cs typeface="Arial"/>
                </a:rPr>
                <a:t>不超过5次</a:t>
              </a:r>
              <a:r>
                <a:rPr sz="1400" b="0">
                  <a:solidFill>
                    <a:srgbClr val="222222"/>
                  </a:solidFill>
                  <a:latin typeface="Arial"/>
                  <a:ea typeface="微软雅黑"/>
                  <a:cs typeface="Arial"/>
                </a:rPr>
                <a:t>。超过10个检测系统的结果比对方法和要求，详见 WS/T 406。</a:t>
              </a:r>
            </a:p>
            <a:p>
              <a:pPr algn="l">
                <a:lnSpc>
                  <a:spcPts val="1680"/>
                </a:lnSpc>
                <a:spcBef>
                  <a:spcPts val="400"/>
                </a:spcBef>
                <a:spcAft>
                  <a:spcPts val="0"/>
                </a:spcAft>
                <a:buNone/>
              </a:pPr>
              <a:r>
                <a:rPr sz="1400" b="0">
                  <a:solidFill>
                    <a:srgbClr val="222222"/>
                  </a:solidFill>
                  <a:latin typeface="Arial"/>
                  <a:ea typeface="微软雅黑"/>
                  <a:cs typeface="Arial"/>
                </a:rPr>
                <a:t>4.2 每个检测系统在使用本指南规定的方案实施比对前，应按照美国临床和实验室标准协会（Clinical and Laboratory Standards Institute，CLSI）颁布的 EP9-A2 和（或）EP15-A2 文件的要求，进行全面的性能评价或验证。</a:t>
              </a:r>
            </a:p>
            <a:p>
              <a:pPr algn="l">
                <a:lnSpc>
                  <a:spcPts val="1680"/>
                </a:lnSpc>
                <a:spcBef>
                  <a:spcPts val="400"/>
                </a:spcBef>
                <a:spcAft>
                  <a:spcPts val="0"/>
                </a:spcAft>
                <a:buNone/>
              </a:pPr>
              <a:r>
                <a:rPr sz="1400" b="0">
                  <a:solidFill>
                    <a:srgbClr val="222222"/>
                  </a:solidFill>
                  <a:latin typeface="Arial"/>
                  <a:ea typeface="微软雅黑"/>
                  <a:cs typeface="Arial"/>
                </a:rPr>
                <a:t>4.3 可比性验证只能确认检测系统性能的一个方面，不能取代其他质量保证环节，如校准和室内质量控制等。</a:t>
              </a:r>
            </a:p>
          </p:txBody>
        </p:sp>
        <p:sp>
          <p:nvSpPr>
            <p:cNvPr id="17" name="CITE"/>
            <p:cNvSpPr txBox="1"/>
            <p:nvPr/>
          </p:nvSpPr>
          <p:spPr>
            <a:xfrm>
              <a:off x="4629540" y="5652008"/>
              <a:ext cx="190841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4</a:t>
              </a:r>
            </a:p>
          </p:txBody>
        </p:sp>
      </p:grpSp>
      <p:sp>
        <p:nvSpPr>
          <p:cNvPr id="18" name="TextBox 17"/>
          <p:cNvSpPr txBox="1"/>
          <p:nvPr/>
        </p:nvSpPr>
        <p:spPr>
          <a:xfrm>
            <a:off x="6903720" y="1554480"/>
            <a:ext cx="4739335"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5 使用本指南规定的方案进行可比性验证的适用情况</a:t>
            </a:r>
          </a:p>
        </p:txBody>
      </p:sp>
      <p:grpSp>
        <p:nvGrpSpPr>
          <p:cNvPr id="19" name="NUMCARD"/>
          <p:cNvGrpSpPr/>
          <p:nvPr/>
        </p:nvGrpSpPr>
        <p:grpSpPr>
          <a:xfrm>
            <a:off x="6903720" y="1877568"/>
            <a:ext cx="2314803" cy="786384"/>
            <a:chOff x="6903720" y="1877568"/>
            <a:chExt cx="2314803" cy="786384"/>
          </a:xfrm>
        </p:grpSpPr>
        <p:sp>
          <p:nvSpPr>
            <p:cNvPr id="20" name="Rounded Rectangle 19"/>
            <p:cNvSpPr/>
            <p:nvPr/>
          </p:nvSpPr>
          <p:spPr>
            <a:xfrm>
              <a:off x="6903720" y="1877568"/>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6872" y="1950720"/>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5.1</a:t>
              </a:r>
            </a:p>
          </p:txBody>
        </p:sp>
        <p:sp>
          <p:nvSpPr>
            <p:cNvPr id="22" name="TextBox 21"/>
            <p:cNvSpPr txBox="1"/>
            <p:nvPr/>
          </p:nvSpPr>
          <p:spPr>
            <a:xfrm>
              <a:off x="7415783" y="1950720"/>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室内质控结果有漂移趋势时。</a:t>
              </a:r>
            </a:p>
          </p:txBody>
        </p:sp>
      </p:grpSp>
      <p:grpSp>
        <p:nvGrpSpPr>
          <p:cNvPr id="23" name="NUMCARD"/>
          <p:cNvGrpSpPr/>
          <p:nvPr/>
        </p:nvGrpSpPr>
        <p:grpSpPr>
          <a:xfrm>
            <a:off x="9328251" y="1877568"/>
            <a:ext cx="2314803" cy="786384"/>
            <a:chOff x="9328251" y="1877568"/>
            <a:chExt cx="2314803" cy="786384"/>
          </a:xfrm>
        </p:grpSpPr>
        <p:sp>
          <p:nvSpPr>
            <p:cNvPr id="24" name="Rounded Rectangle 23"/>
            <p:cNvSpPr/>
            <p:nvPr/>
          </p:nvSpPr>
          <p:spPr>
            <a:xfrm>
              <a:off x="9328251" y="1877568"/>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1403" y="1950720"/>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5.2</a:t>
              </a:r>
            </a:p>
          </p:txBody>
        </p:sp>
        <p:sp>
          <p:nvSpPr>
            <p:cNvPr id="26" name="TextBox 25"/>
            <p:cNvSpPr txBox="1"/>
            <p:nvPr/>
          </p:nvSpPr>
          <p:spPr>
            <a:xfrm>
              <a:off x="9840315" y="1950720"/>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室间质评结果不合格，采取纠正措施后。</a:t>
              </a:r>
            </a:p>
          </p:txBody>
        </p:sp>
      </p:grpSp>
      <p:grpSp>
        <p:nvGrpSpPr>
          <p:cNvPr id="27" name="NUMCARD"/>
          <p:cNvGrpSpPr/>
          <p:nvPr/>
        </p:nvGrpSpPr>
        <p:grpSpPr>
          <a:xfrm>
            <a:off x="6903720" y="2755392"/>
            <a:ext cx="2314803" cy="573024"/>
            <a:chOff x="6903720" y="2755392"/>
            <a:chExt cx="2314803" cy="573024"/>
          </a:xfrm>
        </p:grpSpPr>
        <p:sp>
          <p:nvSpPr>
            <p:cNvPr id="28" name="Rounded Rectangle 27"/>
            <p:cNvSpPr/>
            <p:nvPr/>
          </p:nvSpPr>
          <p:spPr>
            <a:xfrm>
              <a:off x="6903720" y="2755392"/>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76872" y="2828544"/>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5.3</a:t>
              </a:r>
            </a:p>
          </p:txBody>
        </p:sp>
        <p:sp>
          <p:nvSpPr>
            <p:cNvPr id="30" name="TextBox 29"/>
            <p:cNvSpPr txBox="1"/>
            <p:nvPr/>
          </p:nvSpPr>
          <p:spPr>
            <a:xfrm>
              <a:off x="7415783" y="2828544"/>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更换试剂批号（必要时）。</a:t>
              </a:r>
            </a:p>
          </p:txBody>
        </p:sp>
      </p:grpSp>
      <p:grpSp>
        <p:nvGrpSpPr>
          <p:cNvPr id="31" name="NUMCARD"/>
          <p:cNvGrpSpPr/>
          <p:nvPr/>
        </p:nvGrpSpPr>
        <p:grpSpPr>
          <a:xfrm>
            <a:off x="9328251" y="2755392"/>
            <a:ext cx="2314803" cy="573024"/>
            <a:chOff x="9328251" y="2755392"/>
            <a:chExt cx="2314803" cy="573024"/>
          </a:xfrm>
        </p:grpSpPr>
        <p:sp>
          <p:nvSpPr>
            <p:cNvPr id="32" name="Rounded Rectangle 31"/>
            <p:cNvSpPr/>
            <p:nvPr/>
          </p:nvSpPr>
          <p:spPr>
            <a:xfrm>
              <a:off x="9328251" y="2755392"/>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01403" y="2828544"/>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5.4</a:t>
              </a:r>
            </a:p>
          </p:txBody>
        </p:sp>
        <p:sp>
          <p:nvSpPr>
            <p:cNvPr id="34" name="TextBox 33"/>
            <p:cNvSpPr txBox="1"/>
            <p:nvPr/>
          </p:nvSpPr>
          <p:spPr>
            <a:xfrm>
              <a:off x="9840315" y="2828544"/>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更换重要部件或重大维修后。</a:t>
              </a:r>
            </a:p>
          </p:txBody>
        </p:sp>
      </p:grpSp>
      <p:grpSp>
        <p:nvGrpSpPr>
          <p:cNvPr id="35" name="NUMCARD"/>
          <p:cNvGrpSpPr/>
          <p:nvPr/>
        </p:nvGrpSpPr>
        <p:grpSpPr>
          <a:xfrm>
            <a:off x="6903720" y="3419856"/>
            <a:ext cx="2314803" cy="573024"/>
            <a:chOff x="6903720" y="3419856"/>
            <a:chExt cx="2314803" cy="573024"/>
          </a:xfrm>
        </p:grpSpPr>
        <p:sp>
          <p:nvSpPr>
            <p:cNvPr id="36" name="Rounded Rectangle 35"/>
            <p:cNvSpPr/>
            <p:nvPr/>
          </p:nvSpPr>
          <p:spPr>
            <a:xfrm>
              <a:off x="6903720" y="3419856"/>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6872" y="3493008"/>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5.5</a:t>
              </a:r>
            </a:p>
          </p:txBody>
        </p:sp>
        <p:sp>
          <p:nvSpPr>
            <p:cNvPr id="38" name="TextBox 37"/>
            <p:cNvSpPr txBox="1"/>
            <p:nvPr/>
          </p:nvSpPr>
          <p:spPr>
            <a:xfrm>
              <a:off x="7415783" y="3493008"/>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软件程序变更后。</a:t>
              </a:r>
            </a:p>
          </p:txBody>
        </p:sp>
      </p:grpSp>
      <p:grpSp>
        <p:nvGrpSpPr>
          <p:cNvPr id="39" name="NUMCARD"/>
          <p:cNvGrpSpPr/>
          <p:nvPr/>
        </p:nvGrpSpPr>
        <p:grpSpPr>
          <a:xfrm>
            <a:off x="9328251" y="3419856"/>
            <a:ext cx="2314803" cy="573024"/>
            <a:chOff x="9328251" y="3419856"/>
            <a:chExt cx="2314803" cy="573024"/>
          </a:xfrm>
        </p:grpSpPr>
        <p:sp>
          <p:nvSpPr>
            <p:cNvPr id="40" name="Rounded Rectangle 39"/>
            <p:cNvSpPr/>
            <p:nvPr/>
          </p:nvSpPr>
          <p:spPr>
            <a:xfrm>
              <a:off x="9328251" y="3419856"/>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01403" y="3493008"/>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5.6</a:t>
              </a:r>
            </a:p>
          </p:txBody>
        </p:sp>
        <p:sp>
          <p:nvSpPr>
            <p:cNvPr id="42" name="TextBox 41"/>
            <p:cNvSpPr txBox="1"/>
            <p:nvPr/>
          </p:nvSpPr>
          <p:spPr>
            <a:xfrm>
              <a:off x="9840315" y="3493008"/>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临床医生对结果的可比性有疑问时。</a:t>
              </a:r>
            </a:p>
          </p:txBody>
        </p:sp>
      </p:grpSp>
      <p:grpSp>
        <p:nvGrpSpPr>
          <p:cNvPr id="43" name="NUMCARD"/>
          <p:cNvGrpSpPr/>
          <p:nvPr/>
        </p:nvGrpSpPr>
        <p:grpSpPr>
          <a:xfrm>
            <a:off x="6903720" y="4084320"/>
            <a:ext cx="2314803" cy="786384"/>
            <a:chOff x="6903720" y="4084320"/>
            <a:chExt cx="2314803" cy="786384"/>
          </a:xfrm>
        </p:grpSpPr>
        <p:sp>
          <p:nvSpPr>
            <p:cNvPr id="44" name="Rounded Rectangle 43"/>
            <p:cNvSpPr/>
            <p:nvPr/>
          </p:nvSpPr>
          <p:spPr>
            <a:xfrm>
              <a:off x="6903720" y="4084320"/>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76872" y="4157472"/>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5.7</a:t>
              </a:r>
            </a:p>
          </p:txBody>
        </p:sp>
        <p:sp>
          <p:nvSpPr>
            <p:cNvPr id="46" name="TextBox 45"/>
            <p:cNvSpPr txBox="1"/>
            <p:nvPr/>
          </p:nvSpPr>
          <p:spPr>
            <a:xfrm>
              <a:off x="7415783" y="4157472"/>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患者投诉对结果可比性有疑问（需要确认时）。</a:t>
              </a:r>
            </a:p>
          </p:txBody>
        </p:sp>
      </p:grpSp>
      <p:grpSp>
        <p:nvGrpSpPr>
          <p:cNvPr id="47" name="NUMCARD"/>
          <p:cNvGrpSpPr/>
          <p:nvPr/>
        </p:nvGrpSpPr>
        <p:grpSpPr>
          <a:xfrm>
            <a:off x="9328251" y="4084320"/>
            <a:ext cx="2314803" cy="786384"/>
            <a:chOff x="9328251" y="4084320"/>
            <a:chExt cx="2314803" cy="786384"/>
          </a:xfrm>
        </p:grpSpPr>
        <p:sp>
          <p:nvSpPr>
            <p:cNvPr id="48" name="Rounded Rectangle 47"/>
            <p:cNvSpPr/>
            <p:nvPr/>
          </p:nvSpPr>
          <p:spPr>
            <a:xfrm>
              <a:off x="9328251" y="4084320"/>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01403" y="4157472"/>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5.8</a:t>
              </a:r>
            </a:p>
          </p:txBody>
        </p:sp>
        <p:sp>
          <p:nvSpPr>
            <p:cNvPr id="50" name="TextBox 49"/>
            <p:cNvSpPr txBox="1"/>
            <p:nvPr/>
          </p:nvSpPr>
          <p:spPr>
            <a:xfrm>
              <a:off x="9840315" y="4157472"/>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需提高周期性比对频率时（如每季度或每月一次）。</a:t>
              </a:r>
            </a:p>
          </p:txBody>
        </p:sp>
      </p:grpSp>
      <p:sp>
        <p:nvSpPr>
          <p:cNvPr id="51" name="TextBox 50"/>
          <p:cNvSpPr txBox="1"/>
          <p:nvPr/>
        </p:nvSpPr>
        <p:spPr>
          <a:xfrm>
            <a:off x="6903720" y="5007864"/>
            <a:ext cx="4739335" cy="219456"/>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5</a:t>
            </a:r>
          </a:p>
        </p:txBody>
      </p:sp>
      <p:pic>
        <p:nvPicPr>
          <p:cNvPr id="52"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p:cNvSpPr txBox="1"/>
          <p:nvPr/>
        </p:nvSpPr>
        <p:spPr>
          <a:xfrm>
            <a:off x="548640" y="676656"/>
            <a:ext cx="5406136"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比对项目、比对仪器与比对样本</a:t>
            </a:r>
          </a:p>
        </p:txBody>
      </p:sp>
      <p:pic>
        <p:nvPicPr>
          <p:cNvPr id="4" name="NEWIMG_CORNER" descr="407_sample.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20</a:t>
            </a:r>
          </a:p>
        </p:txBody>
      </p:sp>
      <p:sp>
        <p:nvSpPr>
          <p:cNvPr id="7" name="SRCBADGE"/>
          <p:cNvSpPr/>
          <p:nvPr/>
        </p:nvSpPr>
        <p:spPr>
          <a:xfrm>
            <a:off x="8761147" y="5852160"/>
            <a:ext cx="2881907"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3.2、6.1–6.3</a:t>
            </a:r>
          </a:p>
        </p:txBody>
      </p:sp>
      <p:grpSp>
        <p:nvGrpSpPr>
          <p:cNvPr id="8" name="QBOX"/>
          <p:cNvGrpSpPr/>
          <p:nvPr/>
        </p:nvGrpSpPr>
        <p:grpSpPr>
          <a:xfrm>
            <a:off x="548640" y="1554480"/>
            <a:ext cx="5432907" cy="1276096"/>
            <a:chOff x="548640" y="1554480"/>
            <a:chExt cx="5432907" cy="1276096"/>
          </a:xfrm>
        </p:grpSpPr>
        <p:sp>
          <p:nvSpPr>
            <p:cNvPr id="9" name="Rounded Rectangle 8"/>
            <p:cNvSpPr/>
            <p:nvPr/>
          </p:nvSpPr>
          <p:spPr>
            <a:xfrm>
              <a:off x="548640" y="1554480"/>
              <a:ext cx="5432907" cy="1276096"/>
            </a:xfrm>
            <a:prstGeom prst="roundRect">
              <a:avLst>
                <a:gd name="adj" fmla="val 573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4884267" cy="79146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6.1 确定需要进行结果比对的检测项目</a:t>
              </a:r>
            </a:p>
            <a:p>
              <a:pPr algn="l">
                <a:lnSpc>
                  <a:spcPts val="1920"/>
                </a:lnSpc>
                <a:spcBef>
                  <a:spcPts val="400"/>
                </a:spcBef>
                <a:spcAft>
                  <a:spcPts val="0"/>
                </a:spcAft>
                <a:buNone/>
              </a:pPr>
              <a:r>
                <a:rPr sz="1600" b="0">
                  <a:solidFill>
                    <a:srgbClr val="222222"/>
                  </a:solidFill>
                  <a:latin typeface="Arial"/>
                  <a:ea typeface="微软雅黑"/>
                  <a:cs typeface="Arial"/>
                </a:rPr>
                <a:t>同一医疗机构内，使用多个检测系统向临床报告检验结果的检测项目</a:t>
              </a:r>
              <a:r>
                <a:rPr sz="1600" b="1">
                  <a:solidFill>
                    <a:srgbClr val="E8833A"/>
                  </a:solidFill>
                  <a:latin typeface="Arial"/>
                  <a:ea typeface="微软雅黑"/>
                  <a:cs typeface="Arial"/>
                </a:rPr>
                <a:t>均应进行可比性验证</a:t>
              </a:r>
              <a:r>
                <a:rPr sz="1600" b="0">
                  <a:solidFill>
                    <a:srgbClr val="222222"/>
                  </a:solidFill>
                  <a:latin typeface="Arial"/>
                  <a:ea typeface="微软雅黑"/>
                  <a:cs typeface="Arial"/>
                </a:rPr>
                <a:t>。</a:t>
              </a:r>
            </a:p>
          </p:txBody>
        </p:sp>
        <p:sp>
          <p:nvSpPr>
            <p:cNvPr id="12" name="CITE"/>
            <p:cNvSpPr txBox="1"/>
            <p:nvPr/>
          </p:nvSpPr>
          <p:spPr>
            <a:xfrm>
              <a:off x="3801236" y="2492248"/>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6.1</a:t>
              </a:r>
            </a:p>
          </p:txBody>
        </p:sp>
      </p:grpSp>
      <p:grpSp>
        <p:nvGrpSpPr>
          <p:cNvPr id="13" name="QBOX"/>
          <p:cNvGrpSpPr/>
          <p:nvPr/>
        </p:nvGrpSpPr>
        <p:grpSpPr>
          <a:xfrm>
            <a:off x="548640" y="3059176"/>
            <a:ext cx="5432907" cy="1276096"/>
            <a:chOff x="548640" y="3059176"/>
            <a:chExt cx="5432907" cy="1276096"/>
          </a:xfrm>
        </p:grpSpPr>
        <p:sp>
          <p:nvSpPr>
            <p:cNvPr id="14" name="Rounded Rectangle 13"/>
            <p:cNvSpPr/>
            <p:nvPr/>
          </p:nvSpPr>
          <p:spPr>
            <a:xfrm>
              <a:off x="548640" y="3059176"/>
              <a:ext cx="5432907" cy="1276096"/>
            </a:xfrm>
            <a:prstGeom prst="roundRect">
              <a:avLst>
                <a:gd name="adj" fmla="val 573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10489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960120" y="3196336"/>
              <a:ext cx="4884267" cy="79146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6.2 确定需要进行结果比对的检测仪器</a:t>
              </a:r>
            </a:p>
            <a:p>
              <a:pPr algn="l">
                <a:lnSpc>
                  <a:spcPts val="1920"/>
                </a:lnSpc>
                <a:spcBef>
                  <a:spcPts val="400"/>
                </a:spcBef>
                <a:spcAft>
                  <a:spcPts val="0"/>
                </a:spcAft>
                <a:buNone/>
              </a:pPr>
              <a:r>
                <a:rPr sz="1600" b="0">
                  <a:solidFill>
                    <a:srgbClr val="222222"/>
                  </a:solidFill>
                  <a:latin typeface="Arial"/>
                  <a:ea typeface="微软雅黑"/>
                  <a:cs typeface="Arial"/>
                </a:rPr>
                <a:t>实施周期性结果比对时，用于检测临床样本的</a:t>
              </a:r>
              <a:r>
                <a:rPr sz="1600" b="1">
                  <a:solidFill>
                    <a:srgbClr val="E8833A"/>
                  </a:solidFill>
                  <a:latin typeface="Arial"/>
                  <a:ea typeface="微软雅黑"/>
                  <a:cs typeface="Arial"/>
                </a:rPr>
                <a:t>每个检测系统</a:t>
              </a:r>
              <a:r>
                <a:rPr sz="1600" b="0">
                  <a:solidFill>
                    <a:srgbClr val="222222"/>
                  </a:solidFill>
                  <a:latin typeface="Arial"/>
                  <a:ea typeface="微软雅黑"/>
                  <a:cs typeface="Arial"/>
                </a:rPr>
                <a:t>都应进行可比性验证。</a:t>
              </a:r>
            </a:p>
          </p:txBody>
        </p:sp>
        <p:sp>
          <p:nvSpPr>
            <p:cNvPr id="17" name="CITE"/>
            <p:cNvSpPr txBox="1"/>
            <p:nvPr/>
          </p:nvSpPr>
          <p:spPr>
            <a:xfrm>
              <a:off x="3801236" y="3996943"/>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6.2</a:t>
              </a:r>
            </a:p>
          </p:txBody>
        </p:sp>
      </p:grpSp>
      <p:grpSp>
        <p:nvGrpSpPr>
          <p:cNvPr id="18" name="QBOX"/>
          <p:cNvGrpSpPr/>
          <p:nvPr/>
        </p:nvGrpSpPr>
        <p:grpSpPr>
          <a:xfrm>
            <a:off x="548640" y="4563872"/>
            <a:ext cx="5432907" cy="1300480"/>
            <a:chOff x="548640" y="4563872"/>
            <a:chExt cx="5432907" cy="1300480"/>
          </a:xfrm>
        </p:grpSpPr>
        <p:sp>
          <p:nvSpPr>
            <p:cNvPr id="19" name="Rounded Rectangle 18"/>
            <p:cNvSpPr/>
            <p:nvPr/>
          </p:nvSpPr>
          <p:spPr>
            <a:xfrm>
              <a:off x="548640" y="4563872"/>
              <a:ext cx="5432907" cy="1300480"/>
            </a:xfrm>
            <a:prstGeom prst="roundRect">
              <a:avLst>
                <a:gd name="adj" fmla="val 5625"/>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60959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1" name="TextBox 20"/>
            <p:cNvSpPr txBox="1"/>
            <p:nvPr/>
          </p:nvSpPr>
          <p:spPr>
            <a:xfrm>
              <a:off x="960120" y="4701032"/>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6.3 比对样本　6.3.1 样本选择</a:t>
              </a:r>
            </a:p>
            <a:p>
              <a:pPr algn="l">
                <a:lnSpc>
                  <a:spcPts val="1920"/>
                </a:lnSpc>
                <a:spcBef>
                  <a:spcPts val="400"/>
                </a:spcBef>
                <a:spcAft>
                  <a:spcPts val="0"/>
                </a:spcAft>
                <a:buNone/>
              </a:pPr>
              <a:r>
                <a:rPr sz="1600" b="1">
                  <a:solidFill>
                    <a:srgbClr val="E8833A"/>
                  </a:solidFill>
                  <a:latin typeface="Arial"/>
                  <a:ea typeface="微软雅黑"/>
                  <a:cs typeface="Arial"/>
                </a:rPr>
                <a:t>宜使用临床标本作为首选比对物质</a:t>
              </a:r>
              <a:r>
                <a:rPr sz="1600" b="0">
                  <a:solidFill>
                    <a:srgbClr val="222222"/>
                  </a:solidFill>
                  <a:latin typeface="Arial"/>
                  <a:ea typeface="微软雅黑"/>
                  <a:cs typeface="Arial"/>
                </a:rPr>
                <a:t>；不得不使用其他物质（如室间质评物或其他参考物质）时，应验证比对物质的互通性。</a:t>
              </a:r>
            </a:p>
          </p:txBody>
        </p:sp>
        <p:sp>
          <p:nvSpPr>
            <p:cNvPr id="22" name="CITE"/>
            <p:cNvSpPr txBox="1"/>
            <p:nvPr/>
          </p:nvSpPr>
          <p:spPr>
            <a:xfrm>
              <a:off x="3666505" y="5495544"/>
              <a:ext cx="217788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6.3.1</a:t>
              </a:r>
            </a:p>
          </p:txBody>
        </p:sp>
      </p:grpSp>
      <p:grpSp>
        <p:nvGrpSpPr>
          <p:cNvPr id="23" name="QBOX"/>
          <p:cNvGrpSpPr/>
          <p:nvPr/>
        </p:nvGrpSpPr>
        <p:grpSpPr>
          <a:xfrm>
            <a:off x="6210147" y="1554480"/>
            <a:ext cx="5432907" cy="1788160"/>
            <a:chOff x="6210147" y="1554480"/>
            <a:chExt cx="5432907" cy="1788160"/>
          </a:xfrm>
        </p:grpSpPr>
        <p:sp>
          <p:nvSpPr>
            <p:cNvPr id="24" name="Rounded Rectangle 23"/>
            <p:cNvSpPr/>
            <p:nvPr/>
          </p:nvSpPr>
          <p:spPr>
            <a:xfrm>
              <a:off x="6210147" y="1554480"/>
              <a:ext cx="5432907" cy="1788160"/>
            </a:xfrm>
            <a:prstGeom prst="roundRect">
              <a:avLst>
                <a:gd name="adj" fmla="val 409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6" name="TextBox 25"/>
            <p:cNvSpPr txBox="1"/>
            <p:nvPr/>
          </p:nvSpPr>
          <p:spPr>
            <a:xfrm>
              <a:off x="6621627" y="1691639"/>
              <a:ext cx="4884267" cy="152298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6.3.2 样本浓度水平</a:t>
              </a:r>
            </a:p>
            <a:p>
              <a:pPr algn="l">
                <a:lnSpc>
                  <a:spcPts val="1920"/>
                </a:lnSpc>
                <a:spcBef>
                  <a:spcPts val="400"/>
                </a:spcBef>
                <a:spcAft>
                  <a:spcPts val="0"/>
                </a:spcAft>
                <a:buNone/>
              </a:pPr>
              <a:r>
                <a:rPr sz="1600" b="0">
                  <a:solidFill>
                    <a:srgbClr val="222222"/>
                  </a:solidFill>
                  <a:latin typeface="Arial"/>
                  <a:ea typeface="微软雅黑"/>
                  <a:cs typeface="Arial"/>
                </a:rPr>
                <a:t>使用本指南规定的比对方案，需已知比对物质不同浓度水平对应的结果不精密度，故通常选择与质控品浓度水平相近的比对物质进行可比性验证；要求每个检测系统</a:t>
              </a:r>
              <a:r>
                <a:rPr sz="1600" b="1">
                  <a:solidFill>
                    <a:srgbClr val="E8833A"/>
                  </a:solidFill>
                  <a:latin typeface="Arial"/>
                  <a:ea typeface="微软雅黑"/>
                  <a:cs typeface="Arial"/>
                </a:rPr>
                <a:t>至少检测两个浓度水平（包含正常和异常水平）</a:t>
              </a:r>
              <a:r>
                <a:rPr sz="1600" b="0">
                  <a:solidFill>
                    <a:srgbClr val="222222"/>
                  </a:solidFill>
                  <a:latin typeface="Arial"/>
                  <a:ea typeface="微软雅黑"/>
                  <a:cs typeface="Arial"/>
                </a:rPr>
                <a:t>的比对物质。</a:t>
              </a:r>
            </a:p>
          </p:txBody>
        </p:sp>
        <p:sp>
          <p:nvSpPr>
            <p:cNvPr id="27" name="CITE"/>
            <p:cNvSpPr txBox="1"/>
            <p:nvPr/>
          </p:nvSpPr>
          <p:spPr>
            <a:xfrm>
              <a:off x="9328012" y="2973832"/>
              <a:ext cx="217788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6.3.2</a:t>
              </a:r>
            </a:p>
          </p:txBody>
        </p:sp>
      </p:grpSp>
      <p:grpSp>
        <p:nvGrpSpPr>
          <p:cNvPr id="28" name="QBOX"/>
          <p:cNvGrpSpPr/>
          <p:nvPr/>
        </p:nvGrpSpPr>
        <p:grpSpPr>
          <a:xfrm>
            <a:off x="6210147" y="3571240"/>
            <a:ext cx="5432907" cy="1519936"/>
            <a:chOff x="6210147" y="3571240"/>
            <a:chExt cx="5432907" cy="1519936"/>
          </a:xfrm>
        </p:grpSpPr>
        <p:sp>
          <p:nvSpPr>
            <p:cNvPr id="29" name="Rounded Rectangle 28"/>
            <p:cNvSpPr/>
            <p:nvPr/>
          </p:nvSpPr>
          <p:spPr>
            <a:xfrm>
              <a:off x="6210147" y="3571240"/>
              <a:ext cx="5432907" cy="1519936"/>
            </a:xfrm>
            <a:prstGeom prst="roundRect">
              <a:avLst>
                <a:gd name="adj" fmla="val 481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0731" y="361696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31" name="TextBox 30"/>
            <p:cNvSpPr txBox="1"/>
            <p:nvPr/>
          </p:nvSpPr>
          <p:spPr>
            <a:xfrm>
              <a:off x="6621627" y="3708400"/>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3.2 互通性 commutability（互换性；替换性）</a:t>
              </a:r>
            </a:p>
            <a:p>
              <a:pPr algn="l">
                <a:lnSpc>
                  <a:spcPts val="1920"/>
                </a:lnSpc>
                <a:spcBef>
                  <a:spcPts val="400"/>
                </a:spcBef>
                <a:spcAft>
                  <a:spcPts val="0"/>
                </a:spcAft>
                <a:buNone/>
              </a:pPr>
              <a:r>
                <a:rPr sz="1600" b="0">
                  <a:solidFill>
                    <a:srgbClr val="222222"/>
                  </a:solidFill>
                  <a:latin typeface="Arial"/>
                  <a:ea typeface="微软雅黑"/>
                  <a:cs typeface="Arial"/>
                </a:rPr>
                <a:t>用不同测量程序测量该物质时，各测量程序所得测量结果之间的数字关系，与用这些测量程序测量实际临床标本时测量结果的数字关系的一致程度。</a:t>
              </a:r>
            </a:p>
          </p:txBody>
        </p:sp>
        <p:sp>
          <p:nvSpPr>
            <p:cNvPr id="32" name="CITE"/>
            <p:cNvSpPr txBox="1"/>
            <p:nvPr/>
          </p:nvSpPr>
          <p:spPr>
            <a:xfrm>
              <a:off x="9462744" y="4752847"/>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3.2</a:t>
              </a:r>
            </a:p>
          </p:txBody>
        </p:sp>
      </p:grpSp>
      <p:pic>
        <p:nvPicPr>
          <p:cNvPr id="33"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44754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比对试验实施</a:t>
            </a:r>
            <a:endParaRPr sz="2800" b="1">
              <a:solidFill>
                <a:srgbClr val="1F3A5F"/>
              </a:solidFill>
              <a:latin typeface="Arial" charset="0"/>
              <a:ea typeface="微软雅黑"/>
              <a:cs typeface="Arial" charset="0"/>
            </a:endParaRPr>
          </a:p>
        </p:txBody>
      </p:sp>
      <p:pic>
        <p:nvPicPr>
          <p:cNvPr id="4" name="NEWIMG_CORNER" descr="32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21</a:t>
            </a:r>
            <a:endParaRPr sz="1200" b="0">
              <a:solidFill>
                <a:srgbClr val="6B7280"/>
              </a:solidFill>
              <a:latin typeface="Arial" charset="0"/>
              <a:ea typeface="微软雅黑"/>
              <a:cs typeface="Arial" charset="0"/>
            </a:endParaRPr>
          </a:p>
        </p:txBody>
      </p:sp>
      <p:sp>
        <p:nvSpPr>
          <p:cNvPr id="7" name="SRCBADGE"/>
          <p:cNvSpPr/>
          <p:nvPr/>
        </p:nvSpPr>
        <p:spPr>
          <a:xfrm>
            <a:off x="9139984" y="5852160"/>
            <a:ext cx="2503070"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6.4–6.8</a:t>
            </a:r>
            <a:endParaRPr sz="1200" b="1">
              <a:solidFill>
                <a:srgbClr val="148F8A"/>
              </a:solidFill>
              <a:latin typeface="Arial" charset="0"/>
              <a:ea typeface="微软雅黑"/>
              <a:cs typeface="Arial" charset="0"/>
            </a:endParaRPr>
          </a:p>
        </p:txBody>
      </p:sp>
      <p:grpSp>
        <p:nvGrpSpPr>
          <p:cNvPr id="8" name="QBOX"/>
          <p:cNvGrpSpPr/>
          <p:nvPr/>
        </p:nvGrpSpPr>
        <p:grpSpPr>
          <a:xfrm>
            <a:off x="548640" y="1554480"/>
            <a:ext cx="5432907" cy="3566159"/>
            <a:chOff x="548640" y="1554480"/>
            <a:chExt cx="5432907" cy="3566159"/>
          </a:xfrm>
        </p:grpSpPr>
        <p:sp>
          <p:nvSpPr>
            <p:cNvPr id="9" name="Rounded Rectangle 8"/>
            <p:cNvSpPr/>
            <p:nvPr/>
          </p:nvSpPr>
          <p:spPr>
            <a:xfrm>
              <a:off x="548640" y="1554480"/>
              <a:ext cx="5432907" cy="3566159"/>
            </a:xfrm>
            <a:prstGeom prst="roundRect">
              <a:avLst>
                <a:gd name="adj" fmla="val 205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1" name="TextBox 10"/>
            <p:cNvSpPr txBox="1"/>
            <p:nvPr/>
          </p:nvSpPr>
          <p:spPr>
            <a:xfrm>
              <a:off x="960120" y="1691639"/>
              <a:ext cx="4884267" cy="33009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charset="0"/>
                  <a:ea typeface="微软雅黑"/>
                  <a:cs typeface="Arial" charset="0"/>
                </a:rPr>
                <a:t>1.</a:t>
              </a:r>
              <a:r>
                <a:rPr sz="1800" b="0">
                  <a:solidFill>
                    <a:srgbClr val="C0392B"/>
                  </a:solidFill>
                  <a:latin typeface="Arial" charset="0"/>
                  <a:ea typeface="微软雅黑"/>
                  <a:cs typeface="Arial" charset="0"/>
                </a:rPr>
                <a:t> 确定检测系统测定结果的不精密度</a:t>
              </a:r>
              <a:r>
                <a:rPr sz="1800" b="0">
                  <a:solidFill>
                    <a:srgbClr val="C0392B"/>
                  </a:solidFill>
                  <a:latin typeface="Arial" charset="0"/>
                  <a:ea typeface="微软雅黑"/>
                  <a:cs typeface="Arial" charset="0"/>
                </a:rPr>
                <a:t>:</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1</a:t>
              </a:r>
              <a:r>
                <a:rPr sz="1800" b="0">
                  <a:solidFill>
                    <a:srgbClr val="222222"/>
                  </a:solidFill>
                  <a:latin typeface="Arial" charset="0"/>
                  <a:ea typeface="微软雅黑"/>
                  <a:cs typeface="Arial" charset="0"/>
                </a:rPr>
                <a:t>）使用日常工作中质控品的</a:t>
              </a:r>
              <a:r>
                <a:rPr sz="1800" b="0">
                  <a:solidFill>
                    <a:srgbClr val="222222"/>
                  </a:solidFill>
                  <a:latin typeface="Arial" charset="0"/>
                  <a:ea typeface="微软雅黑"/>
                  <a:cs typeface="Arial" charset="0"/>
                </a:rPr>
                <a:t>检测数据估计不精密度，尽可能使用累计6个月的检测数据</a:t>
              </a:r>
              <a:r>
                <a:rPr sz="1800" b="0">
                  <a:solidFill>
                    <a:srgbClr val="222222"/>
                  </a:solidFill>
                  <a:latin typeface="Arial" charset="0"/>
                  <a:ea typeface="微软雅黑"/>
                  <a:cs typeface="Arial" charset="0"/>
                </a:rPr>
                <a:t>计算长期的变异系数（</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），保证其具有代表性。（</a:t>
              </a:r>
              <a:r>
                <a:rPr sz="1800" b="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）比较检测系统不精密度大小，确定最大</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与最小</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的差异是否小于</a:t>
              </a:r>
              <a:r>
                <a:rPr sz="1800" b="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倍。</a:t>
              </a:r>
              <a:r>
                <a:rPr sz="1800" b="0">
                  <a:solidFill>
                    <a:srgbClr val="222222"/>
                  </a:solidFill>
                  <a:latin typeface="Arial" charset="0"/>
                  <a:ea typeface="微软雅黑"/>
                  <a:cs typeface="Arial" charset="0"/>
                </a:rPr>
                <a:t>如小于2倍，可使用本指南规定的比对方案；</a:t>
              </a:r>
              <a:r>
                <a:rPr sz="1800" b="0">
                  <a:solidFill>
                    <a:srgbClr val="222222"/>
                  </a:solidFill>
                  <a:latin typeface="Arial" charset="0"/>
                  <a:ea typeface="微软雅黑"/>
                  <a:cs typeface="Arial" charset="0"/>
                </a:rPr>
                <a:t>如大于</a:t>
              </a:r>
              <a:r>
                <a:rPr sz="1800" b="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倍，则应参照</a:t>
              </a:r>
              <a:r>
                <a:rPr sz="1800" b="0">
                  <a:solidFill>
                    <a:srgbClr val="222222"/>
                  </a:solidFill>
                  <a:latin typeface="Arial" charset="0"/>
                  <a:ea typeface="微软雅黑"/>
                  <a:cs typeface="Arial" charset="0"/>
                </a:rPr>
                <a:t>CLSI EP9-A2</a:t>
              </a:r>
              <a:r>
                <a:rPr sz="1800" b="0">
                  <a:solidFill>
                    <a:srgbClr val="222222"/>
                  </a:solidFill>
                  <a:latin typeface="Arial" charset="0"/>
                  <a:ea typeface="微软雅黑"/>
                  <a:cs typeface="Arial" charset="0"/>
                </a:rPr>
                <a:t>和（或）</a:t>
              </a:r>
              <a:r>
                <a:rPr sz="1800" b="0">
                  <a:solidFill>
                    <a:srgbClr val="222222"/>
                  </a:solidFill>
                  <a:latin typeface="Arial" charset="0"/>
                  <a:ea typeface="微软雅黑"/>
                  <a:cs typeface="Arial" charset="0"/>
                </a:rPr>
                <a:t>EP15-A2</a:t>
              </a:r>
              <a:r>
                <a:rPr sz="1800" b="0">
                  <a:solidFill>
                    <a:srgbClr val="222222"/>
                  </a:solidFill>
                  <a:latin typeface="Arial" charset="0"/>
                  <a:ea typeface="微软雅黑"/>
                  <a:cs typeface="Arial" charset="0"/>
                </a:rPr>
                <a:t>确认检测系统间的结果可比性</a:t>
              </a:r>
              <a:r>
                <a:rPr sz="1800" b="0">
                  <a:solidFill>
                    <a:srgbClr val="222222"/>
                  </a:solidFill>
                  <a:latin typeface="Arial" charset="0"/>
                  <a:ea typeface="微软雅黑"/>
                  <a:cs typeface="Arial" charset="0"/>
                </a:rPr>
                <a:t>。</a:t>
              </a:r>
              <a:endParaRPr sz="1800" b="0">
                <a:solidFill>
                  <a:srgbClr val="222222"/>
                </a:solidFill>
                <a:latin typeface="Arial" charset="0"/>
                <a:ea typeface="微软雅黑"/>
                <a:cs typeface="Arial" charset="0"/>
              </a:endParaRPr>
            </a:p>
          </p:txBody>
        </p:sp>
        <p:sp>
          <p:nvSpPr>
            <p:cNvPr id="12" name="CITE"/>
            <p:cNvSpPr txBox="1"/>
            <p:nvPr/>
          </p:nvSpPr>
          <p:spPr>
            <a:xfrm>
              <a:off x="4214416" y="4736592"/>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6.4</a:t>
              </a:r>
              <a:endParaRPr sz="1200" b="0">
                <a:solidFill>
                  <a:srgbClr val="148F8A"/>
                </a:solidFill>
                <a:latin typeface="Arial" charset="0"/>
                <a:ea typeface="微软雅黑"/>
                <a:cs typeface="Arial" charset="0"/>
              </a:endParaRPr>
            </a:p>
          </p:txBody>
        </p:sp>
      </p:grpSp>
      <p:grpSp>
        <p:nvGrpSpPr>
          <p:cNvPr id="13" name="QBOX"/>
          <p:cNvGrpSpPr/>
          <p:nvPr/>
        </p:nvGrpSpPr>
        <p:grpSpPr>
          <a:xfrm>
            <a:off x="6210147" y="1554480"/>
            <a:ext cx="5432907" cy="1316736"/>
            <a:chOff x="6210147" y="1554480"/>
            <a:chExt cx="5432907" cy="1316736"/>
          </a:xfrm>
        </p:grpSpPr>
        <p:sp>
          <p:nvSpPr>
            <p:cNvPr id="14" name="Rounded Rectangle 13"/>
            <p:cNvSpPr/>
            <p:nvPr/>
          </p:nvSpPr>
          <p:spPr>
            <a:xfrm>
              <a:off x="6210147" y="1554480"/>
              <a:ext cx="5432907" cy="1316736"/>
            </a:xfrm>
            <a:prstGeom prst="roundRect">
              <a:avLst>
                <a:gd name="adj" fmla="val 5555"/>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6" name="TextBox 15"/>
            <p:cNvSpPr txBox="1"/>
            <p:nvPr/>
          </p:nvSpPr>
          <p:spPr>
            <a:xfrm>
              <a:off x="6621627" y="1691639"/>
              <a:ext cx="4884267"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charset="0"/>
                  <a:ea typeface="微软雅黑"/>
                  <a:cs typeface="Arial" charset="0"/>
                </a:rPr>
                <a:t>2.</a:t>
              </a:r>
              <a:r>
                <a:rPr sz="1800" b="0">
                  <a:solidFill>
                    <a:srgbClr val="C0392B"/>
                  </a:solidFill>
                  <a:latin typeface="Arial" charset="0"/>
                  <a:ea typeface="微软雅黑"/>
                  <a:cs typeface="Arial" charset="0"/>
                </a:rPr>
                <a:t>确定比对样本的浓度范围：</a:t>
              </a:r>
              <a:r>
                <a:rPr sz="1800" b="0">
                  <a:solidFill>
                    <a:srgbClr val="222222"/>
                  </a:solidFill>
                  <a:latin typeface="Arial" charset="0"/>
                  <a:ea typeface="微软雅黑"/>
                  <a:cs typeface="Arial" charset="0"/>
                </a:rPr>
                <a:t>计算参与比对的所有检测系统质控品均值的总均值，以总均值</a:t>
              </a:r>
              <a:r>
                <a:rPr sz="1800" b="0">
                  <a:solidFill>
                    <a:srgbClr val="222222"/>
                  </a:solidFill>
                  <a:latin typeface="Arial" charset="0"/>
                  <a:ea typeface="微软雅黑"/>
                  <a:cs typeface="Arial" charset="0"/>
                </a:rPr>
                <a:t>±20%</a:t>
              </a:r>
              <a:r>
                <a:rPr sz="1800" b="0">
                  <a:solidFill>
                    <a:srgbClr val="222222"/>
                  </a:solidFill>
                  <a:latin typeface="Arial" charset="0"/>
                  <a:ea typeface="微软雅黑"/>
                  <a:cs typeface="Arial" charset="0"/>
                </a:rPr>
                <a:t>作为比对样本的浓度选择范围。</a:t>
              </a:r>
              <a:endParaRPr sz="1800" b="0">
                <a:solidFill>
                  <a:srgbClr val="222222"/>
                </a:solidFill>
                <a:latin typeface="Arial" charset="0"/>
                <a:ea typeface="微软雅黑"/>
                <a:cs typeface="Arial" charset="0"/>
              </a:endParaRPr>
            </a:p>
          </p:txBody>
        </p:sp>
        <p:sp>
          <p:nvSpPr>
            <p:cNvPr id="17" name="CITE"/>
            <p:cNvSpPr txBox="1"/>
            <p:nvPr/>
          </p:nvSpPr>
          <p:spPr>
            <a:xfrm>
              <a:off x="9875924" y="2532888"/>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6.5</a:t>
              </a:r>
              <a:endParaRPr sz="1200" b="0">
                <a:solidFill>
                  <a:srgbClr val="148F8A"/>
                </a:solidFill>
                <a:latin typeface="Arial" charset="0"/>
                <a:ea typeface="微软雅黑"/>
                <a:cs typeface="Arial" charset="0"/>
              </a:endParaRPr>
            </a:p>
          </p:txBody>
        </p:sp>
      </p:grpSp>
      <p:grpSp>
        <p:nvGrpSpPr>
          <p:cNvPr id="18" name="QBOX"/>
          <p:cNvGrpSpPr/>
          <p:nvPr/>
        </p:nvGrpSpPr>
        <p:grpSpPr>
          <a:xfrm>
            <a:off x="6210147" y="3099815"/>
            <a:ext cx="5432907" cy="1865376"/>
            <a:chOff x="6210147" y="3099815"/>
            <a:chExt cx="5432907" cy="1865376"/>
          </a:xfrm>
        </p:grpSpPr>
        <p:sp>
          <p:nvSpPr>
            <p:cNvPr id="19" name="Rounded Rectangle 18"/>
            <p:cNvSpPr/>
            <p:nvPr/>
          </p:nvSpPr>
          <p:spPr>
            <a:xfrm>
              <a:off x="6210147" y="3099815"/>
              <a:ext cx="5432907" cy="1865376"/>
            </a:xfrm>
            <a:prstGeom prst="roundRect">
              <a:avLst>
                <a:gd name="adj" fmla="val 392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314553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1" name="TextBox 20"/>
            <p:cNvSpPr txBox="1"/>
            <p:nvPr/>
          </p:nvSpPr>
          <p:spPr>
            <a:xfrm>
              <a:off x="6621627" y="3236975"/>
              <a:ext cx="4884267"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3.</a:t>
              </a:r>
              <a:r>
                <a:rPr sz="1800" b="0">
                  <a:solidFill>
                    <a:srgbClr val="C0392B"/>
                  </a:solidFill>
                  <a:latin typeface="Arial" charset="0"/>
                  <a:ea typeface="微软雅黑"/>
                  <a:cs typeface="Arial" charset="0"/>
                </a:rPr>
                <a:t>确定比对物质的重复检测次数：</a:t>
              </a:r>
              <a:r>
                <a:rPr sz="1800" b="0">
                  <a:solidFill>
                    <a:srgbClr val="222222"/>
                  </a:solidFill>
                  <a:latin typeface="Arial" charset="0"/>
                  <a:ea typeface="微软雅黑"/>
                  <a:cs typeface="Arial" charset="0"/>
                </a:rPr>
                <a:t>计算不同检测系统合并</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值：合并</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CV</a:t>
              </a:r>
              <a:r>
                <a:rPr sz="1800" b="0" baseline="-25000">
                  <a:solidFill>
                    <a:srgbClr val="222222"/>
                  </a:solidFill>
                  <a:latin typeface="Arial" charset="0"/>
                  <a:ea typeface="微软雅黑"/>
                  <a:cs typeface="Arial" charset="0"/>
                </a:rPr>
                <a:t>1</a:t>
              </a:r>
              <a:r>
                <a:rPr sz="1800" b="0" baseline="3000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 CV</a:t>
              </a:r>
              <a:r>
                <a:rPr sz="1800" b="0" baseline="-25000">
                  <a:solidFill>
                    <a:srgbClr val="222222"/>
                  </a:solidFill>
                  <a:latin typeface="Arial" charset="0"/>
                  <a:ea typeface="微软雅黑"/>
                  <a:cs typeface="Arial" charset="0"/>
                </a:rPr>
                <a:t>2</a:t>
              </a:r>
              <a:r>
                <a:rPr sz="1800" b="0" baseline="30000">
                  <a:solidFill>
                    <a:srgbClr val="222222"/>
                  </a:solidFill>
                  <a:latin typeface="Arial" charset="0"/>
                  <a:ea typeface="微软雅黑"/>
                  <a:cs typeface="Arial" charset="0"/>
                </a:rPr>
                <a:t>2 </a:t>
              </a:r>
              <a:r>
                <a:rPr sz="1800" b="0">
                  <a:solidFill>
                    <a:srgbClr val="222222"/>
                  </a:solidFill>
                  <a:latin typeface="Arial" charset="0"/>
                  <a:ea typeface="微软雅黑"/>
                  <a:cs typeface="Arial" charset="0"/>
                </a:rPr>
                <a:t>+… CV</a:t>
              </a:r>
              <a:r>
                <a:rPr sz="1800" b="0" baseline="-25000">
                  <a:solidFill>
                    <a:srgbClr val="222222"/>
                  </a:solidFill>
                  <a:latin typeface="Arial" charset="0"/>
                  <a:ea typeface="微软雅黑"/>
                  <a:cs typeface="Arial" charset="0"/>
                </a:rPr>
                <a:t>n</a:t>
              </a:r>
              <a:r>
                <a:rPr sz="1800" b="0" baseline="30000">
                  <a:solidFill>
                    <a:srgbClr val="222222"/>
                  </a:solidFill>
                  <a:latin typeface="Arial" charset="0"/>
                  <a:ea typeface="微软雅黑"/>
                  <a:cs typeface="Arial" charset="0"/>
                </a:rPr>
                <a:t>2 </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/n]</a:t>
              </a:r>
              <a:r>
                <a:rPr sz="1800" b="0" baseline="30000">
                  <a:solidFill>
                    <a:srgbClr val="222222"/>
                  </a:solidFill>
                  <a:latin typeface="Arial" charset="0"/>
                  <a:ea typeface="微软雅黑"/>
                  <a:cs typeface="Arial" charset="0"/>
                </a:rPr>
                <a:t>1/2</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使用计算合并CV值查找附录A的表A.1，以确定每台仪器</a:t>
              </a:r>
              <a:r>
                <a:rPr sz="1800" b="0">
                  <a:solidFill>
                    <a:srgbClr val="222222"/>
                  </a:solidFill>
                  <a:latin typeface="Arial" charset="0"/>
                  <a:ea typeface="微软雅黑"/>
                  <a:cs typeface="Arial" charset="0"/>
                </a:rPr>
                <a:t>比对样本的重复检测次数。</a:t>
              </a:r>
              <a:endParaRPr sz="1800" b="0">
                <a:solidFill>
                  <a:srgbClr val="222222"/>
                </a:solidFill>
                <a:latin typeface="Arial" charset="0"/>
                <a:ea typeface="微软雅黑"/>
                <a:cs typeface="Arial" charset="0"/>
              </a:endParaRPr>
            </a:p>
          </p:txBody>
        </p:sp>
        <p:sp>
          <p:nvSpPr>
            <p:cNvPr id="22" name="CITE"/>
            <p:cNvSpPr txBox="1"/>
            <p:nvPr/>
          </p:nvSpPr>
          <p:spPr>
            <a:xfrm>
              <a:off x="9875924" y="4626863"/>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6.6</a:t>
              </a:r>
              <a:endParaRPr sz="1200" b="0">
                <a:solidFill>
                  <a:srgbClr val="148F8A"/>
                </a:solidFill>
                <a:latin typeface="Arial" charset="0"/>
                <a:ea typeface="微软雅黑"/>
                <a:cs typeface="Arial" charset="0"/>
              </a:endParaRPr>
            </a:p>
          </p:txBody>
        </p:sp>
      </p:grpSp>
      <p:pic>
        <p:nvPicPr>
          <p:cNvPr id="23"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3557015"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比对试验实施（续）</a:t>
            </a:r>
            <a:endParaRPr sz="2800" b="1">
              <a:solidFill>
                <a:srgbClr val="1F3A5F"/>
              </a:solidFill>
              <a:latin typeface="Arial" charset="0"/>
              <a:ea typeface="微软雅黑"/>
              <a:cs typeface="Arial" charset="0"/>
            </a:endParaRPr>
          </a:p>
        </p:txBody>
      </p:sp>
      <p:pic>
        <p:nvPicPr>
          <p:cNvPr id="4" name="NEWIMG_CORNER" descr="33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22</a:t>
            </a:r>
            <a:endParaRPr sz="1200" b="0">
              <a:solidFill>
                <a:srgbClr val="6B7280"/>
              </a:solidFill>
              <a:latin typeface="Arial" charset="0"/>
              <a:ea typeface="微软雅黑"/>
              <a:cs typeface="Arial" charset="0"/>
            </a:endParaRPr>
          </a:p>
        </p:txBody>
      </p:sp>
      <p:sp>
        <p:nvSpPr>
          <p:cNvPr id="7" name="SRCBADGE"/>
          <p:cNvSpPr/>
          <p:nvPr/>
        </p:nvSpPr>
        <p:spPr>
          <a:xfrm>
            <a:off x="9518820" y="5852160"/>
            <a:ext cx="2124234"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6.8</a:t>
            </a:r>
            <a:endParaRPr sz="1200" b="1">
              <a:solidFill>
                <a:srgbClr val="148F8A"/>
              </a:solidFill>
              <a:latin typeface="Arial" charset="0"/>
              <a:ea typeface="微软雅黑"/>
              <a:cs typeface="Arial" charset="0"/>
            </a:endParaRPr>
          </a:p>
        </p:txBody>
      </p:sp>
      <p:grpSp>
        <p:nvGrpSpPr>
          <p:cNvPr id="8" name="QBOX"/>
          <p:cNvGrpSpPr/>
          <p:nvPr/>
        </p:nvGrpSpPr>
        <p:grpSpPr>
          <a:xfrm>
            <a:off x="548640" y="1554480"/>
            <a:ext cx="5432907" cy="1188720"/>
            <a:chOff x="548640" y="1554480"/>
            <a:chExt cx="5432907" cy="1188720"/>
          </a:xfrm>
        </p:grpSpPr>
        <p:sp>
          <p:nvSpPr>
            <p:cNvPr id="9" name="Rounded Rectangle 8"/>
            <p:cNvSpPr/>
            <p:nvPr/>
          </p:nvSpPr>
          <p:spPr>
            <a:xfrm>
              <a:off x="548640" y="1554480"/>
              <a:ext cx="5432907" cy="1188720"/>
            </a:xfrm>
            <a:prstGeom prst="roundRect">
              <a:avLst>
                <a:gd name="adj" fmla="val 615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1" name="TextBox 10"/>
            <p:cNvSpPr txBox="1"/>
            <p:nvPr/>
          </p:nvSpPr>
          <p:spPr>
            <a:xfrm>
              <a:off x="960120" y="1691639"/>
              <a:ext cx="488426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4.</a:t>
              </a:r>
              <a:r>
                <a:rPr sz="1500" b="0">
                  <a:solidFill>
                    <a:srgbClr val="222222"/>
                  </a:solidFill>
                  <a:latin typeface="Arial" charset="0"/>
                  <a:ea typeface="微软雅黑"/>
                  <a:cs typeface="Arial" charset="0"/>
                </a:rPr>
                <a:t>如未进行重复检测，则直接比较每个检测系统的结果，计算所有检测系统结果的均值。如进行了重复检测，则计算每个检测系统结果的均值，再计算所有检测系统结果的总均值。</a:t>
              </a:r>
              <a:endParaRPr sz="1500" b="0">
                <a:solidFill>
                  <a:srgbClr val="222222"/>
                </a:solidFill>
                <a:latin typeface="Arial" charset="0"/>
                <a:ea typeface="微软雅黑"/>
                <a:cs typeface="Arial" charset="0"/>
              </a:endParaRPr>
            </a:p>
          </p:txBody>
        </p:sp>
        <p:sp>
          <p:nvSpPr>
            <p:cNvPr id="12" name="CITE"/>
            <p:cNvSpPr txBox="1"/>
            <p:nvPr/>
          </p:nvSpPr>
          <p:spPr>
            <a:xfrm>
              <a:off x="3558832" y="2382012"/>
              <a:ext cx="2285555"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6.8.2–6.8.3</a:t>
              </a:r>
              <a:endParaRPr sz="1200" b="0">
                <a:solidFill>
                  <a:srgbClr val="148F8A"/>
                </a:solidFill>
                <a:latin typeface="Arial" charset="0"/>
                <a:ea typeface="微软雅黑"/>
                <a:cs typeface="Arial" charset="0"/>
              </a:endParaRPr>
            </a:p>
          </p:txBody>
        </p:sp>
      </p:grpSp>
      <p:grpSp>
        <p:nvGrpSpPr>
          <p:cNvPr id="13" name="QBOX"/>
          <p:cNvGrpSpPr/>
          <p:nvPr/>
        </p:nvGrpSpPr>
        <p:grpSpPr>
          <a:xfrm>
            <a:off x="548640" y="2971800"/>
            <a:ext cx="5432907" cy="2103120"/>
            <a:chOff x="548640" y="2971800"/>
            <a:chExt cx="5432907" cy="2103120"/>
          </a:xfrm>
        </p:grpSpPr>
        <p:sp>
          <p:nvSpPr>
            <p:cNvPr id="14" name="Rounded Rectangle 13"/>
            <p:cNvSpPr/>
            <p:nvPr/>
          </p:nvSpPr>
          <p:spPr>
            <a:xfrm>
              <a:off x="548640" y="2971800"/>
              <a:ext cx="5432907" cy="2103120"/>
            </a:xfrm>
            <a:prstGeom prst="roundRect">
              <a:avLst>
                <a:gd name="adj" fmla="val 347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017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6" name="TextBox 15"/>
            <p:cNvSpPr txBox="1"/>
            <p:nvPr/>
          </p:nvSpPr>
          <p:spPr>
            <a:xfrm>
              <a:off x="960120" y="3108960"/>
              <a:ext cx="4884267" cy="1837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C0392B"/>
                  </a:solidFill>
                  <a:latin typeface="Arial" charset="0"/>
                  <a:ea typeface="微软雅黑"/>
                  <a:cs typeface="Arial" charset="0"/>
                </a:rPr>
                <a:t>5.</a:t>
              </a:r>
              <a:r>
                <a:rPr sz="1500" b="0">
                  <a:solidFill>
                    <a:srgbClr val="C0392B"/>
                  </a:solidFill>
                  <a:latin typeface="Arial" charset="0"/>
                  <a:ea typeface="微软雅黑"/>
                  <a:cs typeface="Arial" charset="0"/>
                </a:rPr>
                <a:t>计算比对偏差：</a:t>
              </a:r>
              <a:r>
                <a:rPr sz="1500" b="0">
                  <a:solidFill>
                    <a:srgbClr val="222222"/>
                  </a:solidFill>
                  <a:latin typeface="Arial" charset="0"/>
                  <a:ea typeface="微软雅黑"/>
                  <a:cs typeface="Arial" charset="0"/>
                </a:rPr>
                <a:t>选取差异最大的两个检测系统的均值计算极差，并除以所有检测系统结果的总均值，得出比对偏差。如未进行重复检测，比对偏差</a:t>
              </a: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（检测系统的最大值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检测系统的最小值）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所有检测系统的均值</a:t>
              </a:r>
              <a:r>
                <a:rPr sz="1500" b="0">
                  <a:solidFill>
                    <a:srgbClr val="222222"/>
                  </a:solidFill>
                  <a:latin typeface="Arial" charset="0"/>
                  <a:ea typeface="微软雅黑"/>
                  <a:cs typeface="Arial" charset="0"/>
                </a:rPr>
                <a:t>]×100%</a:t>
              </a:r>
              <a:r>
                <a:rPr sz="1500" b="0">
                  <a:solidFill>
                    <a:srgbClr val="222222"/>
                  </a:solidFill>
                  <a:latin typeface="Arial" charset="0"/>
                  <a:ea typeface="微软雅黑"/>
                  <a:cs typeface="Arial" charset="0"/>
                </a:rPr>
                <a:t>；如进行了重复检测，比对偏差</a:t>
              </a: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（检测系统的最大均值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检测系统的最小均值）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所有检测系统的总均值</a:t>
              </a:r>
              <a:r>
                <a:rPr sz="1500" b="0">
                  <a:solidFill>
                    <a:srgbClr val="222222"/>
                  </a:solidFill>
                  <a:latin typeface="Arial" charset="0"/>
                  <a:ea typeface="微软雅黑"/>
                  <a:cs typeface="Arial" charset="0"/>
                </a:rPr>
                <a:t>]×100%</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p:txBody>
        </p:sp>
        <p:sp>
          <p:nvSpPr>
            <p:cNvPr id="17" name="CITE"/>
            <p:cNvSpPr txBox="1"/>
            <p:nvPr/>
          </p:nvSpPr>
          <p:spPr>
            <a:xfrm>
              <a:off x="4079685" y="4713731"/>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6.8.4</a:t>
              </a:r>
              <a:endParaRPr sz="1200" b="0">
                <a:solidFill>
                  <a:srgbClr val="148F8A"/>
                </a:solidFill>
                <a:latin typeface="Arial" charset="0"/>
                <a:ea typeface="微软雅黑"/>
                <a:cs typeface="Arial" charset="0"/>
              </a:endParaRPr>
            </a:p>
          </p:txBody>
        </p:sp>
      </p:grpSp>
      <p:grpSp>
        <p:nvGrpSpPr>
          <p:cNvPr id="18" name="QBOX"/>
          <p:cNvGrpSpPr/>
          <p:nvPr/>
        </p:nvGrpSpPr>
        <p:grpSpPr>
          <a:xfrm>
            <a:off x="6210147" y="1554480"/>
            <a:ext cx="5432907" cy="731520"/>
            <a:chOff x="6210147" y="1554480"/>
            <a:chExt cx="5432907" cy="731520"/>
          </a:xfrm>
        </p:grpSpPr>
        <p:sp>
          <p:nvSpPr>
            <p:cNvPr id="19" name="Rounded Rectangle 18"/>
            <p:cNvSpPr/>
            <p:nvPr/>
          </p:nvSpPr>
          <p:spPr>
            <a:xfrm>
              <a:off x="6210147" y="1554480"/>
              <a:ext cx="5432907" cy="731520"/>
            </a:xfrm>
            <a:prstGeom prst="roundRect">
              <a:avLst>
                <a:gd name="adj" fmla="val 1000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1" name="TextBox 20"/>
            <p:cNvSpPr txBox="1"/>
            <p:nvPr/>
          </p:nvSpPr>
          <p:spPr>
            <a:xfrm>
              <a:off x="6621627" y="1691639"/>
              <a:ext cx="4884267" cy="4663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6.</a:t>
              </a:r>
              <a:r>
                <a:rPr sz="1500" b="0">
                  <a:solidFill>
                    <a:srgbClr val="C0392B"/>
                  </a:solidFill>
                  <a:latin typeface="Arial" charset="0"/>
                  <a:ea typeface="微软雅黑"/>
                  <a:cs typeface="Arial" charset="0"/>
                </a:rPr>
                <a:t>将比对偏差与实验室建立比对试验的可接受标准中确定的分析质量要求进行比较</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p:txBody>
        </p:sp>
        <p:sp>
          <p:nvSpPr>
            <p:cNvPr id="22" name="CITE"/>
            <p:cNvSpPr txBox="1"/>
            <p:nvPr/>
          </p:nvSpPr>
          <p:spPr>
            <a:xfrm>
              <a:off x="9741192" y="1924812"/>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6.8.5</a:t>
              </a:r>
              <a:endParaRPr sz="1200" b="0">
                <a:solidFill>
                  <a:srgbClr val="148F8A"/>
                </a:solidFill>
                <a:latin typeface="Arial" charset="0"/>
                <a:ea typeface="微软雅黑"/>
                <a:cs typeface="Arial" charset="0"/>
              </a:endParaRPr>
            </a:p>
          </p:txBody>
        </p:sp>
      </p:grpSp>
      <p:grpSp>
        <p:nvGrpSpPr>
          <p:cNvPr id="23" name="QBOX"/>
          <p:cNvGrpSpPr/>
          <p:nvPr/>
        </p:nvGrpSpPr>
        <p:grpSpPr>
          <a:xfrm>
            <a:off x="6210147" y="2514600"/>
            <a:ext cx="5432907" cy="2331720"/>
            <a:chOff x="6210147" y="2514600"/>
            <a:chExt cx="5432907" cy="2331720"/>
          </a:xfrm>
        </p:grpSpPr>
        <p:sp>
          <p:nvSpPr>
            <p:cNvPr id="24" name="Rounded Rectangle 23"/>
            <p:cNvSpPr/>
            <p:nvPr/>
          </p:nvSpPr>
          <p:spPr>
            <a:xfrm>
              <a:off x="6210147" y="2514600"/>
              <a:ext cx="5432907" cy="2331720"/>
            </a:xfrm>
            <a:prstGeom prst="roundRect">
              <a:avLst>
                <a:gd name="adj" fmla="val 313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0731" y="2560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6" name="TextBox 25"/>
            <p:cNvSpPr txBox="1"/>
            <p:nvPr/>
          </p:nvSpPr>
          <p:spPr>
            <a:xfrm>
              <a:off x="6621627" y="2651760"/>
              <a:ext cx="4884267" cy="20665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7.</a:t>
              </a:r>
              <a:r>
                <a:rPr sz="1500" b="0">
                  <a:solidFill>
                    <a:srgbClr val="222222"/>
                  </a:solidFill>
                  <a:latin typeface="Arial" charset="0"/>
                  <a:ea typeface="微软雅黑"/>
                  <a:cs typeface="Arial" charset="0"/>
                </a:rPr>
                <a:t>如比对偏差小于或等于分析质量要求，得出结论：在该次评估的样本浓度水平所有检测系统的结果都具有可比性；</a:t>
              </a:r>
              <a:r>
                <a:rPr sz="1500" b="0">
                  <a:solidFill>
                    <a:srgbClr val="222222"/>
                  </a:solidFill>
                  <a:latin typeface="Arial" charset="0"/>
                  <a:ea typeface="微软雅黑"/>
                  <a:cs typeface="Arial" charset="0"/>
                </a:rPr>
                <a:t>如比对偏差大于分析质量要求</a:t>
              </a:r>
              <a:r>
                <a:rPr sz="1500" b="0">
                  <a:solidFill>
                    <a:srgbClr val="222222"/>
                  </a:solidFill>
                  <a:latin typeface="Arial" charset="0"/>
                  <a:ea typeface="微软雅黑"/>
                  <a:cs typeface="Arial" charset="0"/>
                </a:rPr>
                <a:t>，得出结论：</a:t>
              </a:r>
              <a:r>
                <a:rPr sz="1500" b="0">
                  <a:solidFill>
                    <a:srgbClr val="222222"/>
                  </a:solidFill>
                  <a:latin typeface="Arial" charset="0"/>
                  <a:ea typeface="微软雅黑"/>
                  <a:cs typeface="Arial" charset="0"/>
                </a:rPr>
                <a:t>均值差异最大的两个检测系统间的可比性不符合要求，将两个检测系统的结果分别与规范操作检测系统的结果进行比较，剔除偏差较大检测系统的结果后再比</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p:txBody>
        </p:sp>
        <p:sp>
          <p:nvSpPr>
            <p:cNvPr id="27" name="CITE"/>
            <p:cNvSpPr txBox="1"/>
            <p:nvPr/>
          </p:nvSpPr>
          <p:spPr>
            <a:xfrm>
              <a:off x="9741192" y="4485131"/>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6.8.5</a:t>
              </a:r>
              <a:endParaRPr sz="1200" b="0">
                <a:solidFill>
                  <a:srgbClr val="148F8A"/>
                </a:solidFill>
                <a:latin typeface="Arial" charset="0"/>
                <a:ea typeface="微软雅黑"/>
                <a:cs typeface="Arial" charset="0"/>
              </a:endParaRPr>
            </a:p>
          </p:txBody>
        </p:sp>
      </p:grpSp>
      <p:sp>
        <p:nvSpPr>
          <p:cNvPr id="28" name="BADGE"/>
          <p:cNvSpPr/>
          <p:nvPr/>
        </p:nvSpPr>
        <p:spPr>
          <a:xfrm>
            <a:off x="6210147" y="5074920"/>
            <a:ext cx="2277574"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 分析质量要求 → 通过</a:t>
            </a:r>
            <a:endParaRPr sz="1400" b="1">
              <a:solidFill>
                <a:srgbClr val="FFFFFF"/>
              </a:solidFill>
              <a:latin typeface="Arial" charset="0"/>
              <a:ea typeface="微软雅黑"/>
              <a:cs typeface="Arial" charset="0"/>
            </a:endParaRPr>
          </a:p>
        </p:txBody>
      </p:sp>
      <p:sp>
        <p:nvSpPr>
          <p:cNvPr id="29" name="BADGE"/>
          <p:cNvSpPr/>
          <p:nvPr/>
        </p:nvSpPr>
        <p:spPr>
          <a:xfrm>
            <a:off x="8506009" y="5102351"/>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
        <p:nvSpPr>
          <p:cNvPr id="30" name="BADGE"/>
          <p:cNvSpPr/>
          <p:nvPr/>
        </p:nvSpPr>
        <p:spPr>
          <a:xfrm>
            <a:off x="8944921" y="5074920"/>
            <a:ext cx="2385559" cy="329184"/>
          </a:xfrm>
          <a:prstGeom prst="roundRect">
            <a:avLst>
              <a:gd name="adj" fmla="val 22222"/>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&gt; 分析质量要求 → 不通过</a:t>
            </a:r>
            <a:endParaRPr sz="1400" b="1">
              <a:solidFill>
                <a:srgbClr val="FFFFFF"/>
              </a:solidFill>
              <a:latin typeface="Arial" charset="0"/>
              <a:ea typeface="微软雅黑"/>
              <a:cs typeface="Arial" charset="0"/>
            </a:endParaRPr>
          </a:p>
        </p:txBody>
      </p:sp>
      <p:pic>
        <p:nvPicPr>
          <p:cNvPr id="31"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23</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89204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1.</a:t>
            </a:r>
            <a:r>
              <a:rPr sz="1800" b="1">
                <a:solidFill>
                  <a:srgbClr val="1F3A5F"/>
                </a:solidFill>
                <a:latin typeface="Arial" charset="0"/>
                <a:ea typeface="微软雅黑"/>
                <a:cs typeface="Arial" charset="0"/>
              </a:rPr>
              <a:t>估计检测结果的不精密度</a:t>
            </a:r>
            <a:endParaRPr sz="1800" b="1">
              <a:solidFill>
                <a:srgbClr val="1F3A5F"/>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依据长期室内质控结果估计检测结果的不精密度，</a:t>
            </a:r>
            <a:r>
              <a:rPr sz="1800" b="0">
                <a:solidFill>
                  <a:srgbClr val="222222"/>
                </a:solidFill>
                <a:latin typeface="Arial" charset="0"/>
                <a:ea typeface="微软雅黑"/>
                <a:cs typeface="Arial" charset="0"/>
              </a:rPr>
              <a:t>结果见表B.1</a:t>
            </a:r>
            <a:endParaRPr sz="1800" b="0">
              <a:solidFill>
                <a:srgbClr val="222222"/>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548640" y="2583688"/>
            <a:ext cx="6376492" cy="2703632"/>
          </a:xfrm>
          <a:prstGeom prst="roundRect">
            <a:avLst>
              <a:gd name="adj" fmla="val 2705"/>
            </a:avLst>
          </a:prstGeom>
          <a:ln w="9525">
            <a:solidFill>
              <a:srgbClr val="D5DAE0"/>
            </a:solidFill>
          </a:ln>
        </p:spPr>
      </p:pic>
      <p:grpSp>
        <p:nvGrpSpPr>
          <p:cNvPr id="9" name="BIGNUM"/>
          <p:cNvGrpSpPr/>
          <p:nvPr/>
        </p:nvGrpSpPr>
        <p:grpSpPr>
          <a:xfrm>
            <a:off x="7153732" y="1554480"/>
            <a:ext cx="4489323" cy="1000759"/>
            <a:chOff x="7153732" y="1554480"/>
            <a:chExt cx="4489323" cy="1000759"/>
          </a:xfrm>
        </p:grpSpPr>
        <p:sp>
          <p:nvSpPr>
            <p:cNvPr id="10" name="Rounded Rectangle 9"/>
            <p:cNvSpPr/>
            <p:nvPr/>
          </p:nvSpPr>
          <p:spPr>
            <a:xfrm>
              <a:off x="7153732" y="1554480"/>
              <a:ext cx="4489323" cy="1000759"/>
            </a:xfrm>
            <a:prstGeom prst="roundRect">
              <a:avLst>
                <a:gd name="adj" fmla="val 7309"/>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0892" y="1691639"/>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charset="0"/>
                  <a:ea typeface="微软雅黑"/>
                  <a:cs typeface="Arial" charset="0"/>
                </a:rPr>
                <a:t>47.6 / 120.8 U/L</a:t>
              </a:r>
              <a:endParaRPr sz="3200" b="1">
                <a:solidFill>
                  <a:srgbClr val="E8833A"/>
                </a:solidFill>
                <a:latin typeface="Arial" charset="0"/>
                <a:ea typeface="微软雅黑"/>
                <a:cs typeface="Arial" charset="0"/>
              </a:endParaRPr>
            </a:p>
          </p:txBody>
        </p:sp>
        <p:sp>
          <p:nvSpPr>
            <p:cNvPr id="12" name="TextBox 11"/>
            <p:cNvSpPr txBox="1"/>
            <p:nvPr/>
          </p:nvSpPr>
          <p:spPr>
            <a:xfrm>
              <a:off x="7290892" y="220471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m总（浓度水平1 / 水平2）</a:t>
              </a:r>
              <a:endParaRPr sz="1400" b="0">
                <a:solidFill>
                  <a:srgbClr val="222222"/>
                </a:solidFill>
                <a:latin typeface="Arial" charset="0"/>
                <a:ea typeface="微软雅黑"/>
                <a:cs typeface="Arial" charset="0"/>
              </a:endParaRPr>
            </a:p>
          </p:txBody>
        </p:sp>
      </p:grpSp>
      <p:grpSp>
        <p:nvGrpSpPr>
          <p:cNvPr id="13" name="BIGNUM"/>
          <p:cNvGrpSpPr/>
          <p:nvPr/>
        </p:nvGrpSpPr>
        <p:grpSpPr>
          <a:xfrm>
            <a:off x="7153732" y="2783840"/>
            <a:ext cx="4489323" cy="1238504"/>
            <a:chOff x="7153732" y="2783840"/>
            <a:chExt cx="4489323" cy="1238504"/>
          </a:xfrm>
        </p:grpSpPr>
        <p:sp>
          <p:nvSpPr>
            <p:cNvPr id="14" name="Rounded Rectangle 13"/>
            <p:cNvSpPr/>
            <p:nvPr/>
          </p:nvSpPr>
          <p:spPr>
            <a:xfrm>
              <a:off x="7153732" y="2783840"/>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0892" y="2921000"/>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charset="0"/>
                  <a:ea typeface="微软雅黑"/>
                  <a:cs typeface="Arial" charset="0"/>
                </a:rPr>
                <a:t>2.39% / 2.10%</a:t>
              </a:r>
              <a:endParaRPr sz="3200" b="1">
                <a:solidFill>
                  <a:srgbClr val="E8833A"/>
                </a:solidFill>
                <a:latin typeface="Arial" charset="0"/>
                <a:ea typeface="微软雅黑"/>
                <a:cs typeface="Arial" charset="0"/>
              </a:endParaRPr>
            </a:p>
          </p:txBody>
        </p:sp>
        <p:sp>
          <p:nvSpPr>
            <p:cNvPr id="16" name="TextBox 15"/>
            <p:cNvSpPr txBox="1"/>
            <p:nvPr/>
          </p:nvSpPr>
          <p:spPr>
            <a:xfrm>
              <a:off x="7290892" y="343407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CV合并（浓度水平1 / 水平2）</a:t>
              </a:r>
              <a:endParaRPr sz="1400" b="0">
                <a:solidFill>
                  <a:srgbClr val="222222"/>
                </a:solidFill>
                <a:latin typeface="Arial" charset="0"/>
                <a:ea typeface="微软雅黑"/>
                <a:cs typeface="Arial" charset="0"/>
              </a:endParaRPr>
            </a:p>
          </p:txBody>
        </p:sp>
        <p:sp>
          <p:nvSpPr>
            <p:cNvPr id="17" name="TextBox 16"/>
            <p:cNvSpPr txBox="1"/>
            <p:nvPr/>
          </p:nvSpPr>
          <p:spPr>
            <a:xfrm>
              <a:off x="7290892" y="3684016"/>
              <a:ext cx="42150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B.1.1</a:t>
              </a:r>
              <a:endParaRPr sz="1200" b="0">
                <a:solidFill>
                  <a:srgbClr val="148F8A"/>
                </a:solidFill>
                <a:latin typeface="Arial" charset="0"/>
                <a:ea typeface="微软雅黑"/>
                <a:cs typeface="Arial" charset="0"/>
              </a:endParaRPr>
            </a:p>
          </p:txBody>
        </p:sp>
      </p:grpSp>
      <p:pic>
        <p:nvPicPr>
          <p:cNvPr id="18" name="NEWIMG" descr="34_1.png"/>
          <p:cNvPicPr>
            <a:picLocks noChangeAspect="1"/>
          </p:cNvPicPr>
          <p:nvPr/>
        </p:nvPicPr>
        <p:blipFill>
          <a:blip r:embed="rId2"/>
          <a:stretch>
            <a:fillRect/>
          </a:stretch>
        </p:blipFill>
        <p:spPr>
          <a:xfrm>
            <a:off x="7153732" y="4250944"/>
            <a:ext cx="1098296" cy="1098296"/>
          </a:xfrm>
          <a:prstGeom prst="roundRect">
            <a:avLst>
              <a:gd name="adj" fmla="val 6660"/>
            </a:avLst>
          </a:prstGeom>
        </p:spPr>
      </p:pic>
      <p:sp>
        <p:nvSpPr>
          <p:cNvPr id="19" name="TextBox 18"/>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示例图：两台同型号分析仪</a:t>
            </a:r>
            <a:endParaRPr sz="1200" b="0">
              <a:solidFill>
                <a:srgbClr val="6B7280"/>
              </a:solidFill>
              <a:latin typeface="Arial" charset="0"/>
              <a:ea typeface="微软雅黑"/>
              <a:cs typeface="Arial" charset="0"/>
            </a:endParaRPr>
          </a:p>
        </p:txBody>
      </p:sp>
      <p:pic>
        <p:nvPicPr>
          <p:cNvPr id="20"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24</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2.</a:t>
            </a:r>
            <a:r>
              <a:rPr sz="1800" b="1">
                <a:solidFill>
                  <a:srgbClr val="1F3A5F"/>
                </a:solidFill>
                <a:latin typeface="Arial" charset="0"/>
                <a:ea typeface="微软雅黑"/>
                <a:cs typeface="Arial" charset="0"/>
              </a:rPr>
              <a:t>确定比对样本浓度</a:t>
            </a:r>
            <a:endParaRPr sz="18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548640" y="1938528"/>
            <a:ext cx="6376492" cy="1065180"/>
          </a:xfrm>
          <a:prstGeom prst="roundRect">
            <a:avLst>
              <a:gd name="adj" fmla="val 6867"/>
            </a:avLst>
          </a:prstGeom>
          <a:ln w="9525">
            <a:solidFill>
              <a:srgbClr val="D5DAE0"/>
            </a:solidFill>
          </a:ln>
        </p:spPr>
      </p:pic>
      <p:sp>
        <p:nvSpPr>
          <p:cNvPr id="9" name="TextBox 8"/>
          <p:cNvSpPr txBox="1"/>
          <p:nvPr/>
        </p:nvSpPr>
        <p:spPr>
          <a:xfrm>
            <a:off x="548640" y="3140868"/>
            <a:ext cx="6376492" cy="5669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3.比对试验的结果可接受标准</a:t>
            </a:r>
            <a:endParaRPr sz="1800" b="1">
              <a:solidFill>
                <a:srgbClr val="1F3A5F"/>
              </a:solidFill>
              <a:latin typeface="Arial" charset="0"/>
              <a:ea typeface="微软雅黑"/>
              <a:cs typeface="Arial" charset="0"/>
            </a:endParaRPr>
          </a:p>
        </p:txBody>
      </p:sp>
      <p:pic>
        <p:nvPicPr>
          <p:cNvPr id="10" name="ORIGPIC" descr="image.jpeg"/>
          <p:cNvPicPr>
            <a:picLocks noChangeAspect="1"/>
          </p:cNvPicPr>
          <p:nvPr/>
        </p:nvPicPr>
        <p:blipFill>
          <a:blip r:embed="rId2"/>
          <a:srcRect/>
          <a:stretch>
            <a:fillRect/>
          </a:stretch>
        </p:blipFill>
        <p:spPr>
          <a:xfrm>
            <a:off x="548640" y="3799236"/>
            <a:ext cx="6189577" cy="666611"/>
          </a:xfrm>
          <a:prstGeom prst="roundRect">
            <a:avLst>
              <a:gd name="adj" fmla="val 10973"/>
            </a:avLst>
          </a:prstGeom>
          <a:ln w="9525">
            <a:solidFill>
              <a:srgbClr val="D5DAE0"/>
            </a:solidFill>
          </a:ln>
        </p:spPr>
      </p:pic>
      <p:grpSp>
        <p:nvGrpSpPr>
          <p:cNvPr id="11" name="BAND"/>
          <p:cNvGrpSpPr/>
          <p:nvPr/>
        </p:nvGrpSpPr>
        <p:grpSpPr>
          <a:xfrm>
            <a:off x="7153732" y="1554480"/>
            <a:ext cx="4489323" cy="676656"/>
            <a:chOff x="7153732" y="1554480"/>
            <a:chExt cx="4489323" cy="676656"/>
          </a:xfrm>
        </p:grpSpPr>
        <p:sp>
          <p:nvSpPr>
            <p:cNvPr id="12" name="Rounded Rectangle 11"/>
            <p:cNvSpPr/>
            <p:nvPr/>
          </p:nvSpPr>
          <p:spPr>
            <a:xfrm>
              <a:off x="7153732" y="1554480"/>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3460" y="1609344"/>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水平1</a:t>
              </a:r>
              <a:endParaRPr sz="1400" b="1">
                <a:solidFill>
                  <a:srgbClr val="1F3A5F"/>
                </a:solidFill>
                <a:latin typeface="Arial" charset="0"/>
                <a:ea typeface="微软雅黑"/>
                <a:cs typeface="Arial" charset="0"/>
              </a:endParaRPr>
            </a:p>
          </p:txBody>
        </p:sp>
        <p:sp>
          <p:nvSpPr>
            <p:cNvPr id="14" name="Rounded Rectangle 13"/>
            <p:cNvSpPr/>
            <p:nvPr/>
          </p:nvSpPr>
          <p:spPr>
            <a:xfrm>
              <a:off x="8068132" y="1700784"/>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LINE"/>
            <p:cNvCxnSpPr/>
            <p:nvPr/>
          </p:nvCxnSpPr>
          <p:spPr>
            <a:xfrm>
              <a:off x="9764153" y="1645920"/>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39532" y="1938528"/>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charset="0"/>
                  <a:ea typeface="微软雅黑"/>
                  <a:cs typeface="Arial" charset="0"/>
                </a:rPr>
                <a:t>38.1</a:t>
              </a:r>
              <a:endParaRPr sz="1200" b="0">
                <a:solidFill>
                  <a:srgbClr val="148F8A"/>
                </a:solidFill>
                <a:latin typeface="Arial" charset="0"/>
                <a:ea typeface="微软雅黑"/>
                <a:cs typeface="Arial" charset="0"/>
              </a:endParaRPr>
            </a:p>
          </p:txBody>
        </p:sp>
        <p:sp>
          <p:nvSpPr>
            <p:cNvPr id="17" name="TextBox 16"/>
            <p:cNvSpPr txBox="1"/>
            <p:nvPr/>
          </p:nvSpPr>
          <p:spPr>
            <a:xfrm>
              <a:off x="9306953" y="1938528"/>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charset="0"/>
                  <a:ea typeface="微软雅黑"/>
                  <a:cs typeface="Arial" charset="0"/>
                </a:rPr>
                <a:t>47.6</a:t>
              </a:r>
              <a:endParaRPr sz="1200" b="1">
                <a:solidFill>
                  <a:srgbClr val="E8833A"/>
                </a:solidFill>
                <a:latin typeface="Arial" charset="0"/>
                <a:ea typeface="微软雅黑"/>
                <a:cs typeface="Arial" charset="0"/>
              </a:endParaRPr>
            </a:p>
          </p:txBody>
        </p:sp>
        <p:sp>
          <p:nvSpPr>
            <p:cNvPr id="18" name="TextBox 17"/>
            <p:cNvSpPr txBox="1"/>
            <p:nvPr/>
          </p:nvSpPr>
          <p:spPr>
            <a:xfrm>
              <a:off x="10682935" y="1938528"/>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charset="0"/>
                  <a:ea typeface="微软雅黑"/>
                  <a:cs typeface="Arial" charset="0"/>
                </a:rPr>
                <a:t>57.1 U/L</a:t>
              </a:r>
              <a:endParaRPr sz="1200" b="0">
                <a:solidFill>
                  <a:srgbClr val="148F8A"/>
                </a:solidFill>
                <a:latin typeface="Arial" charset="0"/>
                <a:ea typeface="微软雅黑"/>
                <a:cs typeface="Arial" charset="0"/>
              </a:endParaRPr>
            </a:p>
          </p:txBody>
        </p:sp>
      </p:grpSp>
      <p:grpSp>
        <p:nvGrpSpPr>
          <p:cNvPr id="19" name="BAND"/>
          <p:cNvGrpSpPr/>
          <p:nvPr/>
        </p:nvGrpSpPr>
        <p:grpSpPr>
          <a:xfrm>
            <a:off x="7153732" y="2322576"/>
            <a:ext cx="4489323" cy="676656"/>
            <a:chOff x="7153732" y="2322576"/>
            <a:chExt cx="4489323" cy="676656"/>
          </a:xfrm>
        </p:grpSpPr>
        <p:sp>
          <p:nvSpPr>
            <p:cNvPr id="20" name="Rounded Rectangle 19"/>
            <p:cNvSpPr/>
            <p:nvPr/>
          </p:nvSpPr>
          <p:spPr>
            <a:xfrm>
              <a:off x="7153732" y="2322576"/>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3460" y="2377440"/>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水平2</a:t>
              </a:r>
              <a:endParaRPr sz="1400" b="1">
                <a:solidFill>
                  <a:srgbClr val="1F3A5F"/>
                </a:solidFill>
                <a:latin typeface="Arial" charset="0"/>
                <a:ea typeface="微软雅黑"/>
                <a:cs typeface="Arial" charset="0"/>
              </a:endParaRPr>
            </a:p>
          </p:txBody>
        </p:sp>
        <p:sp>
          <p:nvSpPr>
            <p:cNvPr id="22" name="Rounded Rectangle 21"/>
            <p:cNvSpPr/>
            <p:nvPr/>
          </p:nvSpPr>
          <p:spPr>
            <a:xfrm>
              <a:off x="8068132" y="2468880"/>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INE"/>
            <p:cNvCxnSpPr/>
            <p:nvPr/>
          </p:nvCxnSpPr>
          <p:spPr>
            <a:xfrm>
              <a:off x="9764153" y="2414016"/>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532" y="2706624"/>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charset="0"/>
                  <a:ea typeface="微软雅黑"/>
                  <a:cs typeface="Arial" charset="0"/>
                </a:rPr>
                <a:t>96.6</a:t>
              </a:r>
              <a:endParaRPr sz="1200" b="0">
                <a:solidFill>
                  <a:srgbClr val="148F8A"/>
                </a:solidFill>
                <a:latin typeface="Arial" charset="0"/>
                <a:ea typeface="微软雅黑"/>
                <a:cs typeface="Arial" charset="0"/>
              </a:endParaRPr>
            </a:p>
          </p:txBody>
        </p:sp>
        <p:sp>
          <p:nvSpPr>
            <p:cNvPr id="25" name="TextBox 24"/>
            <p:cNvSpPr txBox="1"/>
            <p:nvPr/>
          </p:nvSpPr>
          <p:spPr>
            <a:xfrm>
              <a:off x="9306953" y="2706624"/>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charset="0"/>
                  <a:ea typeface="微软雅黑"/>
                  <a:cs typeface="Arial" charset="0"/>
                </a:rPr>
                <a:t>120.8</a:t>
              </a:r>
              <a:endParaRPr sz="1200" b="1">
                <a:solidFill>
                  <a:srgbClr val="E8833A"/>
                </a:solidFill>
                <a:latin typeface="Arial" charset="0"/>
                <a:ea typeface="微软雅黑"/>
                <a:cs typeface="Arial" charset="0"/>
              </a:endParaRPr>
            </a:p>
          </p:txBody>
        </p:sp>
        <p:sp>
          <p:nvSpPr>
            <p:cNvPr id="26" name="TextBox 25"/>
            <p:cNvSpPr txBox="1"/>
            <p:nvPr/>
          </p:nvSpPr>
          <p:spPr>
            <a:xfrm>
              <a:off x="10682935" y="2706624"/>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charset="0"/>
                  <a:ea typeface="微软雅黑"/>
                  <a:cs typeface="Arial" charset="0"/>
                </a:rPr>
                <a:t>145.0 U/L</a:t>
              </a:r>
              <a:endParaRPr sz="1200" b="0">
                <a:solidFill>
                  <a:srgbClr val="148F8A"/>
                </a:solidFill>
                <a:latin typeface="Arial" charset="0"/>
                <a:ea typeface="微软雅黑"/>
                <a:cs typeface="Arial" charset="0"/>
              </a:endParaRPr>
            </a:p>
          </p:txBody>
        </p:sp>
      </p:grpSp>
      <p:grpSp>
        <p:nvGrpSpPr>
          <p:cNvPr id="27" name="BIGNUM"/>
          <p:cNvGrpSpPr/>
          <p:nvPr/>
        </p:nvGrpSpPr>
        <p:grpSpPr>
          <a:xfrm>
            <a:off x="7153732" y="3227832"/>
            <a:ext cx="4489323" cy="1238504"/>
            <a:chOff x="7153732" y="3227832"/>
            <a:chExt cx="4489323" cy="1238504"/>
          </a:xfrm>
        </p:grpSpPr>
        <p:sp>
          <p:nvSpPr>
            <p:cNvPr id="28" name="Rounded Rectangle 27"/>
            <p:cNvSpPr/>
            <p:nvPr/>
          </p:nvSpPr>
          <p:spPr>
            <a:xfrm>
              <a:off x="7153732" y="3227832"/>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0892" y="3364991"/>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charset="0"/>
                  <a:ea typeface="微软雅黑"/>
                  <a:cs typeface="Arial" charset="0"/>
                </a:rPr>
                <a:t>6% = CVI 18.0% × 1/3</a:t>
              </a:r>
              <a:endParaRPr sz="3200" b="1">
                <a:solidFill>
                  <a:srgbClr val="E8833A"/>
                </a:solidFill>
                <a:latin typeface="Arial" charset="0"/>
                <a:ea typeface="微软雅黑"/>
                <a:cs typeface="Arial" charset="0"/>
              </a:endParaRPr>
            </a:p>
          </p:txBody>
        </p:sp>
        <p:sp>
          <p:nvSpPr>
            <p:cNvPr id="30" name="TextBox 29"/>
            <p:cNvSpPr txBox="1"/>
            <p:nvPr/>
          </p:nvSpPr>
          <p:spPr>
            <a:xfrm>
              <a:off x="7290892" y="3878071"/>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分析质量要求</a:t>
              </a:r>
              <a:endParaRPr sz="1400" b="0">
                <a:solidFill>
                  <a:srgbClr val="222222"/>
                </a:solidFill>
                <a:latin typeface="Arial" charset="0"/>
                <a:ea typeface="微软雅黑"/>
                <a:cs typeface="Arial" charset="0"/>
              </a:endParaRPr>
            </a:p>
          </p:txBody>
        </p:sp>
        <p:sp>
          <p:nvSpPr>
            <p:cNvPr id="31" name="TextBox 30"/>
            <p:cNvSpPr txBox="1"/>
            <p:nvPr/>
          </p:nvSpPr>
          <p:spPr>
            <a:xfrm>
              <a:off x="7290892" y="4128007"/>
              <a:ext cx="42150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B.1.2–B.1.3</a:t>
              </a:r>
              <a:endParaRPr sz="1200" b="0">
                <a:solidFill>
                  <a:srgbClr val="148F8A"/>
                </a:solidFill>
                <a:latin typeface="Arial" charset="0"/>
                <a:ea typeface="微软雅黑"/>
                <a:cs typeface="Arial" charset="0"/>
              </a:endParaRPr>
            </a:p>
          </p:txBody>
        </p:sp>
      </p:grpSp>
      <p:pic>
        <p:nvPicPr>
          <p:cNvPr id="32" name="NEWIMG" descr="35_1.png"/>
          <p:cNvPicPr>
            <a:picLocks noChangeAspect="1"/>
          </p:cNvPicPr>
          <p:nvPr/>
        </p:nvPicPr>
        <p:blipFill>
          <a:blip r:embed="rId3"/>
          <a:stretch>
            <a:fillRect/>
          </a:stretch>
        </p:blipFill>
        <p:spPr>
          <a:xfrm>
            <a:off x="7153732" y="4694936"/>
            <a:ext cx="654304" cy="654304"/>
          </a:xfrm>
          <a:prstGeom prst="roundRect">
            <a:avLst>
              <a:gd name="adj" fmla="val 11180"/>
            </a:avLst>
          </a:prstGeom>
        </p:spPr>
      </p:pic>
      <p:sp>
        <p:nvSpPr>
          <p:cNvPr id="33" name="TextBox 32"/>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示例图：±20% 浓度带</a:t>
            </a:r>
            <a:endParaRPr sz="1200" b="0">
              <a:solidFill>
                <a:srgbClr val="6B7280"/>
              </a:solidFill>
              <a:latin typeface="Arial" charset="0"/>
              <a:ea typeface="微软雅黑"/>
              <a:cs typeface="Arial" charset="0"/>
            </a:endParaRPr>
          </a:p>
        </p:txBody>
      </p:sp>
      <p:pic>
        <p:nvPicPr>
          <p:cNvPr id="34" name="LOGO" descr="logo_940.png"/>
          <p:cNvPicPr>
            <a:picLocks noChangeAspect="1"/>
          </p:cNvPicPr>
          <p:nvPr/>
        </p:nvPicPr>
        <p:blipFill>
          <a:blip r:embed="rId5"/>
          <a:stretch>
            <a:fillRect/>
          </a:stretch>
        </p:blipFill>
        <p:spPr>
          <a:xfrm>
            <a:off x="548640" y="6249924"/>
            <a:ext cx="310896"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25</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4.</a:t>
            </a:r>
            <a:r>
              <a:rPr sz="1800" b="1">
                <a:solidFill>
                  <a:srgbClr val="1F3A5F"/>
                </a:solidFill>
                <a:latin typeface="Arial" charset="0"/>
                <a:ea typeface="微软雅黑"/>
                <a:cs typeface="Arial" charset="0"/>
              </a:rPr>
              <a:t>确定每份样本的重复检测次数</a:t>
            </a:r>
            <a:endParaRPr sz="18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548640" y="1956816"/>
            <a:ext cx="6376492" cy="982948"/>
          </a:xfrm>
          <a:prstGeom prst="roundRect">
            <a:avLst>
              <a:gd name="adj" fmla="val 7442"/>
            </a:avLst>
          </a:prstGeom>
          <a:ln w="9525">
            <a:solidFill>
              <a:srgbClr val="D5DAE0"/>
            </a:solidFill>
          </a:ln>
        </p:spPr>
      </p:pic>
      <p:pic>
        <p:nvPicPr>
          <p:cNvPr id="9" name="ORIGPIC" descr="image.jpeg"/>
          <p:cNvPicPr>
            <a:picLocks noChangeAspect="1"/>
          </p:cNvPicPr>
          <p:nvPr/>
        </p:nvPicPr>
        <p:blipFill>
          <a:blip r:embed="rId2"/>
          <a:srcRect/>
          <a:stretch>
            <a:fillRect/>
          </a:stretch>
        </p:blipFill>
        <p:spPr>
          <a:xfrm>
            <a:off x="548640" y="3076924"/>
            <a:ext cx="5780186" cy="1778129"/>
          </a:xfrm>
          <a:prstGeom prst="roundRect">
            <a:avLst>
              <a:gd name="adj" fmla="val 4113"/>
            </a:avLst>
          </a:prstGeom>
          <a:ln w="28575">
            <a:solidFill>
              <a:srgbClr val="E8833A"/>
            </a:solidFill>
          </a:ln>
        </p:spPr>
      </p:pic>
      <p:grpSp>
        <p:nvGrpSpPr>
          <p:cNvPr id="10" name="BIGNUM"/>
          <p:cNvGrpSpPr/>
          <p:nvPr/>
        </p:nvGrpSpPr>
        <p:grpSpPr>
          <a:xfrm>
            <a:off x="7153732" y="1554480"/>
            <a:ext cx="4489323" cy="1355344"/>
            <a:chOff x="7153732" y="1554480"/>
            <a:chExt cx="4489323" cy="1355344"/>
          </a:xfrm>
        </p:grpSpPr>
        <p:sp>
          <p:nvSpPr>
            <p:cNvPr id="11" name="Rounded Rectangle 10"/>
            <p:cNvSpPr/>
            <p:nvPr/>
          </p:nvSpPr>
          <p:spPr>
            <a:xfrm>
              <a:off x="7153732" y="1554480"/>
              <a:ext cx="4489323" cy="1355344"/>
            </a:xfrm>
            <a:prstGeom prst="roundRect">
              <a:avLst>
                <a:gd name="adj" fmla="val 5397"/>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90892" y="1691639"/>
              <a:ext cx="4215003" cy="602488"/>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E8833A"/>
                  </a:solidFill>
                  <a:latin typeface="Arial" charset="0"/>
                  <a:ea typeface="微软雅黑"/>
                  <a:cs typeface="Arial" charset="0"/>
                </a:rPr>
                <a:t>n = 3</a:t>
              </a:r>
              <a:endParaRPr sz="4000" b="1">
                <a:solidFill>
                  <a:srgbClr val="E8833A"/>
                </a:solidFill>
                <a:latin typeface="Arial" charset="0"/>
                <a:ea typeface="微软雅黑"/>
                <a:cs typeface="Arial" charset="0"/>
              </a:endParaRPr>
            </a:p>
          </p:txBody>
        </p:sp>
        <p:sp>
          <p:nvSpPr>
            <p:cNvPr id="13" name="TextBox 12"/>
            <p:cNvSpPr txBox="1"/>
            <p:nvPr/>
          </p:nvSpPr>
          <p:spPr>
            <a:xfrm>
              <a:off x="7290892" y="2321560"/>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每份样本的重复检测次数</a:t>
              </a:r>
              <a:endParaRPr sz="1400" b="0">
                <a:solidFill>
                  <a:srgbClr val="222222"/>
                </a:solidFill>
                <a:latin typeface="Arial" charset="0"/>
                <a:ea typeface="微软雅黑"/>
                <a:cs typeface="Arial" charset="0"/>
              </a:endParaRPr>
            </a:p>
          </p:txBody>
        </p:sp>
        <p:sp>
          <p:nvSpPr>
            <p:cNvPr id="14" name="TextBox 13"/>
            <p:cNvSpPr txBox="1"/>
            <p:nvPr/>
          </p:nvSpPr>
          <p:spPr>
            <a:xfrm>
              <a:off x="7290892" y="2571496"/>
              <a:ext cx="42150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B.1.4</a:t>
              </a:r>
              <a:endParaRPr sz="1200" b="0">
                <a:solidFill>
                  <a:srgbClr val="148F8A"/>
                </a:solidFill>
                <a:latin typeface="Arial" charset="0"/>
                <a:ea typeface="微软雅黑"/>
                <a:cs typeface="Arial" charset="0"/>
              </a:endParaRPr>
            </a:p>
          </p:txBody>
        </p:sp>
      </p:grpSp>
      <p:sp>
        <p:nvSpPr>
          <p:cNvPr id="15" name="TextBox 14"/>
          <p:cNvSpPr txBox="1"/>
          <p:nvPr/>
        </p:nvSpPr>
        <p:spPr>
          <a:xfrm>
            <a:off x="1600200" y="5266533"/>
            <a:ext cx="5324932" cy="384048"/>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E8833A"/>
                </a:solidFill>
                <a:latin typeface="Arial" charset="0"/>
                <a:ea typeface="微软雅黑"/>
                <a:cs typeface="Arial" charset="0"/>
              </a:rPr>
              <a:t>表中“2系统/3次/CV 1%”=2.67，与同行其他列不一致，按公式应为2.27；不影响本例结论</a:t>
            </a:r>
            <a:endParaRPr sz="1200" b="0">
              <a:solidFill>
                <a:srgbClr val="E8833A"/>
              </a:solidFill>
              <a:latin typeface="Arial" charset="0"/>
              <a:ea typeface="微软雅黑"/>
              <a:cs typeface="Arial" charset="0"/>
            </a:endParaRPr>
          </a:p>
        </p:txBody>
      </p:sp>
      <p:pic>
        <p:nvPicPr>
          <p:cNvPr id="16" name="NEWIMG" descr="36_1.png"/>
          <p:cNvPicPr>
            <a:picLocks noChangeAspect="1"/>
          </p:cNvPicPr>
          <p:nvPr/>
        </p:nvPicPr>
        <p:blipFill>
          <a:blip r:embed="rId3"/>
          <a:stretch>
            <a:fillRect/>
          </a:stretch>
        </p:blipFill>
        <p:spPr>
          <a:xfrm>
            <a:off x="548640" y="4992213"/>
            <a:ext cx="914400" cy="914400"/>
          </a:xfrm>
          <a:prstGeom prst="roundRect">
            <a:avLst>
              <a:gd name="adj" fmla="val 4329"/>
            </a:avLst>
          </a:prstGeom>
        </p:spPr>
      </p:pic>
      <p:sp>
        <p:nvSpPr>
          <p:cNvPr id="17" name="TextBox 16"/>
          <p:cNvSpPr txBox="1"/>
          <p:nvPr/>
        </p:nvSpPr>
        <p:spPr>
          <a:xfrm>
            <a:off x="1600200" y="4992213"/>
            <a:ext cx="5324932"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示例图：每份样本重复测定3次</a:t>
            </a:r>
            <a:endParaRPr sz="1200" b="0">
              <a:solidFill>
                <a:srgbClr val="6B7280"/>
              </a:solidFill>
              <a:latin typeface="Arial" charset="0"/>
              <a:ea typeface="微软雅黑"/>
              <a:cs typeface="Arial" charset="0"/>
            </a:endParaRPr>
          </a:p>
        </p:txBody>
      </p:sp>
      <p:pic>
        <p:nvPicPr>
          <p:cNvPr id="18" name="LOGO" descr="logo_940.png"/>
          <p:cNvPicPr>
            <a:picLocks noChangeAspect="1"/>
          </p:cNvPicPr>
          <p:nvPr/>
        </p:nvPicPr>
        <p:blipFill>
          <a:blip r:embed="rId5"/>
          <a:stretch>
            <a:fillRect/>
          </a:stretch>
        </p:blipFill>
        <p:spPr>
          <a:xfrm>
            <a:off x="548640" y="6249924"/>
            <a:ext cx="310896" cy="310896"/>
          </a:xfrm>
          <a:prstGeom prst="rect">
            <a:avLst/>
          </a:prstGeom>
        </p:spPr>
      </p:pic>
      <p:sp>
        <p:nvSpPr>
          <p:cNvPr id="19" name="BADGE"/>
          <p:cNvSpPr/>
          <p:nvPr/>
        </p:nvSpPr>
        <p:spPr>
          <a:xfrm>
            <a:off x="7153732" y="3046984"/>
            <a:ext cx="3646953"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表A.1 临界值表（部分）· 橙框＝表B.2 全部数值</a:t>
            </a:r>
          </a:p>
        </p:txBody>
      </p:sp>
      <p:graphicFrame>
        <p:nvGraphicFramePr>
          <p:cNvPr id="20" name="TABLE"/>
          <p:cNvGraphicFramePr>
            <a:graphicFrameLocks noGrp="1"/>
          </p:cNvGraphicFramePr>
          <p:nvPr/>
        </p:nvGraphicFramePr>
        <p:xfrm>
          <a:off x="7153732" y="3394456"/>
          <a:ext cx="4489320" cy="2190496"/>
        </p:xfrm>
        <a:graphic>
          <a:graphicData uri="http://schemas.openxmlformats.org/drawingml/2006/table">
            <a:tbl>
              <a:tblPr firstRow="1" bandRow="0">
                <a:tableStyleId>{5940675A-B579-460E-94D1-54222C63F5DA}</a:tableStyleId>
              </a:tblPr>
              <a:tblGrid>
                <a:gridCol w="603504"/>
                <a:gridCol w="457200"/>
                <a:gridCol w="571436"/>
                <a:gridCol w="571436"/>
                <a:gridCol w="571436"/>
                <a:gridCol w="571436"/>
                <a:gridCol w="571436"/>
                <a:gridCol w="571436"/>
              </a:tblGrid>
              <a:tr h="465328">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系统数</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次数</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1%</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2%</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3%</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4%</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5%</a:t>
                      </a:r>
                    </a:p>
                  </a:txBody>
                  <a:tcPr marL="27432" marR="27432" marT="54864" marB="54864" anchor="ctr">
                    <a:solidFill>
                      <a:srgbClr val="148F8A"/>
                    </a:solidFill>
                  </a:tcPr>
                </a:tc>
                <a:tc>
                  <a:txBody>
                    <a:bodyPr wrap="square"/>
                    <a:lstStyle/>
                    <a:p>
                      <a:pPr algn="l">
                        <a:lnSpc>
                          <a:spcPts val="1400"/>
                        </a:lnSpc>
                        <a:spcBef>
                          <a:spcPts val="0"/>
                        </a:spcBef>
                        <a:spcAft>
                          <a:spcPts val="0"/>
                        </a:spcAft>
                        <a:buNone/>
                      </a:pPr>
                      <a:r>
                        <a:rPr sz="1400" b="1">
                          <a:solidFill>
                            <a:srgbClr val="FFFFFF"/>
                          </a:solidFill>
                          <a:latin typeface="Arial"/>
                          <a:ea typeface="微软雅黑"/>
                          <a:cs typeface="Arial"/>
                        </a:rPr>
                        <a:t>6%</a:t>
                      </a:r>
                    </a:p>
                  </a:txBody>
                  <a:tcPr marL="27432" marR="27432" marT="54864" marB="54864" anchor="ctr">
                    <a:solidFill>
                      <a:srgbClr val="148F8A"/>
                    </a:solidFill>
                  </a:tcPr>
                </a:tc>
              </a:tr>
              <a:tr h="287528">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a:t>
                      </a:r>
                    </a:p>
                  </a:txBody>
                  <a:tcPr marL="27432" marR="27432" marT="54864" marB="54864" anchor="ctr">
                    <a:solidFill>
                      <a:srgbClr val="F3F5F7"/>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4.30</a:t>
                      </a:r>
                    </a:p>
                  </a:txBody>
                  <a:tcPr marL="27432" marR="27432" marT="54864" marB="54864" anchor="ctr">
                    <a:lnL w="28575" cmpd="sng">
                      <a:solidFill>
                        <a:srgbClr val="E8833A"/>
                      </a:solidFill>
                    </a:lnL>
                    <a:lnT w="28575" cmpd="sng">
                      <a:solidFill>
                        <a:srgbClr val="E8833A"/>
                      </a:solidFill>
                    </a:lnT>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8.60</a:t>
                      </a:r>
                    </a:p>
                  </a:txBody>
                  <a:tcPr marL="27432" marR="27432" marT="54864" marB="54864" anchor="ctr">
                    <a:lnT w="28575" cmpd="sng">
                      <a:solidFill>
                        <a:srgbClr val="E8833A"/>
                      </a:solidFill>
                    </a:lnT>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12.90</a:t>
                      </a:r>
                    </a:p>
                  </a:txBody>
                  <a:tcPr marL="27432" marR="27432" marT="54864" marB="54864" anchor="ctr">
                    <a:lnT w="28575" cmpd="sng">
                      <a:solidFill>
                        <a:srgbClr val="E8833A"/>
                      </a:solidFill>
                    </a:lnT>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17.20</a:t>
                      </a:r>
                    </a:p>
                  </a:txBody>
                  <a:tcPr marL="27432" marR="27432" marT="54864" marB="54864" anchor="ctr">
                    <a:lnR w="28575" cmpd="sng">
                      <a:solidFill>
                        <a:srgbClr val="E8833A"/>
                      </a:solidFill>
                    </a:lnR>
                    <a:lnT w="28575" cmpd="sng">
                      <a:solidFill>
                        <a:srgbClr val="E8833A"/>
                      </a:solidFill>
                    </a:lnT>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21.49</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25.79</a:t>
                      </a:r>
                    </a:p>
                  </a:txBody>
                  <a:tcPr marL="27432" marR="27432" marT="54864" marB="54864" anchor="ctr">
                    <a:solidFill>
                      <a:srgbClr val="FFFFFF"/>
                    </a:solidFill>
                  </a:tcPr>
                </a:tc>
              </a:tr>
              <a:tr h="287528">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a:t>
                      </a:r>
                    </a:p>
                  </a:txBody>
                  <a:tcPr marL="27432" marR="27432" marT="54864" marB="54864" anchor="ctr">
                    <a:solidFill>
                      <a:srgbClr val="F3F5F7"/>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3</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2.67</a:t>
                      </a:r>
                    </a:p>
                  </a:txBody>
                  <a:tcPr marL="27432" marR="27432" marT="54864" marB="54864" anchor="ctr">
                    <a:lnL w="28575" cmpd="sng">
                      <a:solidFill>
                        <a:srgbClr val="E8833A"/>
                      </a:solidFill>
                    </a:lnL>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4.53</a:t>
                      </a:r>
                    </a:p>
                  </a:txBody>
                  <a:tcPr marL="27432" marR="27432" marT="54864" marB="54864" anchor="ctr">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6.80</a:t>
                      </a:r>
                    </a:p>
                  </a:txBody>
                  <a:tcPr marL="27432" marR="27432" marT="54864" marB="54864" anchor="ctr">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9.07</a:t>
                      </a:r>
                    </a:p>
                  </a:txBody>
                  <a:tcPr marL="27432" marR="27432" marT="54864" marB="54864" anchor="ctr">
                    <a:lnR w="28575" cmpd="sng">
                      <a:solidFill>
                        <a:srgbClr val="E8833A"/>
                      </a:solidFill>
                    </a:lnR>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11.33</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13.60</a:t>
                      </a:r>
                    </a:p>
                  </a:txBody>
                  <a:tcPr marL="27432" marR="27432" marT="54864" marB="54864" anchor="ctr">
                    <a:solidFill>
                      <a:srgbClr val="FFFFFF"/>
                    </a:solidFill>
                  </a:tcPr>
                </a:tc>
              </a:tr>
              <a:tr h="287528">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a:t>
                      </a:r>
                    </a:p>
                  </a:txBody>
                  <a:tcPr marL="27432" marR="27432" marT="54864" marB="54864" anchor="ctr">
                    <a:solidFill>
                      <a:srgbClr val="F3F5F7"/>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4</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1.73</a:t>
                      </a:r>
                    </a:p>
                  </a:txBody>
                  <a:tcPr marL="27432" marR="27432" marT="54864" marB="54864" anchor="ctr">
                    <a:lnL w="28575" cmpd="sng">
                      <a:solidFill>
                        <a:srgbClr val="E8833A"/>
                      </a:solidFill>
                    </a:lnL>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3.46</a:t>
                      </a:r>
                    </a:p>
                  </a:txBody>
                  <a:tcPr marL="27432" marR="27432" marT="54864" marB="54864" anchor="ctr">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5.19</a:t>
                      </a:r>
                    </a:p>
                  </a:txBody>
                  <a:tcPr marL="27432" marR="27432" marT="54864" marB="54864" anchor="ctr">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6.92</a:t>
                      </a:r>
                    </a:p>
                  </a:txBody>
                  <a:tcPr marL="27432" marR="27432" marT="54864" marB="54864" anchor="ctr">
                    <a:lnR w="28575" cmpd="sng">
                      <a:solidFill>
                        <a:srgbClr val="E8833A"/>
                      </a:solidFill>
                    </a:lnR>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8.65</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10.38</a:t>
                      </a:r>
                    </a:p>
                  </a:txBody>
                  <a:tcPr marL="27432" marR="27432" marT="54864" marB="54864" anchor="ctr">
                    <a:solidFill>
                      <a:srgbClr val="FFFFFF"/>
                    </a:solidFill>
                  </a:tcPr>
                </a:tc>
              </a:tr>
              <a:tr h="287528">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a:t>
                      </a:r>
                    </a:p>
                  </a:txBody>
                  <a:tcPr marL="27432" marR="27432" marT="54864" marB="54864" anchor="ctr">
                    <a:solidFill>
                      <a:srgbClr val="F3F5F7"/>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5</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1.46</a:t>
                      </a:r>
                    </a:p>
                  </a:txBody>
                  <a:tcPr marL="27432" marR="27432" marT="54864" marB="54864" anchor="ctr">
                    <a:lnL w="28575" cmpd="sng">
                      <a:solidFill>
                        <a:srgbClr val="E8833A"/>
                      </a:solidFill>
                    </a:lnL>
                    <a:lnB w="28575" cmpd="sng">
                      <a:solidFill>
                        <a:srgbClr val="E8833A"/>
                      </a:solidFill>
                    </a:lnB>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2.92</a:t>
                      </a:r>
                    </a:p>
                  </a:txBody>
                  <a:tcPr marL="27432" marR="27432" marT="54864" marB="54864" anchor="ctr">
                    <a:lnB w="28575" cmpd="sng">
                      <a:solidFill>
                        <a:srgbClr val="E8833A"/>
                      </a:solidFill>
                    </a:lnB>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4.38</a:t>
                      </a:r>
                    </a:p>
                  </a:txBody>
                  <a:tcPr marL="27432" marR="27432" marT="54864" marB="54864" anchor="ctr">
                    <a:lnB w="28575" cmpd="sng">
                      <a:solidFill>
                        <a:srgbClr val="E8833A"/>
                      </a:solidFill>
                    </a:lnB>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5.83</a:t>
                      </a:r>
                    </a:p>
                  </a:txBody>
                  <a:tcPr marL="27432" marR="27432" marT="54864" marB="54864" anchor="ctr">
                    <a:lnR w="28575" cmpd="sng">
                      <a:solidFill>
                        <a:srgbClr val="E8833A"/>
                      </a:solidFill>
                    </a:lnR>
                    <a:lnB w="28575" cmpd="sng">
                      <a:solidFill>
                        <a:srgbClr val="E8833A"/>
                      </a:solidFill>
                    </a:lnB>
                    <a:solidFill>
                      <a:srgbClr val="FDF1E8"/>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7.29</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8.75</a:t>
                      </a:r>
                    </a:p>
                  </a:txBody>
                  <a:tcPr marL="27432" marR="27432" marT="54864" marB="54864" anchor="ctr">
                    <a:solidFill>
                      <a:srgbClr val="FFFFFF"/>
                    </a:solidFill>
                  </a:tcPr>
                </a:tc>
              </a:tr>
              <a:tr h="287528">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3</a:t>
                      </a:r>
                    </a:p>
                  </a:txBody>
                  <a:tcPr marL="27432" marR="27432" marT="54864" marB="54864" anchor="ctr">
                    <a:solidFill>
                      <a:srgbClr val="F3F5F7"/>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8.33</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16.66</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24.99</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33.32</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41.65</a:t>
                      </a:r>
                    </a:p>
                  </a:txBody>
                  <a:tcPr marL="27432" marR="27432" marT="54864" marB="54864" anchor="ctr">
                    <a:solidFill>
                      <a:srgbClr val="FFFFFF"/>
                    </a:solidFill>
                  </a:tcPr>
                </a:tc>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49.98</a:t>
                      </a:r>
                    </a:p>
                  </a:txBody>
                  <a:tcPr marL="27432" marR="27432" marT="54864" marB="54864" anchor="ctr">
                    <a:solidFill>
                      <a:srgbClr val="FFFFFF"/>
                    </a:solidFill>
                  </a:tcPr>
                </a:tc>
              </a:tr>
              <a:tr h="287528">
                <a:tc>
                  <a:txBody>
                    <a:bodyPr wrap="square"/>
                    <a:lstStyle/>
                    <a:p>
                      <a:pPr algn="l">
                        <a:lnSpc>
                          <a:spcPts val="1400"/>
                        </a:lnSpc>
                        <a:spcBef>
                          <a:spcPts val="0"/>
                        </a:spcBef>
                        <a:spcAft>
                          <a:spcPts val="0"/>
                        </a:spcAft>
                        <a:buNone/>
                      </a:pPr>
                      <a:r>
                        <a:rPr sz="1400" b="0">
                          <a:solidFill>
                            <a:srgbClr val="222222"/>
                          </a:solidFill>
                          <a:latin typeface="Arial"/>
                          <a:ea typeface="微软雅黑"/>
                          <a:cs typeface="Arial"/>
                        </a:rPr>
                        <a:t>……</a:t>
                      </a:r>
                    </a:p>
                  </a:txBody>
                  <a:tcPr marL="27432" marR="27432" marT="54864" marB="54864" anchor="ctr">
                    <a:solidFill>
                      <a:srgbClr val="F3F5F7"/>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c>
                  <a:txBody>
                    <a:bodyPr wrap="square"/>
                    <a:lstStyle/>
                    <a:p>
                      <a:pPr algn="l">
                        <a:lnSpc>
                          <a:spcPts val="1400"/>
                        </a:lnSpc>
                        <a:spcBef>
                          <a:spcPts val="0"/>
                        </a:spcBef>
                        <a:spcAft>
                          <a:spcPts val="0"/>
                        </a:spcAft>
                        <a:buNone/>
                      </a:pPr>
                    </a:p>
                  </a:txBody>
                  <a:tcPr marL="27432" marR="27432" marT="54864" marB="54864" anchor="ctr">
                    <a:solidFill>
                      <a:srgbClr val="FFFFFF"/>
                    </a:solidFill>
                  </a:tcPr>
                </a:tc>
              </a:tr>
            </a:tbl>
          </a:graphicData>
        </a:graphic>
      </p:graphicFrame>
      <p:cxnSp>
        <p:nvCxnSpPr>
          <p:cNvPr id="21" name="ARROW"/>
          <p:cNvCxnSpPr/>
          <p:nvPr/>
        </p:nvCxnSpPr>
        <p:spPr>
          <a:xfrm flipH="1" flipV="1">
            <a:off x="6347114" y="3965988"/>
            <a:ext cx="806618" cy="468852"/>
          </a:xfrm>
          <a:prstGeom prst="bentConnector3">
            <a:avLst/>
          </a:prstGeom>
          <a:ln w="3175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26</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277368"/>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1F3A5F"/>
                </a:solidFill>
                <a:latin typeface="Arial" charset="0"/>
                <a:ea typeface="微软雅黑"/>
                <a:cs typeface="Arial" charset="0"/>
              </a:rPr>
              <a:t>5.</a:t>
            </a:r>
            <a:r>
              <a:rPr sz="1700" b="1">
                <a:solidFill>
                  <a:srgbClr val="1F3A5F"/>
                </a:solidFill>
                <a:latin typeface="Arial" charset="0"/>
                <a:ea typeface="微软雅黑"/>
                <a:cs typeface="Arial" charset="0"/>
              </a:rPr>
              <a:t>比对试验结果与分析</a:t>
            </a:r>
            <a:endParaRPr sz="17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2"/>
          <a:srcRect t="5343"/>
          <a:stretch>
            <a:fillRect/>
          </a:stretch>
        </p:blipFill>
        <p:spPr>
          <a:xfrm>
            <a:off x="548640" y="1923288"/>
            <a:ext cx="3767778" cy="1107872"/>
          </a:xfrm>
          <a:prstGeom prst="roundRect">
            <a:avLst>
              <a:gd name="adj" fmla="val 6602"/>
            </a:avLst>
          </a:prstGeom>
          <a:ln w="9525">
            <a:solidFill>
              <a:srgbClr val="D5DAE0"/>
            </a:solidFill>
          </a:ln>
        </p:spPr>
      </p:pic>
      <p:pic>
        <p:nvPicPr>
          <p:cNvPr id="9" name="ORIGPIC" descr="image.jpeg"/>
          <p:cNvPicPr>
            <a:picLocks noChangeAspect="1"/>
          </p:cNvPicPr>
          <p:nvPr/>
        </p:nvPicPr>
        <p:blipFill>
          <a:blip r:embed="rId3"/>
          <a:srcRect/>
          <a:stretch>
            <a:fillRect/>
          </a:stretch>
        </p:blipFill>
        <p:spPr>
          <a:xfrm>
            <a:off x="548640" y="3168320"/>
            <a:ext cx="3767778" cy="1126311"/>
          </a:xfrm>
          <a:prstGeom prst="roundRect">
            <a:avLst>
              <a:gd name="adj" fmla="val 6494"/>
            </a:avLst>
          </a:prstGeom>
          <a:ln w="9525">
            <a:solidFill>
              <a:srgbClr val="D5DAE0"/>
            </a:solidFill>
          </a:ln>
        </p:spPr>
      </p:pic>
      <p:grpSp>
        <p:nvGrpSpPr>
          <p:cNvPr id="10" name="QBOX"/>
          <p:cNvGrpSpPr/>
          <p:nvPr/>
        </p:nvGrpSpPr>
        <p:grpSpPr>
          <a:xfrm>
            <a:off x="548640" y="4523232"/>
            <a:ext cx="6376492" cy="1310640"/>
            <a:chOff x="548640" y="4523232"/>
            <a:chExt cx="6376492" cy="1310640"/>
          </a:xfrm>
        </p:grpSpPr>
        <p:sp>
          <p:nvSpPr>
            <p:cNvPr id="11" name="Rounded Rectangle 10"/>
            <p:cNvSpPr/>
            <p:nvPr/>
          </p:nvSpPr>
          <p:spPr>
            <a:xfrm>
              <a:off x="548640" y="4523232"/>
              <a:ext cx="6376492" cy="1310640"/>
            </a:xfrm>
            <a:prstGeom prst="roundRect">
              <a:avLst>
                <a:gd name="adj" fmla="val 558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56895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3" name="TextBox 12"/>
            <p:cNvSpPr txBox="1"/>
            <p:nvPr/>
          </p:nvSpPr>
          <p:spPr>
            <a:xfrm>
              <a:off x="960120" y="4660392"/>
              <a:ext cx="5827852" cy="1045464"/>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6.</a:t>
              </a:r>
              <a:r>
                <a:rPr sz="1700" b="0">
                  <a:solidFill>
                    <a:srgbClr val="222222"/>
                  </a:solidFill>
                  <a:latin typeface="Arial" charset="0"/>
                  <a:ea typeface="微软雅黑"/>
                  <a:cs typeface="Arial" charset="0"/>
                </a:rPr>
                <a:t>结论：</a:t>
              </a:r>
              <a:r>
                <a:rPr sz="1700" b="0">
                  <a:solidFill>
                    <a:srgbClr val="222222"/>
                  </a:solidFill>
                  <a:latin typeface="Arial" charset="0"/>
                  <a:ea typeface="微软雅黑"/>
                  <a:cs typeface="Arial" charset="0"/>
                </a:rPr>
                <a:t>两个浓度样本的比对偏差</a:t>
              </a:r>
              <a:r>
                <a:rPr sz="1700" b="0">
                  <a:solidFill>
                    <a:srgbClr val="222222"/>
                  </a:solidFill>
                  <a:latin typeface="Arial" charset="0"/>
                  <a:ea typeface="微软雅黑"/>
                  <a:cs typeface="Arial" charset="0"/>
                </a:rPr>
                <a:t>均小于分析质量要求，故认为A和B生化分析仪检测ALT的结果可比性是可接受的</a:t>
              </a:r>
              <a:r>
                <a:rPr sz="1700" b="0">
                  <a:solidFill>
                    <a:srgbClr val="222222"/>
                  </a:solidFill>
                  <a:latin typeface="Arial" charset="0"/>
                  <a:ea typeface="微软雅黑"/>
                  <a:cs typeface="Arial" charset="0"/>
                </a:rPr>
                <a:t>。</a:t>
              </a:r>
              <a:endParaRPr sz="1700" b="0">
                <a:solidFill>
                  <a:srgbClr val="222222"/>
                </a:solidFill>
                <a:latin typeface="Arial" charset="0"/>
                <a:ea typeface="微软雅黑"/>
                <a:cs typeface="Arial" charset="0"/>
              </a:endParaRPr>
            </a:p>
          </p:txBody>
        </p:sp>
        <p:sp>
          <p:nvSpPr>
            <p:cNvPr id="14" name="CITE"/>
            <p:cNvSpPr txBox="1"/>
            <p:nvPr/>
          </p:nvSpPr>
          <p:spPr>
            <a:xfrm>
              <a:off x="4466612" y="5457444"/>
              <a:ext cx="232136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B.1.5–B.1.6</a:t>
              </a:r>
              <a:endParaRPr sz="1200" b="0">
                <a:solidFill>
                  <a:srgbClr val="148F8A"/>
                </a:solidFill>
                <a:latin typeface="Arial" charset="0"/>
                <a:ea typeface="微软雅黑"/>
                <a:cs typeface="Arial" charset="0"/>
              </a:endParaRPr>
            </a:p>
          </p:txBody>
        </p:sp>
      </p:grpSp>
      <p:graphicFrame>
        <p:nvGraphicFramePr>
          <p:cNvPr id="15" name="CHART"/>
          <p:cNvGraphicFramePr>
            <a:graphicFrameLocks noGrp="1"/>
          </p:cNvGraphicFramePr>
          <p:nvPr/>
        </p:nvGraphicFramePr>
        <p:xfrm>
          <a:off x="7153732" y="1554480"/>
          <a:ext cx="4489323" cy="1828800"/>
        </p:xfrm>
        <a:graphic>
          <a:graphicData uri="http://schemas.openxmlformats.org/drawingml/2006/chart">
            <c:chart xmlns:c="http://schemas.openxmlformats.org/drawingml/2006/chart" xmlns:r="http://schemas.openxmlformats.org/officeDocument/2006/relationships" r:id="rId1"/>
          </a:graphicData>
        </a:graphic>
      </p:graphicFrame>
      <p:cxnSp>
        <p:nvCxnSpPr>
          <p:cNvPr id="16" name="LINE"/>
          <p:cNvCxnSpPr/>
          <p:nvPr/>
        </p:nvCxnSpPr>
        <p:spPr>
          <a:xfrm>
            <a:off x="7782237" y="2048256"/>
            <a:ext cx="3681245" cy="0"/>
          </a:xfrm>
          <a:prstGeom prst="line">
            <a:avLst/>
          </a:prstGeom>
          <a:ln w="2540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53732" y="3474720"/>
            <a:ext cx="4489323" cy="256032"/>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C0392B"/>
                </a:solidFill>
                <a:latin typeface="Arial" charset="0"/>
                <a:ea typeface="微软雅黑"/>
                <a:cs typeface="Arial" charset="0"/>
              </a:rPr>
              <a:t>红色虚线：分析质量要求 6%</a:t>
            </a:r>
            <a:endParaRPr sz="1200" b="0">
              <a:solidFill>
                <a:srgbClr val="C0392B"/>
              </a:solidFill>
              <a:latin typeface="Arial" charset="0"/>
              <a:ea typeface="微软雅黑"/>
              <a:cs typeface="Arial" charset="0"/>
            </a:endParaRPr>
          </a:p>
        </p:txBody>
      </p:sp>
      <p:sp>
        <p:nvSpPr>
          <p:cNvPr id="18" name="BADGE"/>
          <p:cNvSpPr/>
          <p:nvPr/>
        </p:nvSpPr>
        <p:spPr>
          <a:xfrm>
            <a:off x="7153732" y="3822192"/>
            <a:ext cx="1005840"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 通过</a:t>
            </a:r>
            <a:endParaRPr sz="1400" b="1">
              <a:solidFill>
                <a:srgbClr val="FFFFFF"/>
              </a:solidFill>
              <a:latin typeface="Arial" charset="0"/>
              <a:ea typeface="微软雅黑"/>
              <a:cs typeface="Arial" charset="0"/>
            </a:endParaRPr>
          </a:p>
        </p:txBody>
      </p:sp>
      <p:pic>
        <p:nvPicPr>
          <p:cNvPr id="19" name="NEWIMG" descr="37_1.png"/>
          <p:cNvPicPr>
            <a:picLocks noChangeAspect="1"/>
          </p:cNvPicPr>
          <p:nvPr/>
        </p:nvPicPr>
        <p:blipFill>
          <a:blip r:embed="rId4"/>
          <a:stretch>
            <a:fillRect/>
          </a:stretch>
        </p:blipFill>
        <p:spPr>
          <a:xfrm>
            <a:off x="7153732" y="4379976"/>
            <a:ext cx="969263" cy="969263"/>
          </a:xfrm>
          <a:prstGeom prst="roundRect">
            <a:avLst>
              <a:gd name="adj" fmla="val 7547"/>
            </a:avLst>
          </a:prstGeom>
        </p:spPr>
      </p:pic>
      <p:sp>
        <p:nvSpPr>
          <p:cNvPr id="20" name="TextBox 19"/>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示例图：两台仪器结果几乎重合</a:t>
            </a:r>
            <a:endParaRPr sz="1200" b="0">
              <a:solidFill>
                <a:srgbClr val="6B7280"/>
              </a:solidFill>
              <a:latin typeface="Arial" charset="0"/>
              <a:ea typeface="微软雅黑"/>
              <a:cs typeface="Arial" charset="0"/>
            </a:endParaRPr>
          </a:p>
        </p:txBody>
      </p:sp>
      <p:pic>
        <p:nvPicPr>
          <p:cNvPr id="21" name="LOGO" descr="logo_940.png"/>
          <p:cNvPicPr>
            <a:picLocks noChangeAspect="1"/>
          </p:cNvPicPr>
          <p:nvPr/>
        </p:nvPicPr>
        <p:blipFill>
          <a:blip r:embed="rId6"/>
          <a:stretch>
            <a:fillRect/>
          </a:stretch>
        </p:blipFill>
        <p:spPr>
          <a:xfrm>
            <a:off x="548640" y="6249924"/>
            <a:ext cx="310896" cy="31089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p:cNvSpPr txBox="1"/>
          <p:nvPr/>
        </p:nvSpPr>
        <p:spPr>
          <a:xfrm>
            <a:off x="548640" y="676656"/>
            <a:ext cx="7728226"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示例2：4台血液分析仪RBC——不通过怎么办</a:t>
            </a:r>
          </a:p>
        </p:txBody>
      </p:sp>
      <p:pic>
        <p:nvPicPr>
          <p:cNvPr id="4" name="NEWIMG_CORNER" descr="407_rb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27</a:t>
            </a:r>
          </a:p>
        </p:txBody>
      </p:sp>
      <p:sp>
        <p:nvSpPr>
          <p:cNvPr id="7" name="SRCBADGE"/>
          <p:cNvSpPr/>
          <p:nvPr/>
        </p:nvSpPr>
        <p:spPr>
          <a:xfrm>
            <a:off x="8285653" y="5852160"/>
            <a:ext cx="3357401"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附录B.2、6.8.6、6.9</a:t>
            </a:r>
          </a:p>
        </p:txBody>
      </p:sp>
      <p:sp>
        <p:nvSpPr>
          <p:cNvPr id="8" name="TextBox 7"/>
          <p:cNvSpPr txBox="1"/>
          <p:nvPr/>
        </p:nvSpPr>
        <p:spPr>
          <a:xfrm>
            <a:off x="548640" y="1554480"/>
            <a:ext cx="5303520" cy="704088"/>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质量要求（B.2.3）：</a:t>
            </a:r>
            <a:r>
              <a:rPr sz="1500" b="1">
                <a:solidFill>
                  <a:srgbClr val="E8833A"/>
                </a:solidFill>
                <a:latin typeface="Arial"/>
                <a:ea typeface="微软雅黑"/>
                <a:cs typeface="Arial"/>
              </a:rPr>
              <a:t>低浓度6%（RBC TEa）；正常、高浓度3%（1/2 TEa）</a:t>
            </a:r>
            <a:r>
              <a:rPr sz="1500" b="0">
                <a:solidFill>
                  <a:srgbClr val="222222"/>
                </a:solidFill>
                <a:latin typeface="Arial"/>
                <a:ea typeface="微软雅黑"/>
                <a:cs typeface="Arial"/>
              </a:rPr>
              <a:t>。以CVI（3.2%）的1/3（1.1%）为要求"过于严格"，未采用。</a:t>
            </a:r>
          </a:p>
        </p:txBody>
      </p:sp>
      <p:graphicFrame>
        <p:nvGraphicFramePr>
          <p:cNvPr id="9" name="TABLE"/>
          <p:cNvGraphicFramePr>
            <a:graphicFrameLocks noGrp="1"/>
          </p:cNvGraphicFramePr>
          <p:nvPr/>
        </p:nvGraphicFramePr>
        <p:xfrm>
          <a:off x="548640" y="2395728"/>
          <a:ext cx="5303519" cy="1722120"/>
        </p:xfrm>
        <a:graphic>
          <a:graphicData uri="http://schemas.openxmlformats.org/drawingml/2006/table">
            <a:tbl>
              <a:tblPr firstRow="1" bandRow="0">
                <a:tableStyleId>{5940675A-B579-460E-94D1-54222C63F5DA}</a:tableStyleId>
              </a:tblPr>
              <a:tblGrid>
                <a:gridCol w="1005839"/>
                <a:gridCol w="594360"/>
                <a:gridCol w="594360"/>
                <a:gridCol w="777240"/>
                <a:gridCol w="685800"/>
                <a:gridCol w="777240"/>
                <a:gridCol w="868680"/>
              </a:tblGrid>
              <a:tr h="30530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样本</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要求</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重复</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总均值</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极差</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R</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结论</a:t>
                      </a:r>
                    </a:p>
                  </a:txBody>
                  <a:tcPr marL="73152" marR="73152" marT="54864" marB="54864" anchor="ctr">
                    <a:solidFill>
                      <a:srgbClr val="148F8A"/>
                    </a:solidFill>
                  </a:tcPr>
                </a:tc>
              </a:tr>
              <a:tr h="30530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样本1</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6%</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5次</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2.32</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0.19</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C0392B"/>
                          </a:solidFill>
                          <a:latin typeface="Arial"/>
                          <a:ea typeface="微软雅黑"/>
                          <a:cs typeface="Arial"/>
                        </a:rPr>
                        <a:t>8.19%</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C0392B"/>
                          </a:solidFill>
                          <a:latin typeface="Arial"/>
                          <a:ea typeface="微软雅黑"/>
                          <a:cs typeface="Arial"/>
                        </a:rPr>
                        <a:t>未通过</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样本1 剔除B</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6%</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2.28</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0.07</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3.07%</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通过</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样本2</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3次</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4.46</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0.12</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2.69%</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通过</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样本3</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3次</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5.94</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0.10</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1.68%</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通过</a:t>
                      </a:r>
                    </a:p>
                  </a:txBody>
                  <a:tcPr marL="73152" marR="73152" marT="54864" marB="54864" anchor="ctr">
                    <a:solidFill>
                      <a:srgbClr val="FFFFFF"/>
                    </a:solidFill>
                  </a:tcPr>
                </a:tc>
              </a:tr>
            </a:tbl>
          </a:graphicData>
        </a:graphic>
      </p:graphicFrame>
      <p:sp>
        <p:nvSpPr>
          <p:cNvPr id="10" name="TextBox 9"/>
          <p:cNvSpPr txBox="1"/>
          <p:nvPr/>
        </p:nvSpPr>
        <p:spPr>
          <a:xfrm>
            <a:off x="548640" y="4191000"/>
            <a:ext cx="5303520" cy="201167"/>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单位：×10¹²/L；数据取自表B.7–B.9（本轮已复算）</a:t>
            </a:r>
          </a:p>
        </p:txBody>
      </p:sp>
      <p:sp>
        <p:nvSpPr>
          <p:cNvPr id="11" name="TextBox 10"/>
          <p:cNvSpPr txBox="1"/>
          <p:nvPr/>
        </p:nvSpPr>
        <p:spPr>
          <a:xfrm>
            <a:off x="548640" y="4501896"/>
            <a:ext cx="5303520" cy="704088"/>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样本1：差异最大的B与D各与规范操作系统A比：</a:t>
            </a:r>
            <a:r>
              <a:rPr sz="1500" b="1">
                <a:solidFill>
                  <a:srgbClr val="E8833A"/>
                </a:solidFill>
                <a:latin typeface="Arial"/>
                <a:ea typeface="微软雅黑"/>
                <a:cs typeface="Arial"/>
              </a:rPr>
              <a:t>B与A偏差6.11%，D与A偏差2.18%</a:t>
            </a:r>
            <a:r>
              <a:rPr sz="1500" b="0">
                <a:solidFill>
                  <a:srgbClr val="222222"/>
                </a:solidFill>
                <a:latin typeface="Arial"/>
                <a:ea typeface="微软雅黑"/>
                <a:cs typeface="Arial"/>
              </a:rPr>
              <a:t> → 剔除B，A、C、D重算R＝3.07%，通过（B.2.5）。</a:t>
            </a:r>
          </a:p>
        </p:txBody>
      </p:sp>
      <p:grpSp>
        <p:nvGrpSpPr>
          <p:cNvPr id="12" name="QBOX"/>
          <p:cNvGrpSpPr/>
          <p:nvPr/>
        </p:nvGrpSpPr>
        <p:grpSpPr>
          <a:xfrm>
            <a:off x="6080759" y="1554480"/>
            <a:ext cx="5562295" cy="1874519"/>
            <a:chOff x="6080759" y="1554480"/>
            <a:chExt cx="5562295" cy="1874519"/>
          </a:xfrm>
        </p:grpSpPr>
        <p:sp>
          <p:nvSpPr>
            <p:cNvPr id="13" name="Rounded Rectangle 12"/>
            <p:cNvSpPr/>
            <p:nvPr/>
          </p:nvSpPr>
          <p:spPr>
            <a:xfrm>
              <a:off x="6080759" y="1554480"/>
              <a:ext cx="5562295" cy="1874519"/>
            </a:xfrm>
            <a:prstGeom prst="roundRect">
              <a:avLst>
                <a:gd name="adj" fmla="val 390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5" name="TextBox 14"/>
            <p:cNvSpPr txBox="1"/>
            <p:nvPr/>
          </p:nvSpPr>
          <p:spPr>
            <a:xfrm>
              <a:off x="6492240" y="1691639"/>
              <a:ext cx="5013655" cy="16093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48F8A"/>
                  </a:solidFill>
                  <a:latin typeface="Arial"/>
                  <a:ea typeface="微软雅黑"/>
                  <a:cs typeface="Arial"/>
                </a:rPr>
                <a:t>6.8.6 </a:t>
              </a:r>
              <a:r>
                <a:rPr sz="1500" b="0">
                  <a:solidFill>
                    <a:srgbClr val="222222"/>
                  </a:solidFill>
                  <a:latin typeface="Arial"/>
                  <a:ea typeface="微软雅黑"/>
                  <a:cs typeface="Arial"/>
                </a:rPr>
                <a:t>对于不符合可比性要求的检测系统，应分析原因，必要时采取相应的纠正措施，其后再将该检测系统与规范操作检测系统（如使用配套试剂、用配套校准物定期进行仪器校准、仪器性能良好、规范地开展室内质量控制、参加室间质量评价成绩优良、检测程序规范、人员经过良好培训的检测系统）的结果进行比对，确认比对结果符合分析质量要求。</a:t>
              </a:r>
            </a:p>
          </p:txBody>
        </p:sp>
        <p:sp>
          <p:nvSpPr>
            <p:cNvPr id="16" name="CITE"/>
            <p:cNvSpPr txBox="1"/>
            <p:nvPr/>
          </p:nvSpPr>
          <p:spPr>
            <a:xfrm>
              <a:off x="9328012" y="3067812"/>
              <a:ext cx="217788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6.8.6</a:t>
              </a:r>
            </a:p>
          </p:txBody>
        </p:sp>
      </p:grpSp>
      <p:grpSp>
        <p:nvGrpSpPr>
          <p:cNvPr id="17" name="QBOX"/>
          <p:cNvGrpSpPr/>
          <p:nvPr/>
        </p:nvGrpSpPr>
        <p:grpSpPr>
          <a:xfrm>
            <a:off x="6080759" y="3657600"/>
            <a:ext cx="5562295" cy="1916175"/>
            <a:chOff x="6080759" y="3657600"/>
            <a:chExt cx="5562295" cy="1916175"/>
          </a:xfrm>
        </p:grpSpPr>
        <p:sp>
          <p:nvSpPr>
            <p:cNvPr id="18" name="Rounded Rectangle 17"/>
            <p:cNvSpPr/>
            <p:nvPr/>
          </p:nvSpPr>
          <p:spPr>
            <a:xfrm>
              <a:off x="6080759" y="3657600"/>
              <a:ext cx="5562295" cy="1916175"/>
            </a:xfrm>
            <a:prstGeom prst="roundRect">
              <a:avLst>
                <a:gd name="adj" fmla="val 381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3703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0" name="TextBox 19"/>
            <p:cNvSpPr txBox="1"/>
            <p:nvPr/>
          </p:nvSpPr>
          <p:spPr>
            <a:xfrm>
              <a:off x="6492240" y="3794760"/>
              <a:ext cx="5013655" cy="14315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48F8A"/>
                  </a:solidFill>
                  <a:latin typeface="Arial"/>
                  <a:ea typeface="微软雅黑"/>
                  <a:cs typeface="Arial"/>
                </a:rPr>
                <a:t>6.9 可比性验证结果不符合要求的处理措施</a:t>
              </a:r>
            </a:p>
            <a:p>
              <a:pPr algn="l">
                <a:lnSpc>
                  <a:spcPts val="1800"/>
                </a:lnSpc>
                <a:spcBef>
                  <a:spcPts val="400"/>
                </a:spcBef>
                <a:spcAft>
                  <a:spcPts val="0"/>
                </a:spcAft>
                <a:buNone/>
              </a:pPr>
              <a:r>
                <a:rPr sz="1500" b="0">
                  <a:solidFill>
                    <a:srgbClr val="222222"/>
                  </a:solidFill>
                  <a:latin typeface="Arial"/>
                  <a:ea typeface="微软雅黑"/>
                  <a:cs typeface="Arial"/>
                </a:rPr>
                <a:t>维持结果的可比性需以检测系统各质量保证环节的标准化为前提，必要时通过校准改善结果的可比性，即不同检测系统通过结果的数字转换获得结果的一致性；结果不可比且难以纠正时，应与临床进行沟通，</a:t>
              </a:r>
              <a:r>
                <a:rPr sz="1500" b="1">
                  <a:solidFill>
                    <a:srgbClr val="E8833A"/>
                  </a:solidFill>
                  <a:latin typeface="Arial"/>
                  <a:ea typeface="微软雅黑"/>
                  <a:cs typeface="Arial"/>
                </a:rPr>
                <a:t>采用不同的参考区间和（或）医学决定水平并在检验报告单上明确标示</a:t>
              </a:r>
              <a:r>
                <a:rPr sz="1500" b="0">
                  <a:solidFill>
                    <a:srgbClr val="222222"/>
                  </a:solidFill>
                  <a:latin typeface="Arial"/>
                  <a:ea typeface="微软雅黑"/>
                  <a:cs typeface="Arial"/>
                </a:rPr>
                <a:t>。</a:t>
              </a:r>
            </a:p>
          </p:txBody>
        </p:sp>
        <p:sp>
          <p:nvSpPr>
            <p:cNvPr id="21" name="CITE"/>
            <p:cNvSpPr txBox="1"/>
            <p:nvPr/>
          </p:nvSpPr>
          <p:spPr>
            <a:xfrm>
              <a:off x="9462744" y="5235447"/>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6.9</a:t>
              </a:r>
            </a:p>
          </p:txBody>
        </p:sp>
      </p:grpSp>
      <p:pic>
        <p:nvPicPr>
          <p:cNvPr id="22"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NEWIMG_HERO" descr="18_1w.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548640" y="2103120"/>
            <a:ext cx="6376492" cy="158292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1F3A5F"/>
                </a:solidFill>
                <a:latin typeface="Arial" charset="0"/>
                <a:ea typeface="微软雅黑"/>
                <a:cs typeface="Arial" charset="0"/>
              </a:rPr>
              <a:t>CNAS-GL047  </a:t>
            </a:r>
            <a:endParaRPr sz="3200" b="1">
              <a:solidFill>
                <a:srgbClr val="FFFFFF"/>
              </a:solidFill>
              <a:latin typeface="Arial" charset="0"/>
              <a:ea typeface="微软雅黑"/>
              <a:cs typeface="Arial" charset="0"/>
            </a:endParaRPr>
          </a:p>
          <a:p>
            <a:pPr algn="l">
              <a:lnSpc>
                <a:spcPts val="3840"/>
              </a:lnSpc>
              <a:spcBef>
                <a:spcPts val="400"/>
              </a:spcBef>
              <a:spcAft>
                <a:spcPts val="0"/>
              </a:spcAft>
              <a:buNone/>
            </a:pPr>
            <a:r>
              <a:rPr sz="3200" b="1">
                <a:solidFill>
                  <a:srgbClr val="1F3A5F"/>
                </a:solidFill>
                <a:latin typeface="Arial" charset="0"/>
                <a:ea typeface="微软雅黑"/>
                <a:cs typeface="Arial" charset="0"/>
              </a:rPr>
              <a:t>医学实验室定量检验程序结果</a:t>
            </a:r>
            <a:endParaRPr sz="3200" b="1">
              <a:solidFill>
                <a:srgbClr val="FFFFFF"/>
              </a:solidFill>
              <a:latin typeface="Arial" charset="0"/>
              <a:ea typeface="微软雅黑"/>
              <a:cs typeface="Arial" charset="0"/>
            </a:endParaRPr>
          </a:p>
          <a:p>
            <a:pPr algn="l">
              <a:lnSpc>
                <a:spcPts val="3840"/>
              </a:lnSpc>
              <a:spcBef>
                <a:spcPts val="400"/>
              </a:spcBef>
              <a:spcAft>
                <a:spcPts val="0"/>
              </a:spcAft>
              <a:buNone/>
            </a:pPr>
            <a:r>
              <a:rPr sz="3200" b="1">
                <a:solidFill>
                  <a:srgbClr val="1F3A5F"/>
                </a:solidFill>
                <a:latin typeface="Arial" charset="0"/>
                <a:ea typeface="微软雅黑"/>
                <a:cs typeface="Arial" charset="0"/>
              </a:rPr>
              <a:t>可比性验证指南</a:t>
            </a:r>
            <a:endParaRPr sz="3200" b="1">
              <a:solidFill>
                <a:srgbClr val="FFFFFF"/>
              </a:solidFill>
              <a:latin typeface="Arial" charset="0"/>
              <a:ea typeface="微软雅黑"/>
              <a:cs typeface="Arial" charset="0"/>
            </a:endParaRPr>
          </a:p>
        </p:txBody>
      </p:sp>
      <p:sp>
        <p:nvSpPr>
          <p:cNvPr id="5" name="TextBox 4"/>
          <p:cNvSpPr txBox="1"/>
          <p:nvPr/>
        </p:nvSpPr>
        <p:spPr>
          <a:xfrm>
            <a:off x="548640" y="39603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148F8A"/>
                </a:solidFill>
                <a:latin typeface="Arial" charset="0"/>
                <a:ea typeface="微软雅黑"/>
                <a:cs typeface="Arial" charset="0"/>
              </a:rPr>
              <a:t>2021-04-25发布实施</a:t>
            </a:r>
            <a:endParaRPr sz="2000" b="0">
              <a:solidFill>
                <a:srgbClr val="9FE3DE"/>
              </a:solidFill>
              <a:latin typeface="Arial" charset="0"/>
              <a:ea typeface="微软雅黑"/>
              <a:cs typeface="Arial" charset="0"/>
            </a:endParaRPr>
          </a:p>
        </p:txBody>
      </p:sp>
      <p:sp>
        <p:nvSpPr>
          <p:cNvPr id="7"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28</a:t>
            </a:r>
            <a:endParaRPr sz="1200" b="0">
              <a:solidFill>
                <a:srgbClr val="C9D3DF"/>
              </a:solidFill>
              <a:latin typeface="Arial" charset="0"/>
              <a:ea typeface="微软雅黑"/>
              <a:cs typeface="Arial" charset="0"/>
            </a:endParaRPr>
          </a:p>
        </p:txBody>
      </p:sp>
      <p:pic>
        <p:nvPicPr>
          <p:cNvPr id="8"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a:t>
            </a:r>
            <a:endParaRPr sz="2800" b="1">
              <a:solidFill>
                <a:srgbClr val="1F3A5F"/>
              </a:solidFill>
              <a:latin typeface="Arial" charset="0"/>
              <a:ea typeface="微软雅黑"/>
              <a:cs typeface="Arial" charset="0"/>
            </a:endParaRPr>
          </a:p>
        </p:txBody>
      </p:sp>
      <p:pic>
        <p:nvPicPr>
          <p:cNvPr id="4" name="NEWIMG_CORNER" descr="19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29</a:t>
            </a:r>
            <a:endParaRPr sz="1200" b="0">
              <a:solidFill>
                <a:srgbClr val="6B7280"/>
              </a:solidFill>
              <a:latin typeface="Arial" charset="0"/>
              <a:ea typeface="微软雅黑"/>
              <a:cs typeface="Arial" charset="0"/>
            </a:endParaRPr>
          </a:p>
        </p:txBody>
      </p:sp>
      <p:sp>
        <p:nvSpPr>
          <p:cNvPr id="7" name="SRCBADGE"/>
          <p:cNvSpPr/>
          <p:nvPr/>
        </p:nvSpPr>
        <p:spPr>
          <a:xfrm>
            <a:off x="8831969" y="5852160"/>
            <a:ext cx="2811085"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来源：GL047 第3章；WS/T 407 3.1</a:t>
            </a:r>
            <a:endParaRPr sz="1200" b="1">
              <a:solidFill>
                <a:srgbClr val="1F3A5F"/>
              </a:solidFill>
              <a:latin typeface="Arial" charset="0"/>
              <a:ea typeface="微软雅黑"/>
              <a:cs typeface="Arial" charset="0"/>
            </a:endParaRPr>
          </a:p>
        </p:txBody>
      </p:sp>
      <p:sp>
        <p:nvSpPr>
          <p:cNvPr id="8" name="TextBox 7"/>
          <p:cNvSpPr txBox="1"/>
          <p:nvPr/>
        </p:nvSpPr>
        <p:spPr>
          <a:xfrm>
            <a:off x="2854960" y="777240"/>
            <a:ext cx="237744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“24h 尿蛋白质质量”拆解：</a:t>
            </a:r>
            <a:endParaRPr sz="1400" b="1">
              <a:solidFill>
                <a:srgbClr val="1F3A5F"/>
              </a:solidFill>
              <a:latin typeface="Arial" charset="0"/>
              <a:ea typeface="微软雅黑"/>
              <a:cs typeface="Arial" charset="0"/>
            </a:endParaRPr>
          </a:p>
        </p:txBody>
      </p:sp>
      <p:sp>
        <p:nvSpPr>
          <p:cNvPr id="9" name="BADGE"/>
          <p:cNvSpPr/>
          <p:nvPr/>
        </p:nvSpPr>
        <p:spPr>
          <a:xfrm>
            <a:off x="5278120"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蛋白质</a:t>
            </a:r>
            <a:endParaRPr sz="1400" b="1">
              <a:solidFill>
                <a:srgbClr val="FFFFFF"/>
              </a:solidFill>
              <a:latin typeface="Arial" charset="0"/>
              <a:ea typeface="微软雅黑"/>
              <a:cs typeface="Arial" charset="0"/>
            </a:endParaRPr>
          </a:p>
        </p:txBody>
      </p:sp>
      <p:sp>
        <p:nvSpPr>
          <p:cNvPr id="10" name="TextBox 9"/>
          <p:cNvSpPr txBox="1"/>
          <p:nvPr/>
        </p:nvSpPr>
        <p:spPr>
          <a:xfrm>
            <a:off x="6174232"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p:txBody>
      </p:sp>
      <p:sp>
        <p:nvSpPr>
          <p:cNvPr id="11" name="BADGE"/>
          <p:cNvSpPr/>
          <p:nvPr/>
        </p:nvSpPr>
        <p:spPr>
          <a:xfrm>
            <a:off x="6448552"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1F3A5F"/>
                </a:solidFill>
                <a:latin typeface="Arial" charset="0"/>
                <a:ea typeface="微软雅黑"/>
                <a:cs typeface="Arial" charset="0"/>
              </a:rPr>
              <a:t>分析物</a:t>
            </a:r>
            <a:endParaRPr sz="1400" b="1">
              <a:solidFill>
                <a:srgbClr val="1F3A5F"/>
              </a:solidFill>
              <a:latin typeface="Arial" charset="0"/>
              <a:ea typeface="微软雅黑"/>
              <a:cs typeface="Arial" charset="0"/>
            </a:endParaRPr>
          </a:p>
        </p:txBody>
      </p:sp>
      <p:sp>
        <p:nvSpPr>
          <p:cNvPr id="12" name="BADGE"/>
          <p:cNvSpPr/>
          <p:nvPr/>
        </p:nvSpPr>
        <p:spPr>
          <a:xfrm>
            <a:off x="7500112"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质量</a:t>
            </a:r>
            <a:endParaRPr sz="1400" b="1">
              <a:solidFill>
                <a:srgbClr val="FFFFFF"/>
              </a:solidFill>
              <a:latin typeface="Arial" charset="0"/>
              <a:ea typeface="微软雅黑"/>
              <a:cs typeface="Arial" charset="0"/>
            </a:endParaRPr>
          </a:p>
        </p:txBody>
      </p:sp>
      <p:sp>
        <p:nvSpPr>
          <p:cNvPr id="13" name="TextBox 12"/>
          <p:cNvSpPr txBox="1"/>
          <p:nvPr/>
        </p:nvSpPr>
        <p:spPr>
          <a:xfrm>
            <a:off x="8396224"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p:txBody>
      </p:sp>
      <p:sp>
        <p:nvSpPr>
          <p:cNvPr id="14" name="BADGE"/>
          <p:cNvSpPr/>
          <p:nvPr/>
        </p:nvSpPr>
        <p:spPr>
          <a:xfrm>
            <a:off x="8670544"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1F3A5F"/>
                </a:solidFill>
                <a:latin typeface="Arial" charset="0"/>
                <a:ea typeface="微软雅黑"/>
                <a:cs typeface="Arial" charset="0"/>
              </a:rPr>
              <a:t>特性</a:t>
            </a:r>
            <a:endParaRPr sz="1400" b="1">
              <a:solidFill>
                <a:srgbClr val="1F3A5F"/>
              </a:solidFill>
              <a:latin typeface="Arial" charset="0"/>
              <a:ea typeface="微软雅黑"/>
              <a:cs typeface="Arial" charset="0"/>
            </a:endParaRPr>
          </a:p>
        </p:txBody>
      </p:sp>
      <p:grpSp>
        <p:nvGrpSpPr>
          <p:cNvPr id="15" name="QBOX"/>
          <p:cNvGrpSpPr/>
          <p:nvPr/>
        </p:nvGrpSpPr>
        <p:grpSpPr>
          <a:xfrm>
            <a:off x="548640" y="1554480"/>
            <a:ext cx="3545738" cy="2200655"/>
            <a:chOff x="548640" y="1554480"/>
            <a:chExt cx="3545738" cy="2200655"/>
          </a:xfrm>
        </p:grpSpPr>
        <p:sp>
          <p:nvSpPr>
            <p:cNvPr id="16" name="Rounded Rectangle 15"/>
            <p:cNvSpPr/>
            <p:nvPr/>
          </p:nvSpPr>
          <p:spPr>
            <a:xfrm>
              <a:off x="548640" y="1554480"/>
              <a:ext cx="3545738" cy="2200655"/>
            </a:xfrm>
            <a:prstGeom prst="roundRect">
              <a:avLst>
                <a:gd name="adj" fmla="val 332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8" name="TextBox 17"/>
            <p:cNvSpPr txBox="1"/>
            <p:nvPr/>
          </p:nvSpPr>
          <p:spPr>
            <a:xfrm>
              <a:off x="960120" y="1691639"/>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分析物 </a:t>
              </a:r>
              <a:r>
                <a:rPr sz="1400" b="1">
                  <a:solidFill>
                    <a:srgbClr val="1F3A5F"/>
                  </a:solidFill>
                  <a:latin typeface="Arial" charset="0"/>
                  <a:ea typeface="微软雅黑"/>
                  <a:cs typeface="Arial" charset="0"/>
                </a:rPr>
                <a:t>analyte</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具有可测量特性的样品组分。</a:t>
              </a:r>
              <a:r>
                <a:rPr sz="1400" b="0">
                  <a:solidFill>
                    <a:srgbClr val="222222"/>
                  </a:solidFill>
                  <a:latin typeface="Arial" charset="0"/>
                  <a:ea typeface="微软雅黑"/>
                  <a:cs typeface="Arial" charset="0"/>
                </a:rPr>
                <a:t>注：在“24h 尿蛋白质质量”中</a:t>
              </a:r>
              <a:r>
                <a:rPr sz="1400" b="0">
                  <a:solidFill>
                    <a:srgbClr val="222222"/>
                  </a:solidFill>
                  <a:latin typeface="Arial" charset="0"/>
                  <a:ea typeface="微软雅黑"/>
                  <a:cs typeface="Arial" charset="0"/>
                </a:rPr>
                <a:t>，“蛋白质”是分析物，“质量”是特性。 在“血浆中葡萄糖物质浓度”中，“葡萄糖”是分析物，“浓度”是特性。两个 例子中的整个短语代表被测量。</a:t>
              </a:r>
              <a:endParaRPr sz="1400" b="0">
                <a:solidFill>
                  <a:srgbClr val="222222"/>
                </a:solidFill>
                <a:latin typeface="Arial" charset="0"/>
                <a:ea typeface="微软雅黑"/>
                <a:cs typeface="Arial" charset="0"/>
              </a:endParaRPr>
            </a:p>
          </p:txBody>
        </p:sp>
        <p:sp>
          <p:nvSpPr>
            <p:cNvPr id="19" name="CITE"/>
            <p:cNvSpPr txBox="1"/>
            <p:nvPr/>
          </p:nvSpPr>
          <p:spPr>
            <a:xfrm>
              <a:off x="1869440" y="3416808"/>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20" name="QBOX"/>
          <p:cNvGrpSpPr/>
          <p:nvPr/>
        </p:nvGrpSpPr>
        <p:grpSpPr>
          <a:xfrm>
            <a:off x="548640" y="3983736"/>
            <a:ext cx="3545738" cy="1981199"/>
            <a:chOff x="548640" y="3983736"/>
            <a:chExt cx="3545738" cy="1981199"/>
          </a:xfrm>
        </p:grpSpPr>
        <p:sp>
          <p:nvSpPr>
            <p:cNvPr id="21" name="Rounded Rectangle 20"/>
            <p:cNvSpPr/>
            <p:nvPr/>
          </p:nvSpPr>
          <p:spPr>
            <a:xfrm>
              <a:off x="548640" y="3983736"/>
              <a:ext cx="3545738" cy="1981199"/>
            </a:xfrm>
            <a:prstGeom prst="roundRect">
              <a:avLst>
                <a:gd name="adj" fmla="val 369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40294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3" name="TextBox 22"/>
            <p:cNvSpPr txBox="1"/>
            <p:nvPr/>
          </p:nvSpPr>
          <p:spPr>
            <a:xfrm>
              <a:off x="960120" y="4120896"/>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被测量 </a:t>
              </a:r>
              <a:r>
                <a:rPr sz="1400" b="1">
                  <a:solidFill>
                    <a:srgbClr val="1F3A5F"/>
                  </a:solidFill>
                  <a:latin typeface="Arial" charset="0"/>
                  <a:ea typeface="微软雅黑"/>
                  <a:cs typeface="Arial" charset="0"/>
                </a:rPr>
                <a:t>measurand</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拟测量的量。</a:t>
              </a:r>
              <a:r>
                <a:rPr sz="1400" b="0">
                  <a:solidFill>
                    <a:srgbClr val="222222"/>
                  </a:solidFill>
                  <a:latin typeface="Arial" charset="0"/>
                  <a:ea typeface="微软雅黑"/>
                  <a:cs typeface="Arial" charset="0"/>
                </a:rPr>
                <a:t>注1：</a:t>
              </a:r>
              <a:r>
                <a:rPr sz="1400" b="0">
                  <a:solidFill>
                    <a:srgbClr val="222222"/>
                  </a:solidFill>
                  <a:latin typeface="Arial" charset="0"/>
                  <a:ea typeface="微软雅黑"/>
                  <a:cs typeface="Arial" charset="0"/>
                </a:rPr>
                <a:t>在检验医学中被测量的规定需说明量类（例如质量浓度）、含有该量的 基质（例如血浆）以及涉及的化学实体（例如分析物）；</a:t>
              </a:r>
              <a:r>
                <a:rPr sz="1400" b="0">
                  <a:solidFill>
                    <a:srgbClr val="222222"/>
                  </a:solidFill>
                  <a:latin typeface="Arial" charset="0"/>
                  <a:ea typeface="微软雅黑"/>
                  <a:cs typeface="Arial" charset="0"/>
                </a:rPr>
                <a:t>注2：</a:t>
              </a:r>
              <a:r>
                <a:rPr sz="1400" b="0">
                  <a:solidFill>
                    <a:srgbClr val="222222"/>
                  </a:solidFill>
                  <a:latin typeface="Arial" charset="0"/>
                  <a:ea typeface="微软雅黑"/>
                  <a:cs typeface="Arial" charset="0"/>
                </a:rPr>
                <a:t>被测量可以是生物活性；</a:t>
              </a:r>
              <a:endParaRPr sz="1400" b="0">
                <a:solidFill>
                  <a:srgbClr val="222222"/>
                </a:solidFill>
                <a:latin typeface="Arial" charset="0"/>
                <a:ea typeface="微软雅黑"/>
                <a:cs typeface="Arial" charset="0"/>
              </a:endParaRPr>
            </a:p>
          </p:txBody>
        </p:sp>
        <p:sp>
          <p:nvSpPr>
            <p:cNvPr id="24" name="CITE"/>
            <p:cNvSpPr txBox="1"/>
            <p:nvPr/>
          </p:nvSpPr>
          <p:spPr>
            <a:xfrm>
              <a:off x="1869440" y="5611368"/>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25" name="QBOX"/>
          <p:cNvGrpSpPr/>
          <p:nvPr/>
        </p:nvGrpSpPr>
        <p:grpSpPr>
          <a:xfrm>
            <a:off x="4322978" y="1554480"/>
            <a:ext cx="3545738" cy="2627375"/>
            <a:chOff x="4322978" y="1554480"/>
            <a:chExt cx="3545738" cy="2627375"/>
          </a:xfrm>
        </p:grpSpPr>
        <p:sp>
          <p:nvSpPr>
            <p:cNvPr id="26" name="Rounded Rectangle 25"/>
            <p:cNvSpPr/>
            <p:nvPr/>
          </p:nvSpPr>
          <p:spPr>
            <a:xfrm>
              <a:off x="4322978" y="1554480"/>
              <a:ext cx="3545738" cy="2627375"/>
            </a:xfrm>
            <a:prstGeom prst="roundRect">
              <a:avLst>
                <a:gd name="adj" fmla="val 278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3562"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8" name="TextBox 27"/>
            <p:cNvSpPr txBox="1"/>
            <p:nvPr/>
          </p:nvSpPr>
          <p:spPr>
            <a:xfrm>
              <a:off x="4734458" y="1691639"/>
              <a:ext cx="2997098" cy="214274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测量程序 </a:t>
              </a:r>
              <a:r>
                <a:rPr sz="1400" b="1">
                  <a:solidFill>
                    <a:srgbClr val="1F3A5F"/>
                  </a:solidFill>
                  <a:latin typeface="Arial" charset="0"/>
                  <a:ea typeface="微软雅黑"/>
                  <a:cs typeface="Arial" charset="0"/>
                </a:rPr>
                <a:t>measurement procedure</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按照一个或多个测量原理和给定的测量方法，基于一种测量模型，对测量所 作的详细描述，包括获得测量结果所必需的任何计算。</a:t>
              </a:r>
              <a:r>
                <a:rPr sz="1400" b="0">
                  <a:solidFill>
                    <a:srgbClr val="222222"/>
                  </a:solidFill>
                  <a:latin typeface="Arial" charset="0"/>
                  <a:ea typeface="微软雅黑"/>
                  <a:cs typeface="Arial" charset="0"/>
                </a:rPr>
                <a:t>注1：</a:t>
              </a:r>
              <a:r>
                <a:rPr sz="1400" b="0">
                  <a:solidFill>
                    <a:srgbClr val="222222"/>
                  </a:solidFill>
                  <a:latin typeface="Arial" charset="0"/>
                  <a:ea typeface="微软雅黑"/>
                  <a:cs typeface="Arial" charset="0"/>
                </a:rPr>
                <a:t>测量程序通常在文件中作足够详细的描述，以使操作者能进行测量；</a:t>
              </a:r>
              <a:r>
                <a:rPr sz="1400" b="0">
                  <a:solidFill>
                    <a:srgbClr val="222222"/>
                  </a:solidFill>
                  <a:latin typeface="Arial" charset="0"/>
                  <a:ea typeface="微软雅黑"/>
                  <a:cs typeface="Arial" charset="0"/>
                </a:rPr>
                <a:t>注2：</a:t>
              </a:r>
              <a:r>
                <a:rPr sz="1400" b="0">
                  <a:solidFill>
                    <a:srgbClr val="222222"/>
                  </a:solidFill>
                  <a:latin typeface="Arial" charset="0"/>
                  <a:ea typeface="微软雅黑"/>
                  <a:cs typeface="Arial" charset="0"/>
                </a:rPr>
                <a:t>测量程序可以包括有关目标测量不确定度的说明。</a:t>
              </a:r>
              <a:endParaRPr sz="1400" b="0">
                <a:solidFill>
                  <a:srgbClr val="222222"/>
                </a:solidFill>
                <a:latin typeface="Arial" charset="0"/>
                <a:ea typeface="微软雅黑"/>
                <a:cs typeface="Arial" charset="0"/>
              </a:endParaRPr>
            </a:p>
          </p:txBody>
        </p:sp>
        <p:sp>
          <p:nvSpPr>
            <p:cNvPr id="29" name="CITE"/>
            <p:cNvSpPr txBox="1"/>
            <p:nvPr/>
          </p:nvSpPr>
          <p:spPr>
            <a:xfrm>
              <a:off x="5643779" y="3843527"/>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30" name="QBOX"/>
          <p:cNvGrpSpPr/>
          <p:nvPr/>
        </p:nvGrpSpPr>
        <p:grpSpPr>
          <a:xfrm>
            <a:off x="8097316" y="1554480"/>
            <a:ext cx="3545738" cy="1560576"/>
            <a:chOff x="8097316" y="1554480"/>
            <a:chExt cx="3545738" cy="1560576"/>
          </a:xfrm>
        </p:grpSpPr>
        <p:sp>
          <p:nvSpPr>
            <p:cNvPr id="31" name="Rounded Rectangle 30"/>
            <p:cNvSpPr/>
            <p:nvPr/>
          </p:nvSpPr>
          <p:spPr>
            <a:xfrm>
              <a:off x="8097316" y="1554480"/>
              <a:ext cx="3545738" cy="1560576"/>
            </a:xfrm>
            <a:prstGeom prst="roundRect">
              <a:avLst>
                <a:gd name="adj" fmla="val 468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790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33" name="TextBox 32"/>
            <p:cNvSpPr txBox="1"/>
            <p:nvPr/>
          </p:nvSpPr>
          <p:spPr>
            <a:xfrm>
              <a:off x="8508796" y="1691639"/>
              <a:ext cx="2997098" cy="10759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测量系统 </a:t>
              </a:r>
              <a:r>
                <a:rPr sz="1400" b="1">
                  <a:solidFill>
                    <a:srgbClr val="1F3A5F"/>
                  </a:solidFill>
                  <a:latin typeface="Arial" charset="0"/>
                  <a:ea typeface="微软雅黑"/>
                  <a:cs typeface="Arial" charset="0"/>
                </a:rPr>
                <a:t>measuring system</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一套组合在一起的，适合给出规定类量规定区间内测得量值的一个或多个测量仪器以及经常和其他器械组成的组合，包括任何试剂和用品。</a:t>
              </a:r>
              <a:endParaRPr sz="1400" b="0">
                <a:solidFill>
                  <a:srgbClr val="222222"/>
                </a:solidFill>
                <a:latin typeface="Arial" charset="0"/>
                <a:ea typeface="微软雅黑"/>
                <a:cs typeface="Arial" charset="0"/>
              </a:endParaRPr>
            </a:p>
          </p:txBody>
        </p:sp>
        <p:sp>
          <p:nvSpPr>
            <p:cNvPr id="34" name="CITE"/>
            <p:cNvSpPr txBox="1"/>
            <p:nvPr/>
          </p:nvSpPr>
          <p:spPr>
            <a:xfrm>
              <a:off x="9418117" y="2776728"/>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35" name="QBOX"/>
          <p:cNvGrpSpPr/>
          <p:nvPr/>
        </p:nvGrpSpPr>
        <p:grpSpPr>
          <a:xfrm>
            <a:off x="8097316" y="3343656"/>
            <a:ext cx="3545738" cy="1773936"/>
            <a:chOff x="8097316" y="3343656"/>
            <a:chExt cx="3545738" cy="1773936"/>
          </a:xfrm>
        </p:grpSpPr>
        <p:sp>
          <p:nvSpPr>
            <p:cNvPr id="36" name="Rounded Rectangle 35"/>
            <p:cNvSpPr/>
            <p:nvPr/>
          </p:nvSpPr>
          <p:spPr>
            <a:xfrm>
              <a:off x="8097316" y="3343656"/>
              <a:ext cx="3545738"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97900" y="33893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38" name="TextBox 37"/>
            <p:cNvSpPr txBox="1"/>
            <p:nvPr/>
          </p:nvSpPr>
          <p:spPr>
            <a:xfrm>
              <a:off x="8508796" y="3480816"/>
              <a:ext cx="2997098"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charset="0"/>
                  <a:ea typeface="微软雅黑"/>
                  <a:cs typeface="Arial" charset="0"/>
                </a:rPr>
                <a:t>可比性 </a:t>
              </a:r>
              <a:r>
                <a:rPr sz="1400" b="1">
                  <a:solidFill>
                    <a:srgbClr val="148F8A"/>
                  </a:solidFill>
                  <a:latin typeface="Arial" charset="0"/>
                  <a:ea typeface="微软雅黑"/>
                  <a:cs typeface="Arial" charset="0"/>
                </a:rPr>
                <a:t>comparability</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使用不同的测量程序测定某种分析物</a:t>
              </a:r>
              <a:r>
                <a:rPr sz="1400" b="0">
                  <a:solidFill>
                    <a:srgbClr val="222222"/>
                  </a:solidFill>
                  <a:latin typeface="Arial" charset="0"/>
                  <a:ea typeface="微软雅黑"/>
                  <a:cs typeface="Arial" charset="0"/>
                </a:rPr>
                <a:t>获得的检测结果间的一致性</a:t>
              </a:r>
              <a:r>
                <a:rPr sz="1400" b="0">
                  <a:solidFill>
                    <a:srgbClr val="222222"/>
                  </a:solidFill>
                  <a:latin typeface="Arial" charset="0"/>
                  <a:ea typeface="微软雅黑"/>
                  <a:cs typeface="Arial" charset="0"/>
                </a:rPr>
                <a:t>。结果间的差异不超过规定的可接受标准时，可认为结果具有可比性。</a:t>
              </a:r>
              <a:endParaRPr sz="1400" b="0">
                <a:solidFill>
                  <a:srgbClr val="222222"/>
                </a:solidFill>
                <a:latin typeface="Arial" charset="0"/>
                <a:ea typeface="微软雅黑"/>
                <a:cs typeface="Arial" charset="0"/>
              </a:endParaRPr>
            </a:p>
          </p:txBody>
        </p:sp>
        <p:sp>
          <p:nvSpPr>
            <p:cNvPr id="39" name="CITE"/>
            <p:cNvSpPr txBox="1"/>
            <p:nvPr/>
          </p:nvSpPr>
          <p:spPr>
            <a:xfrm>
              <a:off x="9875924" y="4779263"/>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3.1</a:t>
              </a:r>
              <a:endParaRPr sz="1200" b="0">
                <a:solidFill>
                  <a:srgbClr val="148F8A"/>
                </a:solidFill>
                <a:latin typeface="Arial" charset="0"/>
                <a:ea typeface="微软雅黑"/>
                <a:cs typeface="Arial" charset="0"/>
              </a:endParaRPr>
            </a:p>
          </p:txBody>
        </p:sp>
      </p:grpSp>
      <p:pic>
        <p:nvPicPr>
          <p:cNvPr id="40"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a:t>
            </a:r>
            <a:endParaRPr sz="2800" b="1">
              <a:solidFill>
                <a:srgbClr val="1F3A5F"/>
              </a:solidFill>
              <a:latin typeface="Arial" charset="0"/>
              <a:ea typeface="微软雅黑"/>
              <a:cs typeface="Arial" charset="0"/>
            </a:endParaRPr>
          </a:p>
        </p:txBody>
      </p:sp>
      <p:pic>
        <p:nvPicPr>
          <p:cNvPr id="4" name="NEWIMG_CORNER" descr="20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30</a:t>
            </a:r>
            <a:endParaRPr sz="1200" b="0">
              <a:solidFill>
                <a:srgbClr val="6B7280"/>
              </a:solidFill>
              <a:latin typeface="Arial" charset="0"/>
              <a:ea typeface="微软雅黑"/>
              <a:cs typeface="Arial" charset="0"/>
            </a:endParaRPr>
          </a:p>
        </p:txBody>
      </p:sp>
      <p:sp>
        <p:nvSpPr>
          <p:cNvPr id="7" name="SRCBADGE"/>
          <p:cNvSpPr/>
          <p:nvPr/>
        </p:nvSpPr>
        <p:spPr>
          <a:xfrm>
            <a:off x="8515386" y="5852160"/>
            <a:ext cx="3127669"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第3章；原PPT补充</a:t>
            </a:r>
            <a:endParaRPr sz="1200" b="1">
              <a:solidFill>
                <a:srgbClr val="1F3A5F"/>
              </a:solidFill>
              <a:latin typeface="Arial" charset="0"/>
              <a:ea typeface="微软雅黑"/>
              <a:cs typeface="Arial" charset="0"/>
            </a:endParaRPr>
          </a:p>
        </p:txBody>
      </p:sp>
      <p:grpSp>
        <p:nvGrpSpPr>
          <p:cNvPr id="8" name="NOTE"/>
          <p:cNvGrpSpPr/>
          <p:nvPr/>
        </p:nvGrpSpPr>
        <p:grpSpPr>
          <a:xfrm>
            <a:off x="2854960" y="621792"/>
            <a:ext cx="7096455" cy="658368"/>
            <a:chOff x="2854960" y="621792"/>
            <a:chExt cx="7096455" cy="658368"/>
          </a:xfrm>
        </p:grpSpPr>
        <p:sp>
          <p:nvSpPr>
            <p:cNvPr id="9" name="Rounded Rectangle 8"/>
            <p:cNvSpPr/>
            <p:nvPr/>
          </p:nvSpPr>
          <p:spPr>
            <a:xfrm>
              <a:off x="2854960" y="621792"/>
              <a:ext cx="7096455" cy="658368"/>
            </a:xfrm>
            <a:prstGeom prst="roundRect">
              <a:avLst>
                <a:gd name="adj" fmla="val 11111"/>
              </a:avLst>
            </a:prstGeom>
            <a:solidFill>
              <a:srgbClr val="FDF1E8"/>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6400" y="658368"/>
              <a:ext cx="6913575" cy="60350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E8833A"/>
                  </a:solidFill>
                  <a:latin typeface="Arial" charset="0"/>
                  <a:ea typeface="微软雅黑"/>
                  <a:cs typeface="Arial" charset="0"/>
                </a:rPr>
                <a:t>【】</a:t>
              </a:r>
              <a:r>
                <a:rPr sz="1200" b="0">
                  <a:solidFill>
                    <a:srgbClr val="222222"/>
                  </a:solidFill>
                  <a:latin typeface="Arial" charset="0"/>
                  <a:ea typeface="微软雅黑"/>
                  <a:cs typeface="Arial" charset="0"/>
                </a:rPr>
                <a:t>LoD–LoQ（2.6–3.3 μg/L）之间的结果报告方式需补充；检出限与定量限的现行文件为 CLSI EP17-A2（2012）</a:t>
              </a:r>
              <a:endParaRPr sz="1200" b="0">
                <a:solidFill>
                  <a:srgbClr val="222222"/>
                </a:solidFill>
                <a:latin typeface="Arial" charset="0"/>
                <a:ea typeface="微软雅黑"/>
                <a:cs typeface="Arial" charset="0"/>
              </a:endParaRPr>
            </a:p>
          </p:txBody>
        </p:sp>
      </p:grpSp>
      <p:grpSp>
        <p:nvGrpSpPr>
          <p:cNvPr id="11" name="QBOX"/>
          <p:cNvGrpSpPr/>
          <p:nvPr/>
        </p:nvGrpSpPr>
        <p:grpSpPr>
          <a:xfrm>
            <a:off x="548640" y="1554480"/>
            <a:ext cx="5432907" cy="2031999"/>
            <a:chOff x="548640" y="1554480"/>
            <a:chExt cx="5432907" cy="2031999"/>
          </a:xfrm>
        </p:grpSpPr>
        <p:sp>
          <p:nvSpPr>
            <p:cNvPr id="12" name="Rounded Rectangle 11"/>
            <p:cNvSpPr/>
            <p:nvPr/>
          </p:nvSpPr>
          <p:spPr>
            <a:xfrm>
              <a:off x="548640" y="1554480"/>
              <a:ext cx="5432907" cy="2031999"/>
            </a:xfrm>
            <a:prstGeom prst="roundRect">
              <a:avLst>
                <a:gd name="adj" fmla="val 3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4" name="TextBox 13"/>
            <p:cNvSpPr txBox="1"/>
            <p:nvPr/>
          </p:nvSpPr>
          <p:spPr>
            <a:xfrm>
              <a:off x="960120" y="1691639"/>
              <a:ext cx="4884267" cy="176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测量区间 </a:t>
              </a:r>
              <a:r>
                <a:rPr sz="1600" b="1">
                  <a:solidFill>
                    <a:srgbClr val="1F3A5F"/>
                  </a:solidFill>
                  <a:latin typeface="Arial" charset="0"/>
                  <a:ea typeface="微软雅黑"/>
                  <a:cs typeface="Arial" charset="0"/>
                </a:rPr>
                <a:t>measuring interval</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在规定条件下，可由给定测量仪器或测量系统以规定的仪器不确定度测量的相同类量的量值的集合。</a:t>
              </a:r>
              <a:r>
                <a:rPr sz="1600" b="0">
                  <a:solidFill>
                    <a:srgbClr val="222222"/>
                  </a:solidFill>
                  <a:latin typeface="Arial" charset="0"/>
                  <a:ea typeface="微软雅黑"/>
                  <a:cs typeface="Arial" charset="0"/>
                </a:rPr>
                <a:t>注1：</a:t>
              </a:r>
              <a:r>
                <a:rPr sz="1600" b="0">
                  <a:solidFill>
                    <a:srgbClr val="222222"/>
                  </a:solidFill>
                  <a:latin typeface="Arial" charset="0"/>
                  <a:ea typeface="微软雅黑"/>
                  <a:cs typeface="Arial" charset="0"/>
                </a:rPr>
                <a:t>体外诊断医疗器械性能特征已被验证的测量区间被称为</a:t>
              </a:r>
              <a:r>
                <a:rPr sz="1600" b="0">
                  <a:solidFill>
                    <a:srgbClr val="1F3A5F"/>
                  </a:solidFill>
                  <a:latin typeface="Arial" charset="0"/>
                  <a:ea typeface="微软雅黑"/>
                  <a:cs typeface="Arial" charset="0"/>
                </a:rPr>
                <a:t>可报告范围</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注2：</a:t>
              </a:r>
              <a:r>
                <a:rPr sz="1600" b="0">
                  <a:solidFill>
                    <a:srgbClr val="222222"/>
                  </a:solidFill>
                  <a:latin typeface="Arial" charset="0"/>
                  <a:ea typeface="微软雅黑"/>
                  <a:cs typeface="Arial" charset="0"/>
                </a:rPr>
                <a:t>测量区间的下限不应和检出限混淆。</a:t>
              </a:r>
              <a:endParaRPr sz="1600" b="0">
                <a:solidFill>
                  <a:srgbClr val="222222"/>
                </a:solidFill>
                <a:latin typeface="Arial" charset="0"/>
                <a:ea typeface="微软雅黑"/>
                <a:cs typeface="Arial" charset="0"/>
              </a:endParaRPr>
            </a:p>
          </p:txBody>
        </p:sp>
        <p:sp>
          <p:nvSpPr>
            <p:cNvPr id="15" name="CITE"/>
            <p:cNvSpPr txBox="1"/>
            <p:nvPr/>
          </p:nvSpPr>
          <p:spPr>
            <a:xfrm>
              <a:off x="3756609" y="3217672"/>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16" name="QBOX"/>
          <p:cNvGrpSpPr/>
          <p:nvPr/>
        </p:nvGrpSpPr>
        <p:grpSpPr>
          <a:xfrm>
            <a:off x="6210147" y="1554480"/>
            <a:ext cx="5432907" cy="1493520"/>
            <a:chOff x="6210147" y="1554480"/>
            <a:chExt cx="5432907" cy="1493520"/>
          </a:xfrm>
        </p:grpSpPr>
        <p:sp>
          <p:nvSpPr>
            <p:cNvPr id="17" name="Rounded Rectangle 16"/>
            <p:cNvSpPr/>
            <p:nvPr/>
          </p:nvSpPr>
          <p:spPr>
            <a:xfrm>
              <a:off x="6210147" y="1554480"/>
              <a:ext cx="5432907" cy="1493520"/>
            </a:xfrm>
            <a:prstGeom prst="roundRect">
              <a:avLst>
                <a:gd name="adj" fmla="val 489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6621627" y="1691639"/>
              <a:ext cx="4884267"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charset="0"/>
                  <a:ea typeface="微软雅黑"/>
                  <a:cs typeface="Arial" charset="0"/>
                </a:rPr>
                <a:t>检</a:t>
              </a:r>
              <a:r>
                <a:rPr sz="1600" b="0">
                  <a:solidFill>
                    <a:srgbClr val="1F3A5F"/>
                  </a:solidFill>
                  <a:latin typeface="Arial" charset="0"/>
                  <a:ea typeface="微软雅黑"/>
                  <a:cs typeface="Arial" charset="0"/>
                </a:rPr>
                <a:t>出限</a:t>
              </a:r>
              <a:r>
                <a:rPr sz="1600" b="0">
                  <a:solidFill>
                    <a:srgbClr val="1F3A5F"/>
                  </a:solidFill>
                  <a:latin typeface="Arial" charset="0"/>
                  <a:ea typeface="微软雅黑"/>
                  <a:cs typeface="Arial" charset="0"/>
                </a:rPr>
                <a:t>：</a:t>
              </a:r>
              <a:r>
                <a:rPr sz="1600" b="0">
                  <a:solidFill>
                    <a:srgbClr val="222222"/>
                  </a:solidFill>
                  <a:latin typeface="Arial" charset="0"/>
                  <a:ea typeface="微软雅黑"/>
                  <a:cs typeface="Arial" charset="0"/>
                </a:rPr>
                <a:t>是生物样品按照分析方法的要求进行提取处理并检测，能区分于噪声的最低检出浓度</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是产生一个能可靠地被检出的分析信号所需要的某元素的最小浓度或含量。</a:t>
              </a:r>
              <a:r>
                <a:rPr sz="1600" b="0">
                  <a:solidFill>
                    <a:srgbClr val="222222"/>
                  </a:solidFill>
                  <a:latin typeface="Arial" charset="0"/>
                  <a:ea typeface="微软雅黑"/>
                  <a:cs typeface="Arial" charset="0"/>
                </a:rPr>
                <a:t>是定性检出，存在高于空白的待测物质。</a:t>
              </a:r>
              <a:endParaRPr sz="1600" b="0">
                <a:solidFill>
                  <a:srgbClr val="222222"/>
                </a:solidFill>
                <a:latin typeface="Arial" charset="0"/>
                <a:ea typeface="微软雅黑"/>
                <a:cs typeface="Arial" charset="0"/>
              </a:endParaRPr>
            </a:p>
          </p:txBody>
        </p:sp>
        <p:sp>
          <p:nvSpPr>
            <p:cNvPr id="20" name="CITE"/>
            <p:cNvSpPr txBox="1"/>
            <p:nvPr/>
          </p:nvSpPr>
          <p:spPr>
            <a:xfrm>
              <a:off x="10064792" y="2679192"/>
              <a:ext cx="14411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原PPT补充</a:t>
              </a:r>
              <a:endParaRPr sz="1200" b="0">
                <a:solidFill>
                  <a:srgbClr val="5B6B7F"/>
                </a:solidFill>
                <a:latin typeface="Arial" charset="0"/>
                <a:ea typeface="微软雅黑"/>
                <a:cs typeface="Arial" charset="0"/>
              </a:endParaRPr>
            </a:p>
          </p:txBody>
        </p:sp>
      </p:grpSp>
      <p:grpSp>
        <p:nvGrpSpPr>
          <p:cNvPr id="21" name="QBOX"/>
          <p:cNvGrpSpPr/>
          <p:nvPr/>
        </p:nvGrpSpPr>
        <p:grpSpPr>
          <a:xfrm>
            <a:off x="6210147" y="3276599"/>
            <a:ext cx="5432907" cy="2225040"/>
            <a:chOff x="6210147" y="3276599"/>
            <a:chExt cx="5432907" cy="2225040"/>
          </a:xfrm>
        </p:grpSpPr>
        <p:sp>
          <p:nvSpPr>
            <p:cNvPr id="22" name="Rounded Rectangle 21"/>
            <p:cNvSpPr/>
            <p:nvPr/>
          </p:nvSpPr>
          <p:spPr>
            <a:xfrm>
              <a:off x="6210147" y="3276599"/>
              <a:ext cx="5432907" cy="2225040"/>
            </a:xfrm>
            <a:prstGeom prst="roundRect">
              <a:avLst>
                <a:gd name="adj" fmla="val 328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32231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4" name="TextBox 23"/>
            <p:cNvSpPr txBox="1"/>
            <p:nvPr/>
          </p:nvSpPr>
          <p:spPr>
            <a:xfrm>
              <a:off x="6621627" y="3413759"/>
              <a:ext cx="4884267" cy="19598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charset="0"/>
                  <a:ea typeface="微软雅黑"/>
                  <a:cs typeface="Arial" charset="0"/>
                </a:rPr>
                <a:t>检测下限：</a:t>
              </a:r>
              <a:r>
                <a:rPr sz="1600" b="0">
                  <a:solidFill>
                    <a:srgbClr val="222222"/>
                  </a:solidFill>
                  <a:latin typeface="Arial" charset="0"/>
                  <a:ea typeface="微软雅黑"/>
                  <a:cs typeface="Arial" charset="0"/>
                </a:rPr>
                <a:t>是在限定误差能满足预定要求的前提下，用特定方法能够准确定量测定被测物质的最低浓度或含量</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测定限则是指定量分析实际可以达到的极限。因为当元素在试样中的含量相当于方法的检出限时，虽然能可靠地检测其分析信号，证明该元素在试样中确实存在，但定量测定的误差可能非常大，测量的结果仅具有定性分析的价值。测定限在数值上总应高于检出限。</a:t>
              </a:r>
              <a:endParaRPr sz="1600" b="0">
                <a:solidFill>
                  <a:srgbClr val="222222"/>
                </a:solidFill>
                <a:latin typeface="Arial" charset="0"/>
                <a:ea typeface="微软雅黑"/>
                <a:cs typeface="Arial" charset="0"/>
              </a:endParaRPr>
            </a:p>
          </p:txBody>
        </p:sp>
        <p:sp>
          <p:nvSpPr>
            <p:cNvPr id="25" name="CITE"/>
            <p:cNvSpPr txBox="1"/>
            <p:nvPr/>
          </p:nvSpPr>
          <p:spPr>
            <a:xfrm>
              <a:off x="10064792" y="5132831"/>
              <a:ext cx="14411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原PPT补充</a:t>
              </a:r>
              <a:endParaRPr sz="1200" b="0">
                <a:solidFill>
                  <a:srgbClr val="5B6B7F"/>
                </a:solidFill>
                <a:latin typeface="Arial" charset="0"/>
                <a:ea typeface="微软雅黑"/>
                <a:cs typeface="Arial" charset="0"/>
              </a:endParaRPr>
            </a:p>
          </p:txBody>
        </p:sp>
      </p:grpSp>
      <p:pic>
        <p:nvPicPr>
          <p:cNvPr id="26"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术语和定义（续）</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31</a:t>
            </a:r>
            <a:endParaRPr sz="1200" b="0">
              <a:solidFill>
                <a:srgbClr val="6B7280"/>
              </a:solidFill>
              <a:latin typeface="Arial" charset="0"/>
              <a:ea typeface="微软雅黑"/>
              <a:cs typeface="Arial" charset="0"/>
            </a:endParaRPr>
          </a:p>
        </p:txBody>
      </p:sp>
      <p:sp>
        <p:nvSpPr>
          <p:cNvPr id="6" name="SRCBADGE"/>
          <p:cNvSpPr/>
          <p:nvPr/>
        </p:nvSpPr>
        <p:spPr>
          <a:xfrm>
            <a:off x="8990960" y="5852160"/>
            <a:ext cx="2652094"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来源：原PPT补充；CLSI EP17-A</a:t>
            </a:r>
            <a:endParaRPr sz="1200" b="1">
              <a:solidFill>
                <a:srgbClr val="1F3A5F"/>
              </a:solidFill>
              <a:latin typeface="Arial" charset="0"/>
              <a:ea typeface="微软雅黑"/>
              <a:cs typeface="Arial" charset="0"/>
            </a:endParaRPr>
          </a:p>
        </p:txBody>
      </p:sp>
      <p:grpSp>
        <p:nvGrpSpPr>
          <p:cNvPr id="7" name="QBOX"/>
          <p:cNvGrpSpPr/>
          <p:nvPr/>
        </p:nvGrpSpPr>
        <p:grpSpPr>
          <a:xfrm>
            <a:off x="548640" y="1554480"/>
            <a:ext cx="8263661" cy="1225295"/>
            <a:chOff x="548640" y="1554480"/>
            <a:chExt cx="8263661" cy="1225295"/>
          </a:xfrm>
        </p:grpSpPr>
        <p:sp>
          <p:nvSpPr>
            <p:cNvPr id="8" name="Rounded Rectangle 7"/>
            <p:cNvSpPr/>
            <p:nvPr/>
          </p:nvSpPr>
          <p:spPr>
            <a:xfrm>
              <a:off x="548640" y="1554480"/>
              <a:ext cx="8263661" cy="1225295"/>
            </a:xfrm>
            <a:prstGeom prst="roundRect">
              <a:avLst>
                <a:gd name="adj" fmla="val 59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0" name="TextBox 9"/>
            <p:cNvSpPr txBox="1"/>
            <p:nvPr/>
          </p:nvSpPr>
          <p:spPr>
            <a:xfrm>
              <a:off x="960120" y="1691639"/>
              <a:ext cx="7715021" cy="7406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charset="0"/>
                  <a:ea typeface="微软雅黑"/>
                  <a:cs typeface="Arial" charset="0"/>
                </a:rPr>
                <a:t>灵敏度：</a:t>
              </a:r>
              <a:r>
                <a:rPr sz="1600" b="0">
                  <a:solidFill>
                    <a:srgbClr val="222222"/>
                  </a:solidFill>
                  <a:latin typeface="Arial" charset="0"/>
                  <a:ea typeface="微软雅黑"/>
                  <a:cs typeface="Arial" charset="0"/>
                </a:rPr>
                <a:t>又称分析灵敏度。</a:t>
              </a:r>
              <a:r>
                <a:rPr sz="1600" b="0">
                  <a:solidFill>
                    <a:srgbClr val="222222"/>
                  </a:solidFill>
                  <a:latin typeface="Arial" charset="0"/>
                  <a:ea typeface="微软雅黑"/>
                  <a:cs typeface="Arial" charset="0"/>
                </a:rPr>
                <a:t>IUPAC</a:t>
              </a:r>
              <a:r>
                <a:rPr sz="1600" b="0">
                  <a:solidFill>
                    <a:srgbClr val="222222"/>
                  </a:solidFill>
                  <a:latin typeface="Arial" charset="0"/>
                  <a:ea typeface="微软雅黑"/>
                  <a:cs typeface="Arial" charset="0"/>
                </a:rPr>
                <a:t>将方法的灵敏度定义为被测组分浓度或含量改变</a:t>
              </a:r>
              <a:r>
                <a:rPr sz="1600" b="0">
                  <a:solidFill>
                    <a:srgbClr val="222222"/>
                  </a:solidFill>
                  <a:latin typeface="Arial" charset="0"/>
                  <a:ea typeface="微软雅黑"/>
                  <a:cs typeface="Arial" charset="0"/>
                </a:rPr>
                <a:t>1</a:t>
              </a:r>
              <a:r>
                <a:rPr sz="1600" b="0">
                  <a:solidFill>
                    <a:srgbClr val="222222"/>
                  </a:solidFill>
                  <a:latin typeface="Arial" charset="0"/>
                  <a:ea typeface="微软雅黑"/>
                  <a:cs typeface="Arial" charset="0"/>
                </a:rPr>
                <a:t>各单位时所引起的分析信号的变化。在分析方法的校准曲线上，一般可以认为灵敏度就是分析校准曲线的斜率。曲线斜率越大，表示方法的灵敏度越高。</a:t>
              </a:r>
              <a:endParaRPr sz="1600" b="0">
                <a:solidFill>
                  <a:srgbClr val="222222"/>
                </a:solidFill>
                <a:latin typeface="Arial" charset="0"/>
                <a:ea typeface="微软雅黑"/>
                <a:cs typeface="Arial" charset="0"/>
              </a:endParaRPr>
            </a:p>
          </p:txBody>
        </p:sp>
        <p:sp>
          <p:nvSpPr>
            <p:cNvPr id="11" name="CITE"/>
            <p:cNvSpPr txBox="1"/>
            <p:nvPr/>
          </p:nvSpPr>
          <p:spPr>
            <a:xfrm>
              <a:off x="7234038" y="2441448"/>
              <a:ext cx="14411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原PPT补充</a:t>
              </a:r>
              <a:endParaRPr sz="1200" b="0">
                <a:solidFill>
                  <a:srgbClr val="5B6B7F"/>
                </a:solidFill>
                <a:latin typeface="Arial" charset="0"/>
                <a:ea typeface="微软雅黑"/>
                <a:cs typeface="Arial" charset="0"/>
              </a:endParaRPr>
            </a:p>
          </p:txBody>
        </p:sp>
      </p:grpSp>
      <p:grpSp>
        <p:nvGrpSpPr>
          <p:cNvPr id="12" name="QBOX"/>
          <p:cNvGrpSpPr/>
          <p:nvPr/>
        </p:nvGrpSpPr>
        <p:grpSpPr>
          <a:xfrm>
            <a:off x="548640" y="3008376"/>
            <a:ext cx="8263661" cy="2001519"/>
            <a:chOff x="548640" y="3008376"/>
            <a:chExt cx="8263661" cy="2001519"/>
          </a:xfrm>
        </p:grpSpPr>
        <p:sp>
          <p:nvSpPr>
            <p:cNvPr id="13" name="Rounded Rectangle 12"/>
            <p:cNvSpPr/>
            <p:nvPr/>
          </p:nvSpPr>
          <p:spPr>
            <a:xfrm>
              <a:off x="548640" y="3008376"/>
              <a:ext cx="8263661" cy="2001519"/>
            </a:xfrm>
            <a:prstGeom prst="roundRect">
              <a:avLst>
                <a:gd name="adj" fmla="val 365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05409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5" name="TextBox 14"/>
            <p:cNvSpPr txBox="1"/>
            <p:nvPr/>
          </p:nvSpPr>
          <p:spPr>
            <a:xfrm>
              <a:off x="960120" y="3145536"/>
              <a:ext cx="7715021" cy="173634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如化学发光法检测</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的实验，</a:t>
              </a:r>
              <a:r>
                <a:rPr sz="1600" b="0">
                  <a:solidFill>
                    <a:srgbClr val="222222"/>
                  </a:solidFill>
                  <a:latin typeface="Arial" charset="0"/>
                  <a:ea typeface="微软雅黑"/>
                  <a:cs typeface="Arial" charset="0"/>
                </a:rPr>
                <a:t>LoB</a:t>
              </a:r>
              <a:r>
                <a:rPr sz="1600" b="0">
                  <a:solidFill>
                    <a:srgbClr val="222222"/>
                  </a:solidFill>
                  <a:latin typeface="Arial" charset="0"/>
                  <a:ea typeface="微软雅黑"/>
                  <a:cs typeface="Arial" charset="0"/>
                </a:rPr>
                <a:t>（空白检测限）为</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，检出限</a:t>
              </a:r>
              <a:r>
                <a:rPr sz="1600" b="0">
                  <a:solidFill>
                    <a:srgbClr val="222222"/>
                  </a:solidFill>
                  <a:latin typeface="Arial" charset="0"/>
                  <a:ea typeface="微软雅黑"/>
                  <a:cs typeface="Arial" charset="0"/>
                </a:rPr>
                <a:t>LoD</a:t>
              </a:r>
              <a:r>
                <a:rPr sz="1600" b="0">
                  <a:solidFill>
                    <a:srgbClr val="222222"/>
                  </a:solidFill>
                  <a:latin typeface="Arial" charset="0"/>
                  <a:ea typeface="微软雅黑"/>
                  <a:cs typeface="Arial" charset="0"/>
                </a:rPr>
                <a:t>为</a:t>
              </a:r>
              <a:r>
                <a:rPr sz="1600" b="0">
                  <a:solidFill>
                    <a:srgbClr val="222222"/>
                  </a:solidFill>
                  <a:latin typeface="Arial" charset="0"/>
                  <a:ea typeface="微软雅黑"/>
                  <a:cs typeface="Arial" charset="0"/>
                </a:rPr>
                <a:t>2.6ug/L</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LoQ</a:t>
              </a:r>
              <a:r>
                <a:rPr sz="1600" b="0">
                  <a:solidFill>
                    <a:srgbClr val="222222"/>
                  </a:solidFill>
                  <a:latin typeface="Arial" charset="0"/>
                  <a:ea typeface="微软雅黑"/>
                  <a:cs typeface="Arial" charset="0"/>
                </a:rPr>
                <a:t>（定量</a:t>
              </a:r>
              <a:r>
                <a:rPr sz="1600" b="0">
                  <a:solidFill>
                    <a:srgbClr val="222222"/>
                  </a:solidFill>
                  <a:latin typeface="Arial" charset="0"/>
                  <a:ea typeface="微软雅黑"/>
                  <a:cs typeface="Arial" charset="0"/>
                </a:rPr>
                <a:t>LoD</a:t>
              </a:r>
              <a:r>
                <a:rPr sz="1600" b="0">
                  <a:solidFill>
                    <a:srgbClr val="222222"/>
                  </a:solidFill>
                  <a:latin typeface="Arial" charset="0"/>
                  <a:ea typeface="微软雅黑"/>
                  <a:cs typeface="Arial" charset="0"/>
                </a:rPr>
                <a:t> </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为</a:t>
              </a:r>
              <a:r>
                <a:rPr sz="1600" b="0">
                  <a:solidFill>
                    <a:srgbClr val="222222"/>
                  </a:solidFill>
                  <a:latin typeface="Arial" charset="0"/>
                  <a:ea typeface="微软雅黑"/>
                  <a:cs typeface="Arial" charset="0"/>
                </a:rPr>
                <a:t>3.3ug/L</a:t>
              </a:r>
              <a:r>
                <a:rPr sz="1600" b="0">
                  <a:solidFill>
                    <a:srgbClr val="222222"/>
                  </a:solidFill>
                  <a:latin typeface="Arial" charset="0"/>
                  <a:ea typeface="微软雅黑"/>
                  <a:cs typeface="Arial" charset="0"/>
                </a:rPr>
                <a:t>，使用该检测系统</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报告结果时，若</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检测结果低于</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，则报告“分析物未检出，浓度小于</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；若</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检测结果高于</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小于</a:t>
              </a:r>
              <a:r>
                <a:rPr sz="1600" b="0">
                  <a:solidFill>
                    <a:srgbClr val="222222"/>
                  </a:solidFill>
                  <a:latin typeface="Arial" charset="0"/>
                  <a:ea typeface="微软雅黑"/>
                  <a:cs typeface="Arial" charset="0"/>
                </a:rPr>
                <a:t>2.6ug/L,</a:t>
              </a:r>
              <a:r>
                <a:rPr sz="1600" b="0">
                  <a:solidFill>
                    <a:srgbClr val="222222"/>
                  </a:solidFill>
                  <a:latin typeface="Arial" charset="0"/>
                  <a:ea typeface="微软雅黑"/>
                  <a:cs typeface="Arial" charset="0"/>
                </a:rPr>
                <a:t>则报告“有分析物检出，但不能定量，浓度小于</a:t>
              </a:r>
              <a:r>
                <a:rPr sz="1600" b="0">
                  <a:solidFill>
                    <a:srgbClr val="222222"/>
                  </a:solidFill>
                  <a:latin typeface="Arial" charset="0"/>
                  <a:ea typeface="微软雅黑"/>
                  <a:cs typeface="Arial" charset="0"/>
                </a:rPr>
                <a:t>2.6ug/L”</a:t>
              </a:r>
              <a:r>
                <a:rPr sz="1600" b="0">
                  <a:solidFill>
                    <a:srgbClr val="222222"/>
                  </a:solidFill>
                  <a:latin typeface="Arial" charset="0"/>
                  <a:ea typeface="微软雅黑"/>
                  <a:cs typeface="Arial" charset="0"/>
                </a:rPr>
                <a:t>；若</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检测结果高于</a:t>
              </a:r>
              <a:r>
                <a:rPr sz="1600" b="0">
                  <a:solidFill>
                    <a:srgbClr val="222222"/>
                  </a:solidFill>
                  <a:latin typeface="Arial" charset="0"/>
                  <a:ea typeface="微软雅黑"/>
                  <a:cs typeface="Arial" charset="0"/>
                </a:rPr>
                <a:t>3.3ug/L</a:t>
              </a:r>
              <a:r>
                <a:rPr sz="1600" b="0">
                  <a:solidFill>
                    <a:srgbClr val="222222"/>
                  </a:solidFill>
                  <a:latin typeface="Arial" charset="0"/>
                  <a:ea typeface="微软雅黑"/>
                  <a:cs typeface="Arial" charset="0"/>
                </a:rPr>
                <a:t>，则直接报告检测结果。临床医生可放心使用浓度高于</a:t>
              </a:r>
              <a:r>
                <a:rPr sz="1600" b="0">
                  <a:solidFill>
                    <a:srgbClr val="222222"/>
                  </a:solidFill>
                  <a:latin typeface="Arial" charset="0"/>
                  <a:ea typeface="微软雅黑"/>
                  <a:cs typeface="Arial" charset="0"/>
                </a:rPr>
                <a:t>3.3ug/L</a:t>
              </a:r>
              <a:r>
                <a:rPr sz="1600" b="0">
                  <a:solidFill>
                    <a:srgbClr val="222222"/>
                  </a:solidFill>
                  <a:latin typeface="Arial" charset="0"/>
                  <a:ea typeface="微软雅黑"/>
                  <a:cs typeface="Arial" charset="0"/>
                </a:rPr>
                <a:t>的</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结果，有助于临床诊断以及治疗监测。</a:t>
              </a:r>
              <a:endParaRPr sz="1600" b="0">
                <a:solidFill>
                  <a:srgbClr val="222222"/>
                </a:solidFill>
                <a:latin typeface="Arial" charset="0"/>
                <a:ea typeface="微软雅黑"/>
                <a:cs typeface="Arial" charset="0"/>
              </a:endParaRPr>
            </a:p>
            <a:p>
              <a:pPr algn="r">
                <a:lnSpc>
                  <a:spcPts val="1680"/>
                </a:lnSpc>
                <a:spcBef>
                  <a:spcPts val="400"/>
                </a:spcBef>
                <a:spcAft>
                  <a:spcPts val="0"/>
                </a:spcAft>
                <a:buNone/>
              </a:pPr>
              <a:r>
                <a:rPr sz="1400" b="0">
                  <a:solidFill>
                    <a:srgbClr val="5B6B7F"/>
                  </a:solidFill>
                  <a:latin typeface="Arial" charset="0"/>
                  <a:ea typeface="微软雅黑"/>
                  <a:cs typeface="Arial" charset="0"/>
                </a:rPr>
                <a:t>—— </a:t>
              </a:r>
              <a:r>
                <a:rPr sz="1400" b="0">
                  <a:solidFill>
                    <a:srgbClr val="5B6B7F"/>
                  </a:solidFill>
                  <a:latin typeface="Arial" charset="0"/>
                  <a:ea typeface="微软雅黑"/>
                  <a:cs typeface="Arial" charset="0"/>
                </a:rPr>
                <a:t>美国临床和实验室标准协会（</a:t>
              </a:r>
              <a:r>
                <a:rPr sz="1400" b="0">
                  <a:solidFill>
                    <a:srgbClr val="5B6B7F"/>
                  </a:solidFill>
                  <a:latin typeface="Arial" charset="0"/>
                  <a:ea typeface="微软雅黑"/>
                  <a:cs typeface="Arial" charset="0"/>
                </a:rPr>
                <a:t>CLSI</a:t>
              </a:r>
              <a:r>
                <a:rPr sz="1400" b="0">
                  <a:solidFill>
                    <a:srgbClr val="5B6B7F"/>
                  </a:solidFill>
                  <a:latin typeface="Arial" charset="0"/>
                  <a:ea typeface="微软雅黑"/>
                  <a:cs typeface="Arial" charset="0"/>
                </a:rPr>
                <a:t>）</a:t>
              </a:r>
              <a:r>
                <a:rPr sz="1400" b="0">
                  <a:solidFill>
                    <a:srgbClr val="5B6B7F"/>
                  </a:solidFill>
                  <a:latin typeface="Arial" charset="0"/>
                  <a:ea typeface="微软雅黑"/>
                  <a:cs typeface="Arial" charset="0"/>
                </a:rPr>
                <a:t>《</a:t>
              </a:r>
              <a:r>
                <a:rPr sz="1400" b="0">
                  <a:solidFill>
                    <a:srgbClr val="5B6B7F"/>
                  </a:solidFill>
                  <a:latin typeface="Arial" charset="0"/>
                  <a:ea typeface="微软雅黑"/>
                  <a:cs typeface="Arial" charset="0"/>
                </a:rPr>
                <a:t>确定检出限与定量检出限方案</a:t>
              </a:r>
              <a:r>
                <a:rPr sz="1400" b="0">
                  <a:solidFill>
                    <a:srgbClr val="5B6B7F"/>
                  </a:solidFill>
                  <a:latin typeface="Arial" charset="0"/>
                  <a:ea typeface="微软雅黑"/>
                  <a:cs typeface="Arial" charset="0"/>
                </a:rPr>
                <a:t>》</a:t>
              </a:r>
              <a:r>
                <a:rPr sz="1400" b="0">
                  <a:solidFill>
                    <a:srgbClr val="5B6B7F"/>
                  </a:solidFill>
                  <a:latin typeface="Arial" charset="0"/>
                  <a:ea typeface="微软雅黑"/>
                  <a:cs typeface="Arial" charset="0"/>
                </a:rPr>
                <a:t>即</a:t>
              </a:r>
              <a:r>
                <a:rPr sz="1400" b="0">
                  <a:solidFill>
                    <a:srgbClr val="5B6B7F"/>
                  </a:solidFill>
                  <a:latin typeface="Arial" charset="0"/>
                  <a:ea typeface="微软雅黑"/>
                  <a:cs typeface="Arial" charset="0"/>
                </a:rPr>
                <a:t>EP17-A</a:t>
              </a:r>
              <a:r>
                <a:rPr sz="1400" b="0">
                  <a:solidFill>
                    <a:srgbClr val="5B6B7F"/>
                  </a:solidFill>
                  <a:latin typeface="Arial" charset="0"/>
                  <a:ea typeface="微软雅黑"/>
                  <a:cs typeface="Arial" charset="0"/>
                </a:rPr>
                <a:t>文件</a:t>
              </a:r>
              <a:endParaRPr sz="1400" b="0">
                <a:solidFill>
                  <a:srgbClr val="5B6B7F"/>
                </a:solidFill>
                <a:latin typeface="Arial" charset="0"/>
                <a:ea typeface="微软雅黑"/>
                <a:cs typeface="Arial" charset="0"/>
              </a:endParaRPr>
            </a:p>
          </p:txBody>
        </p:sp>
      </p:grpSp>
      <p:cxnSp>
        <p:nvCxnSpPr>
          <p:cNvPr id="16" name="LINE"/>
          <p:cNvCxnSpPr/>
          <p:nvPr/>
        </p:nvCxnSpPr>
        <p:spPr>
          <a:xfrm>
            <a:off x="822959" y="5531104"/>
            <a:ext cx="7440702" cy="0"/>
          </a:xfrm>
          <a:prstGeom prst="line">
            <a:avLst/>
          </a:prstGeom>
          <a:ln w="25400">
            <a:solidFill>
              <a:srgbClr val="5B6B7F"/>
            </a:solidFill>
          </a:ln>
        </p:spPr>
        <p:style>
          <a:lnRef idx="2">
            <a:schemeClr val="accent1"/>
          </a:lnRef>
          <a:fillRef idx="0">
            <a:schemeClr val="accent1"/>
          </a:fillRef>
          <a:effectRef idx="1">
            <a:schemeClr val="accent1"/>
          </a:effectRef>
          <a:fontRef idx="minor">
            <a:schemeClr val="tx1"/>
          </a:fontRef>
        </p:style>
      </p:cxnSp>
      <p:sp>
        <p:nvSpPr>
          <p:cNvPr id="17" name="SEG"/>
          <p:cNvSpPr/>
          <p:nvPr/>
        </p:nvSpPr>
        <p:spPr>
          <a:xfrm>
            <a:off x="5659415" y="5467096"/>
            <a:ext cx="1302122" cy="128016"/>
          </a:xfrm>
          <a:prstGeom prst="roundRect">
            <a:avLst>
              <a:gd name="adj" fmla="val 14285"/>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INE"/>
          <p:cNvCxnSpPr/>
          <p:nvPr/>
        </p:nvCxnSpPr>
        <p:spPr>
          <a:xfrm>
            <a:off x="2311100"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85390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charset="0"/>
                <a:ea typeface="微软雅黑"/>
                <a:cs typeface="Arial" charset="0"/>
              </a:rPr>
              <a:t>LoB 0.8</a:t>
            </a:r>
            <a:endParaRPr sz="1200" b="0">
              <a:solidFill>
                <a:srgbClr val="1F3A5F"/>
              </a:solidFill>
              <a:latin typeface="Arial" charset="0"/>
              <a:ea typeface="微软雅黑"/>
              <a:cs typeface="Arial" charset="0"/>
            </a:endParaRPr>
          </a:p>
        </p:txBody>
      </p:sp>
      <p:cxnSp>
        <p:nvCxnSpPr>
          <p:cNvPr id="20" name="LINE"/>
          <p:cNvCxnSpPr/>
          <p:nvPr/>
        </p:nvCxnSpPr>
        <p:spPr>
          <a:xfrm>
            <a:off x="5659415"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37623"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charset="0"/>
                <a:ea typeface="微软雅黑"/>
                <a:cs typeface="Arial" charset="0"/>
              </a:rPr>
              <a:t>LoD 2.6</a:t>
            </a:r>
            <a:endParaRPr sz="1200" b="0">
              <a:solidFill>
                <a:srgbClr val="1F3A5F"/>
              </a:solidFill>
              <a:latin typeface="Arial" charset="0"/>
              <a:ea typeface="微软雅黑"/>
              <a:cs typeface="Arial" charset="0"/>
            </a:endParaRPr>
          </a:p>
        </p:txBody>
      </p:sp>
      <p:cxnSp>
        <p:nvCxnSpPr>
          <p:cNvPr id="22" name="LINE"/>
          <p:cNvCxnSpPr/>
          <p:nvPr/>
        </p:nvCxnSpPr>
        <p:spPr>
          <a:xfrm>
            <a:off x="6961538"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6893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charset="0"/>
                <a:ea typeface="微软雅黑"/>
                <a:cs typeface="Arial" charset="0"/>
              </a:rPr>
              <a:t>LoQ 3.3</a:t>
            </a:r>
            <a:endParaRPr sz="1200" b="0">
              <a:solidFill>
                <a:srgbClr val="1F3A5F"/>
              </a:solidFill>
              <a:latin typeface="Arial" charset="0"/>
              <a:ea typeface="微软雅黑"/>
              <a:cs typeface="Arial" charset="0"/>
            </a:endParaRPr>
          </a:p>
        </p:txBody>
      </p:sp>
      <p:sp>
        <p:nvSpPr>
          <p:cNvPr id="24" name="TextBox 23"/>
          <p:cNvSpPr txBox="1"/>
          <p:nvPr/>
        </p:nvSpPr>
        <p:spPr>
          <a:xfrm>
            <a:off x="8355101" y="5412232"/>
            <a:ext cx="548640" cy="237744"/>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μg/L</a:t>
            </a:r>
            <a:endParaRPr sz="1200" b="0">
              <a:solidFill>
                <a:srgbClr val="6B7280"/>
              </a:solidFill>
              <a:latin typeface="Arial" charset="0"/>
              <a:ea typeface="微软雅黑"/>
              <a:cs typeface="Arial" charset="0"/>
            </a:endParaRPr>
          </a:p>
        </p:txBody>
      </p:sp>
      <p:sp>
        <p:nvSpPr>
          <p:cNvPr id="25" name="BADGE"/>
          <p:cNvSpPr/>
          <p:nvPr/>
        </p:nvSpPr>
        <p:spPr>
          <a:xfrm>
            <a:off x="5468904" y="5238496"/>
            <a:ext cx="1683145" cy="219456"/>
          </a:xfrm>
          <a:prstGeom prst="roundRect">
            <a:avLst>
              <a:gd name="adj" fmla="val 33333"/>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原文未给报告方式</a:t>
            </a:r>
            <a:endParaRPr sz="1200" b="1">
              <a:solidFill>
                <a:srgbClr val="FFFFFF"/>
              </a:solidFill>
              <a:latin typeface="Arial" charset="0"/>
              <a:ea typeface="微软雅黑"/>
              <a:cs typeface="Arial" charset="0"/>
            </a:endParaRPr>
          </a:p>
        </p:txBody>
      </p:sp>
      <p:pic>
        <p:nvPicPr>
          <p:cNvPr id="26" name="NEWIMG" descr="21_1.png"/>
          <p:cNvPicPr>
            <a:picLocks noChangeAspect="1"/>
          </p:cNvPicPr>
          <p:nvPr/>
        </p:nvPicPr>
        <p:blipFill>
          <a:blip r:embed="rId1"/>
          <a:stretch>
            <a:fillRect/>
          </a:stretch>
        </p:blipFill>
        <p:spPr>
          <a:xfrm>
            <a:off x="9040901" y="1554480"/>
            <a:ext cx="2529840" cy="3794760"/>
          </a:xfrm>
          <a:prstGeom prst="roundRect">
            <a:avLst>
              <a:gd name="adj" fmla="val 2891"/>
            </a:avLst>
          </a:prstGeom>
        </p:spPr>
      </p:pic>
      <p:sp>
        <p:nvSpPr>
          <p:cNvPr id="27" name="TextBox 26"/>
          <p:cNvSpPr txBox="1"/>
          <p:nvPr/>
        </p:nvSpPr>
        <p:spPr>
          <a:xfrm>
            <a:off x="9040901" y="5404104"/>
            <a:ext cx="260215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a:t>
            </a:r>
            <a:endParaRPr sz="1200" b="0">
              <a:solidFill>
                <a:srgbClr val="6B7280"/>
              </a:solidFill>
              <a:latin typeface="Arial" charset="0"/>
              <a:ea typeface="微软雅黑"/>
              <a:cs typeface="Arial" charset="0"/>
            </a:endParaRPr>
          </a:p>
        </p:txBody>
      </p:sp>
      <p:pic>
        <p:nvPicPr>
          <p:cNvPr id="28"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a:t>
            </a:r>
            <a:endParaRPr sz="2800" b="1">
              <a:solidFill>
                <a:srgbClr val="1F3A5F"/>
              </a:solidFill>
              <a:latin typeface="Arial" charset="0"/>
              <a:ea typeface="微软雅黑"/>
              <a:cs typeface="Arial" charset="0"/>
            </a:endParaRPr>
          </a:p>
        </p:txBody>
      </p:sp>
      <p:pic>
        <p:nvPicPr>
          <p:cNvPr id="4" name="NEWIMG_CORNER" descr="chain.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32</a:t>
            </a:r>
            <a:endParaRPr sz="1200" b="0">
              <a:solidFill>
                <a:srgbClr val="6B7280"/>
              </a:solidFill>
              <a:latin typeface="Arial" charset="0"/>
              <a:ea typeface="微软雅黑"/>
              <a:cs typeface="Arial" charset="0"/>
            </a:endParaRPr>
          </a:p>
        </p:txBody>
      </p:sp>
      <p:sp>
        <p:nvSpPr>
          <p:cNvPr id="7" name="SRCBADGE"/>
          <p:cNvSpPr/>
          <p:nvPr/>
        </p:nvSpPr>
        <p:spPr>
          <a:xfrm>
            <a:off x="8805421" y="5852160"/>
            <a:ext cx="283763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来源：GL047 第3章；GB/T 29791.1</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7320076" cy="2119376"/>
            <a:chOff x="548640" y="1554480"/>
            <a:chExt cx="7320076" cy="2119376"/>
          </a:xfrm>
        </p:grpSpPr>
        <p:sp>
          <p:nvSpPr>
            <p:cNvPr id="9" name="Rounded Rectangle 8"/>
            <p:cNvSpPr/>
            <p:nvPr/>
          </p:nvSpPr>
          <p:spPr>
            <a:xfrm>
              <a:off x="548640" y="1554480"/>
              <a:ext cx="7320076" cy="2119376"/>
            </a:xfrm>
            <a:prstGeom prst="roundRect">
              <a:avLst>
                <a:gd name="adj" fmla="val 345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6771436" cy="163474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测量结果的计量学可比性 </a:t>
              </a:r>
              <a:r>
                <a:rPr sz="1800" b="1">
                  <a:solidFill>
                    <a:srgbClr val="1F3A5F"/>
                  </a:solidFill>
                  <a:latin typeface="Arial" charset="0"/>
                  <a:ea typeface="微软雅黑"/>
                  <a:cs typeface="Arial" charset="0"/>
                </a:rPr>
                <a:t>metrological comparability of measurement results</a:t>
              </a:r>
              <a:endParaRPr sz="1800" b="1">
                <a:solidFill>
                  <a:srgbClr val="1F3A5F"/>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对于给定种类的量，计量可溯源到同一参照的测量结果间可比较的特性。</a:t>
              </a:r>
              <a:endParaRPr sz="18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[GB/T 29791.1-2013/ISO 18113-1</a:t>
              </a: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2009</a:t>
              </a: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A.3.39]</a:t>
              </a:r>
              <a:r>
                <a:rPr sz="1400" b="0">
                  <a:solidFill>
                    <a:srgbClr val="222222"/>
                  </a:solidFill>
                  <a:latin typeface="Arial" charset="0"/>
                  <a:ea typeface="微软雅黑"/>
                  <a:cs typeface="Arial" charset="0"/>
                </a:rPr>
                <a:t>体外诊断医疗器械</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制造商提供的信息（标签）第</a:t>
              </a:r>
              <a:r>
                <a:rPr sz="1400" b="0">
                  <a:solidFill>
                    <a:srgbClr val="222222"/>
                  </a:solidFill>
                  <a:latin typeface="Arial" charset="0"/>
                  <a:ea typeface="微软雅黑"/>
                  <a:cs typeface="Arial" charset="0"/>
                </a:rPr>
                <a:t>1</a:t>
              </a:r>
              <a:r>
                <a:rPr sz="1400" b="0">
                  <a:solidFill>
                    <a:srgbClr val="222222"/>
                  </a:solidFill>
                  <a:latin typeface="Arial" charset="0"/>
                  <a:ea typeface="微软雅黑"/>
                  <a:cs typeface="Arial" charset="0"/>
                </a:rPr>
                <a:t>部分术语、定义和通用要求</a:t>
              </a:r>
              <a:endParaRPr sz="1400" b="0">
                <a:solidFill>
                  <a:srgbClr val="222222"/>
                </a:solidFill>
                <a:latin typeface="Arial" charset="0"/>
                <a:ea typeface="微软雅黑"/>
                <a:cs typeface="Arial" charset="0"/>
              </a:endParaRPr>
            </a:p>
          </p:txBody>
        </p:sp>
        <p:sp>
          <p:nvSpPr>
            <p:cNvPr id="12" name="CITE"/>
            <p:cNvSpPr txBox="1"/>
            <p:nvPr/>
          </p:nvSpPr>
          <p:spPr>
            <a:xfrm>
              <a:off x="3551292" y="3335528"/>
              <a:ext cx="4180264"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第3章；GB/T 29791.1-2013 A.3.39</a:t>
              </a:r>
              <a:endParaRPr sz="1200" b="0">
                <a:solidFill>
                  <a:srgbClr val="1F3A5F"/>
                </a:solidFill>
                <a:latin typeface="Arial" charset="0"/>
                <a:ea typeface="微软雅黑"/>
                <a:cs typeface="Arial" charset="0"/>
              </a:endParaRPr>
            </a:p>
          </p:txBody>
        </p:sp>
      </p:grpSp>
      <p:pic>
        <p:nvPicPr>
          <p:cNvPr id="13" name="ORIGPIC" descr="image.jpeg"/>
          <p:cNvPicPr>
            <a:picLocks noChangeAspect="1"/>
          </p:cNvPicPr>
          <p:nvPr/>
        </p:nvPicPr>
        <p:blipFill>
          <a:blip r:embed="rId2"/>
          <a:srcRect/>
          <a:stretch>
            <a:fillRect/>
          </a:stretch>
        </p:blipFill>
        <p:spPr>
          <a:xfrm>
            <a:off x="548640" y="3662680"/>
            <a:ext cx="7045325" cy="2752090"/>
          </a:xfrm>
          <a:prstGeom prst="roundRect">
            <a:avLst>
              <a:gd name="adj" fmla="val 3401"/>
            </a:avLst>
          </a:prstGeom>
          <a:ln w="9525">
            <a:solidFill>
              <a:srgbClr val="D5DAE0"/>
            </a:solidFill>
          </a:ln>
        </p:spPr>
      </p:pic>
      <p:grpSp>
        <p:nvGrpSpPr>
          <p:cNvPr id="14" name="STEP"/>
          <p:cNvGrpSpPr/>
          <p:nvPr/>
        </p:nvGrpSpPr>
        <p:grpSpPr>
          <a:xfrm>
            <a:off x="8097316" y="1554480"/>
            <a:ext cx="3545738" cy="365760"/>
            <a:chOff x="8097316" y="1554480"/>
            <a:chExt cx="3545738" cy="365760"/>
          </a:xfrm>
        </p:grpSpPr>
        <p:sp>
          <p:nvSpPr>
            <p:cNvPr id="15" name="Rounded Rectangle 14"/>
            <p:cNvSpPr/>
            <p:nvPr/>
          </p:nvSpPr>
          <p:spPr>
            <a:xfrm>
              <a:off x="8097316" y="1554480"/>
              <a:ext cx="3545738"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1600200"/>
              <a:ext cx="3362858"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SI单位</a:t>
              </a:r>
              <a:endParaRPr sz="1400" b="0">
                <a:solidFill>
                  <a:srgbClr val="222222"/>
                </a:solidFill>
                <a:latin typeface="Arial" charset="0"/>
                <a:ea typeface="微软雅黑"/>
                <a:cs typeface="Arial" charset="0"/>
              </a:endParaRPr>
            </a:p>
          </p:txBody>
        </p:sp>
      </p:grpSp>
      <p:grpSp>
        <p:nvGrpSpPr>
          <p:cNvPr id="17" name="STEP"/>
          <p:cNvGrpSpPr/>
          <p:nvPr/>
        </p:nvGrpSpPr>
        <p:grpSpPr>
          <a:xfrm>
            <a:off x="8207044" y="2011680"/>
            <a:ext cx="3436010" cy="365760"/>
            <a:chOff x="8207044" y="2011680"/>
            <a:chExt cx="3436010" cy="365760"/>
          </a:xfrm>
        </p:grpSpPr>
        <p:sp>
          <p:nvSpPr>
            <p:cNvPr id="18" name="Rounded Rectangle 17"/>
            <p:cNvSpPr/>
            <p:nvPr/>
          </p:nvSpPr>
          <p:spPr>
            <a:xfrm>
              <a:off x="8207044" y="2011680"/>
              <a:ext cx="3436010"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057400"/>
              <a:ext cx="3253130"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一级参考测量程序/一级参考物质</a:t>
              </a:r>
              <a:endParaRPr sz="1400" b="0">
                <a:solidFill>
                  <a:srgbClr val="222222"/>
                </a:solidFill>
                <a:latin typeface="Arial" charset="0"/>
                <a:ea typeface="微软雅黑"/>
                <a:cs typeface="Arial" charset="0"/>
              </a:endParaRPr>
            </a:p>
          </p:txBody>
        </p:sp>
      </p:grpSp>
      <p:grpSp>
        <p:nvGrpSpPr>
          <p:cNvPr id="20" name="STEP"/>
          <p:cNvGrpSpPr/>
          <p:nvPr/>
        </p:nvGrpSpPr>
        <p:grpSpPr>
          <a:xfrm>
            <a:off x="8316772" y="2468880"/>
            <a:ext cx="3326282" cy="365760"/>
            <a:chOff x="8316772" y="2468880"/>
            <a:chExt cx="3326282" cy="365760"/>
          </a:xfrm>
        </p:grpSpPr>
        <p:sp>
          <p:nvSpPr>
            <p:cNvPr id="21" name="Rounded Rectangle 20"/>
            <p:cNvSpPr/>
            <p:nvPr/>
          </p:nvSpPr>
          <p:spPr>
            <a:xfrm>
              <a:off x="8316772" y="2468880"/>
              <a:ext cx="3326282"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8212" y="2514600"/>
              <a:ext cx="3143402"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二级参考物质</a:t>
              </a:r>
              <a:endParaRPr sz="1400" b="0">
                <a:solidFill>
                  <a:srgbClr val="222222"/>
                </a:solidFill>
                <a:latin typeface="Arial" charset="0"/>
                <a:ea typeface="微软雅黑"/>
                <a:cs typeface="Arial" charset="0"/>
              </a:endParaRPr>
            </a:p>
          </p:txBody>
        </p:sp>
      </p:grpSp>
      <p:grpSp>
        <p:nvGrpSpPr>
          <p:cNvPr id="23" name="STEP"/>
          <p:cNvGrpSpPr/>
          <p:nvPr/>
        </p:nvGrpSpPr>
        <p:grpSpPr>
          <a:xfrm>
            <a:off x="8426500" y="2926080"/>
            <a:ext cx="3216554" cy="365760"/>
            <a:chOff x="8426500" y="2926080"/>
            <a:chExt cx="3216554" cy="365760"/>
          </a:xfrm>
        </p:grpSpPr>
        <p:sp>
          <p:nvSpPr>
            <p:cNvPr id="24" name="Rounded Rectangle 23"/>
            <p:cNvSpPr/>
            <p:nvPr/>
          </p:nvSpPr>
          <p:spPr>
            <a:xfrm>
              <a:off x="8426500" y="2926080"/>
              <a:ext cx="3216554"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17940" y="2971800"/>
              <a:ext cx="3033674"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制造商工作校准品</a:t>
              </a:r>
              <a:endParaRPr sz="1400" b="0">
                <a:solidFill>
                  <a:srgbClr val="222222"/>
                </a:solidFill>
                <a:latin typeface="Arial" charset="0"/>
                <a:ea typeface="微软雅黑"/>
                <a:cs typeface="Arial" charset="0"/>
              </a:endParaRPr>
            </a:p>
          </p:txBody>
        </p:sp>
      </p:grpSp>
      <p:grpSp>
        <p:nvGrpSpPr>
          <p:cNvPr id="26" name="STEP"/>
          <p:cNvGrpSpPr/>
          <p:nvPr/>
        </p:nvGrpSpPr>
        <p:grpSpPr>
          <a:xfrm>
            <a:off x="8536228" y="3383280"/>
            <a:ext cx="3106826" cy="365760"/>
            <a:chOff x="8536228" y="3383280"/>
            <a:chExt cx="3106826" cy="365760"/>
          </a:xfrm>
        </p:grpSpPr>
        <p:sp>
          <p:nvSpPr>
            <p:cNvPr id="27" name="Rounded Rectangle 26"/>
            <p:cNvSpPr/>
            <p:nvPr/>
          </p:nvSpPr>
          <p:spPr>
            <a:xfrm>
              <a:off x="8536228" y="3383280"/>
              <a:ext cx="3106826"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27668" y="3429000"/>
              <a:ext cx="2923946"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产品校准品</a:t>
              </a:r>
              <a:endParaRPr sz="1400" b="0">
                <a:solidFill>
                  <a:srgbClr val="222222"/>
                </a:solidFill>
                <a:latin typeface="Arial" charset="0"/>
                <a:ea typeface="微软雅黑"/>
                <a:cs typeface="Arial" charset="0"/>
              </a:endParaRPr>
            </a:p>
          </p:txBody>
        </p:sp>
      </p:grpSp>
      <p:grpSp>
        <p:nvGrpSpPr>
          <p:cNvPr id="29" name="STEP"/>
          <p:cNvGrpSpPr/>
          <p:nvPr/>
        </p:nvGrpSpPr>
        <p:grpSpPr>
          <a:xfrm>
            <a:off x="8645956" y="3840480"/>
            <a:ext cx="2997098" cy="365760"/>
            <a:chOff x="8645956" y="3840480"/>
            <a:chExt cx="2997098" cy="365760"/>
          </a:xfrm>
        </p:grpSpPr>
        <p:sp>
          <p:nvSpPr>
            <p:cNvPr id="30" name="Rounded Rectangle 29"/>
            <p:cNvSpPr/>
            <p:nvPr/>
          </p:nvSpPr>
          <p:spPr>
            <a:xfrm>
              <a:off x="8645956" y="3840480"/>
              <a:ext cx="2997098" cy="365760"/>
            </a:xfrm>
            <a:prstGeom prst="roundRect">
              <a:avLst>
                <a:gd name="adj" fmla="val 20000"/>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7396" y="3886200"/>
              <a:ext cx="2814218"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患者样本结果</a:t>
              </a:r>
              <a:endParaRPr sz="1400" b="0">
                <a:solidFill>
                  <a:srgbClr val="222222"/>
                </a:solidFill>
                <a:latin typeface="Arial" charset="0"/>
                <a:ea typeface="微软雅黑"/>
                <a:cs typeface="Arial" charset="0"/>
              </a:endParaRPr>
            </a:p>
          </p:txBody>
        </p:sp>
      </p:grpSp>
      <p:sp>
        <p:nvSpPr>
          <p:cNvPr id="32" name="BADGE"/>
          <p:cNvSpPr/>
          <p:nvPr/>
        </p:nvSpPr>
        <p:spPr>
          <a:xfrm>
            <a:off x="8097316" y="4434840"/>
            <a:ext cx="317128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溯源性（过程）≠ 计量学可比性（结果）</a:t>
            </a:r>
            <a:endParaRPr sz="1200" b="1">
              <a:solidFill>
                <a:srgbClr val="FFFFFF"/>
              </a:solidFill>
              <a:latin typeface="Arial" charset="0"/>
              <a:ea typeface="微软雅黑"/>
              <a:cs typeface="Arial" charset="0"/>
            </a:endParaRPr>
          </a:p>
        </p:txBody>
      </p:sp>
      <p:pic>
        <p:nvPicPr>
          <p:cNvPr id="33"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总 则</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4.1 </a:t>
            </a:r>
            <a:r>
              <a:rPr sz="2800" b="1">
                <a:solidFill>
                  <a:srgbClr val="1F3A5F"/>
                </a:solidFill>
                <a:latin typeface="Arial" charset="0"/>
                <a:ea typeface="微软雅黑"/>
                <a:cs typeface="Arial" charset="0"/>
              </a:rPr>
              <a:t>验证条件</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33</a:t>
            </a:r>
            <a:endParaRPr sz="1200" b="0">
              <a:solidFill>
                <a:srgbClr val="6B7280"/>
              </a:solidFill>
              <a:latin typeface="Arial" charset="0"/>
              <a:ea typeface="微软雅黑"/>
              <a:cs typeface="Arial" charset="0"/>
            </a:endParaRPr>
          </a:p>
        </p:txBody>
      </p:sp>
      <p:sp>
        <p:nvSpPr>
          <p:cNvPr id="6"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4.1</a:t>
            </a:r>
            <a:endParaRPr sz="1200" b="1">
              <a:solidFill>
                <a:srgbClr val="1F3A5F"/>
              </a:solidFill>
              <a:latin typeface="Arial" charset="0"/>
              <a:ea typeface="微软雅黑"/>
              <a:cs typeface="Arial" charset="0"/>
            </a:endParaRPr>
          </a:p>
        </p:txBody>
      </p:sp>
      <p:grpSp>
        <p:nvGrpSpPr>
          <p:cNvPr id="7" name="QBOX"/>
          <p:cNvGrpSpPr/>
          <p:nvPr/>
        </p:nvGrpSpPr>
        <p:grpSpPr>
          <a:xfrm>
            <a:off x="548640" y="1554480"/>
            <a:ext cx="11094415" cy="701040"/>
            <a:chOff x="548640" y="1554480"/>
            <a:chExt cx="11094415" cy="701040"/>
          </a:xfrm>
        </p:grpSpPr>
        <p:sp>
          <p:nvSpPr>
            <p:cNvPr id="8" name="Rounded Rectangle 7"/>
            <p:cNvSpPr/>
            <p:nvPr/>
          </p:nvSpPr>
          <p:spPr>
            <a:xfrm>
              <a:off x="548640" y="1554480"/>
              <a:ext cx="11094415" cy="701040"/>
            </a:xfrm>
            <a:prstGeom prst="roundRect">
              <a:avLst>
                <a:gd name="adj" fmla="val 1043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0" name="TextBox 9"/>
            <p:cNvSpPr txBox="1"/>
            <p:nvPr/>
          </p:nvSpPr>
          <p:spPr>
            <a:xfrm>
              <a:off x="960120" y="1691639"/>
              <a:ext cx="10545775" cy="435863"/>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对于同一分析物（检验项目），实验室存在如下情况时，应验证不同检验程序在临床适宜区间（指对临床诊断、管理、预防、治疗或健康评估有意义的测量结果区间）内患者样品检验结果的可比性：</a:t>
              </a:r>
              <a:endParaRPr sz="1400" b="0">
                <a:solidFill>
                  <a:srgbClr val="222222"/>
                </a:solidFill>
                <a:latin typeface="Arial" charset="0"/>
                <a:ea typeface="微软雅黑"/>
                <a:cs typeface="Arial" charset="0"/>
              </a:endParaRPr>
            </a:p>
          </p:txBody>
        </p:sp>
        <p:sp>
          <p:nvSpPr>
            <p:cNvPr id="11" name="CITE"/>
            <p:cNvSpPr txBox="1"/>
            <p:nvPr/>
          </p:nvSpPr>
          <p:spPr>
            <a:xfrm>
              <a:off x="9606474" y="1901952"/>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4.1</a:t>
              </a:r>
              <a:endParaRPr sz="1200" b="0">
                <a:solidFill>
                  <a:srgbClr val="1F3A5F"/>
                </a:solidFill>
                <a:latin typeface="Arial" charset="0"/>
                <a:ea typeface="微软雅黑"/>
                <a:cs typeface="Arial" charset="0"/>
              </a:endParaRPr>
            </a:p>
          </p:txBody>
        </p:sp>
      </p:grpSp>
      <p:grpSp>
        <p:nvGrpSpPr>
          <p:cNvPr id="12" name="CARD"/>
          <p:cNvGrpSpPr/>
          <p:nvPr/>
        </p:nvGrpSpPr>
        <p:grpSpPr>
          <a:xfrm>
            <a:off x="548640" y="2484120"/>
            <a:ext cx="2036003" cy="2270760"/>
            <a:chOff x="548640" y="2484120"/>
            <a:chExt cx="2036003" cy="2270760"/>
          </a:xfrm>
        </p:grpSpPr>
        <p:sp>
          <p:nvSpPr>
            <p:cNvPr id="13" name="Rounded Rectangle 12"/>
            <p:cNvSpPr/>
            <p:nvPr/>
          </p:nvSpPr>
          <p:spPr>
            <a:xfrm>
              <a:off x="548640"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22_1-1.png"/>
            <p:cNvPicPr>
              <a:picLocks noChangeAspect="1"/>
            </p:cNvPicPr>
            <p:nvPr/>
          </p:nvPicPr>
          <p:blipFill>
            <a:blip r:embed="rId1"/>
            <a:stretch>
              <a:fillRect/>
            </a:stretch>
          </p:blipFill>
          <p:spPr>
            <a:xfrm>
              <a:off x="1360901" y="2621280"/>
              <a:ext cx="411480" cy="411480"/>
            </a:xfrm>
            <a:prstGeom prst="rect">
              <a:avLst/>
            </a:prstGeom>
          </p:spPr>
        </p:pic>
        <p:sp>
          <p:nvSpPr>
            <p:cNvPr id="15" name="TextBox 14"/>
            <p:cNvSpPr txBox="1"/>
            <p:nvPr/>
          </p:nvSpPr>
          <p:spPr>
            <a:xfrm>
              <a:off x="685800" y="3105912"/>
              <a:ext cx="1761683" cy="15118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 </a:t>
              </a:r>
              <a:r>
                <a:rPr sz="1400" b="0">
                  <a:solidFill>
                    <a:srgbClr val="222222"/>
                  </a:solidFill>
                  <a:latin typeface="Arial" charset="0"/>
                  <a:ea typeface="微软雅黑"/>
                  <a:cs typeface="Arial" charset="0"/>
                </a:rPr>
                <a:t>检测的样品类型不同但临床预期用途相同，且测量单位相同或可换算时， 如血清葡萄糖物质的量浓度与血浆葡萄糖物质的量浓度；</a:t>
              </a:r>
              <a:endParaRPr sz="1400" b="0">
                <a:solidFill>
                  <a:srgbClr val="222222"/>
                </a:solidFill>
                <a:latin typeface="Arial" charset="0"/>
                <a:ea typeface="微软雅黑"/>
                <a:cs typeface="Arial" charset="0"/>
              </a:endParaRPr>
            </a:p>
          </p:txBody>
        </p:sp>
      </p:grpSp>
      <p:grpSp>
        <p:nvGrpSpPr>
          <p:cNvPr id="16" name="CARD"/>
          <p:cNvGrpSpPr/>
          <p:nvPr/>
        </p:nvGrpSpPr>
        <p:grpSpPr>
          <a:xfrm>
            <a:off x="2813243" y="2484120"/>
            <a:ext cx="2036003" cy="2270760"/>
            <a:chOff x="2813243" y="2484120"/>
            <a:chExt cx="2036003" cy="2270760"/>
          </a:xfrm>
        </p:grpSpPr>
        <p:sp>
          <p:nvSpPr>
            <p:cNvPr id="17" name="Rounded Rectangle 16"/>
            <p:cNvSpPr/>
            <p:nvPr/>
          </p:nvSpPr>
          <p:spPr>
            <a:xfrm>
              <a:off x="2813243"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22_1-2.png"/>
            <p:cNvPicPr>
              <a:picLocks noChangeAspect="1"/>
            </p:cNvPicPr>
            <p:nvPr/>
          </p:nvPicPr>
          <p:blipFill>
            <a:blip r:embed="rId2"/>
            <a:stretch>
              <a:fillRect/>
            </a:stretch>
          </p:blipFill>
          <p:spPr>
            <a:xfrm>
              <a:off x="3625504" y="2621280"/>
              <a:ext cx="411480" cy="411480"/>
            </a:xfrm>
            <a:prstGeom prst="rect">
              <a:avLst/>
            </a:prstGeom>
          </p:spPr>
        </p:pic>
        <p:sp>
          <p:nvSpPr>
            <p:cNvPr id="19" name="TextBox 18"/>
            <p:cNvSpPr txBox="1"/>
            <p:nvPr/>
          </p:nvSpPr>
          <p:spPr>
            <a:xfrm>
              <a:off x="2950403"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b) </a:t>
              </a:r>
              <a:r>
                <a:rPr sz="1400" b="0">
                  <a:solidFill>
                    <a:srgbClr val="222222"/>
                  </a:solidFill>
                  <a:latin typeface="Arial" charset="0"/>
                  <a:ea typeface="微软雅黑"/>
                  <a:cs typeface="Arial" charset="0"/>
                </a:rPr>
                <a:t>使用不同的检测系统；</a:t>
              </a:r>
              <a:endParaRPr sz="1400" b="0">
                <a:solidFill>
                  <a:srgbClr val="222222"/>
                </a:solidFill>
                <a:latin typeface="Arial" charset="0"/>
                <a:ea typeface="微软雅黑"/>
                <a:cs typeface="Arial" charset="0"/>
              </a:endParaRPr>
            </a:p>
          </p:txBody>
        </p:sp>
      </p:grpSp>
      <p:grpSp>
        <p:nvGrpSpPr>
          <p:cNvPr id="20" name="CARD"/>
          <p:cNvGrpSpPr/>
          <p:nvPr/>
        </p:nvGrpSpPr>
        <p:grpSpPr>
          <a:xfrm>
            <a:off x="5077846" y="2484120"/>
            <a:ext cx="2036003" cy="2270760"/>
            <a:chOff x="5077846" y="2484120"/>
            <a:chExt cx="2036003" cy="2270760"/>
          </a:xfrm>
        </p:grpSpPr>
        <p:sp>
          <p:nvSpPr>
            <p:cNvPr id="21" name="Rounded Rectangle 20"/>
            <p:cNvSpPr/>
            <p:nvPr/>
          </p:nvSpPr>
          <p:spPr>
            <a:xfrm>
              <a:off x="5077846"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22_1-3.png"/>
            <p:cNvPicPr>
              <a:picLocks noChangeAspect="1"/>
            </p:cNvPicPr>
            <p:nvPr/>
          </p:nvPicPr>
          <p:blipFill>
            <a:blip r:embed="rId3"/>
            <a:stretch>
              <a:fillRect/>
            </a:stretch>
          </p:blipFill>
          <p:spPr>
            <a:xfrm>
              <a:off x="5890107" y="2621280"/>
              <a:ext cx="411480" cy="411480"/>
            </a:xfrm>
            <a:prstGeom prst="rect">
              <a:avLst/>
            </a:prstGeom>
          </p:spPr>
        </p:pic>
        <p:sp>
          <p:nvSpPr>
            <p:cNvPr id="23" name="TextBox 22"/>
            <p:cNvSpPr txBox="1"/>
            <p:nvPr/>
          </p:nvSpPr>
          <p:spPr>
            <a:xfrm>
              <a:off x="5215006"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 </a:t>
              </a:r>
              <a:r>
                <a:rPr sz="1400" b="0">
                  <a:solidFill>
                    <a:srgbClr val="222222"/>
                  </a:solidFill>
                  <a:latin typeface="Arial" charset="0"/>
                  <a:ea typeface="微软雅黑"/>
                  <a:cs typeface="Arial" charset="0"/>
                </a:rPr>
                <a:t>使用多套相同的检测系统；</a:t>
              </a:r>
              <a:endParaRPr sz="1400" b="0">
                <a:solidFill>
                  <a:srgbClr val="222222"/>
                </a:solidFill>
                <a:latin typeface="Arial" charset="0"/>
                <a:ea typeface="微软雅黑"/>
                <a:cs typeface="Arial" charset="0"/>
              </a:endParaRPr>
            </a:p>
          </p:txBody>
        </p:sp>
      </p:grpSp>
      <p:grpSp>
        <p:nvGrpSpPr>
          <p:cNvPr id="24" name="CARD"/>
          <p:cNvGrpSpPr/>
          <p:nvPr/>
        </p:nvGrpSpPr>
        <p:grpSpPr>
          <a:xfrm>
            <a:off x="7342449" y="2484120"/>
            <a:ext cx="2036003" cy="2270760"/>
            <a:chOff x="7342449" y="2484120"/>
            <a:chExt cx="2036003" cy="2270760"/>
          </a:xfrm>
        </p:grpSpPr>
        <p:sp>
          <p:nvSpPr>
            <p:cNvPr id="25" name="Rounded Rectangle 24"/>
            <p:cNvSpPr/>
            <p:nvPr/>
          </p:nvSpPr>
          <p:spPr>
            <a:xfrm>
              <a:off x="7342449"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NEWIMG_ICON" descr="22_1-4.png"/>
            <p:cNvPicPr>
              <a:picLocks noChangeAspect="1"/>
            </p:cNvPicPr>
            <p:nvPr/>
          </p:nvPicPr>
          <p:blipFill>
            <a:blip r:embed="rId4"/>
            <a:stretch>
              <a:fillRect/>
            </a:stretch>
          </p:blipFill>
          <p:spPr>
            <a:xfrm>
              <a:off x="8154710" y="2621280"/>
              <a:ext cx="411480" cy="411480"/>
            </a:xfrm>
            <a:prstGeom prst="rect">
              <a:avLst/>
            </a:prstGeom>
          </p:spPr>
        </p:pic>
        <p:sp>
          <p:nvSpPr>
            <p:cNvPr id="27" name="TextBox 26"/>
            <p:cNvSpPr txBox="1"/>
            <p:nvPr/>
          </p:nvSpPr>
          <p:spPr>
            <a:xfrm>
              <a:off x="7479609"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d) </a:t>
              </a:r>
              <a:r>
                <a:rPr sz="1400" b="0">
                  <a:solidFill>
                    <a:srgbClr val="222222"/>
                  </a:solidFill>
                  <a:latin typeface="Arial" charset="0"/>
                  <a:ea typeface="微软雅黑"/>
                  <a:cs typeface="Arial" charset="0"/>
                </a:rPr>
                <a:t>使用同一检测系统的多个分析模块；</a:t>
              </a:r>
              <a:endParaRPr sz="1400" b="0">
                <a:solidFill>
                  <a:srgbClr val="222222"/>
                </a:solidFill>
                <a:latin typeface="Arial" charset="0"/>
                <a:ea typeface="微软雅黑"/>
                <a:cs typeface="Arial" charset="0"/>
              </a:endParaRPr>
            </a:p>
          </p:txBody>
        </p:sp>
      </p:grpSp>
      <p:grpSp>
        <p:nvGrpSpPr>
          <p:cNvPr id="28" name="CARD"/>
          <p:cNvGrpSpPr/>
          <p:nvPr/>
        </p:nvGrpSpPr>
        <p:grpSpPr>
          <a:xfrm>
            <a:off x="9607052" y="2484120"/>
            <a:ext cx="2036003" cy="2270760"/>
            <a:chOff x="9607052" y="2484120"/>
            <a:chExt cx="2036003" cy="2270760"/>
          </a:xfrm>
        </p:grpSpPr>
        <p:sp>
          <p:nvSpPr>
            <p:cNvPr id="29" name="Rounded Rectangle 28"/>
            <p:cNvSpPr/>
            <p:nvPr/>
          </p:nvSpPr>
          <p:spPr>
            <a:xfrm>
              <a:off x="9607052"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NEWIMG_ICON" descr="22_1-5.png"/>
            <p:cNvPicPr>
              <a:picLocks noChangeAspect="1"/>
            </p:cNvPicPr>
            <p:nvPr/>
          </p:nvPicPr>
          <p:blipFill>
            <a:blip r:embed="rId5"/>
            <a:stretch>
              <a:fillRect/>
            </a:stretch>
          </p:blipFill>
          <p:spPr>
            <a:xfrm>
              <a:off x="10419313" y="2621280"/>
              <a:ext cx="411480" cy="411480"/>
            </a:xfrm>
            <a:prstGeom prst="rect">
              <a:avLst/>
            </a:prstGeom>
          </p:spPr>
        </p:pic>
        <p:sp>
          <p:nvSpPr>
            <p:cNvPr id="31" name="TextBox 30"/>
            <p:cNvSpPr txBox="1"/>
            <p:nvPr/>
          </p:nvSpPr>
          <p:spPr>
            <a:xfrm>
              <a:off x="9744212" y="3105912"/>
              <a:ext cx="1761683" cy="108508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e) </a:t>
              </a:r>
              <a:r>
                <a:rPr sz="1400" b="0">
                  <a:solidFill>
                    <a:srgbClr val="222222"/>
                  </a:solidFill>
                  <a:latin typeface="Arial" charset="0"/>
                  <a:ea typeface="微软雅黑"/>
                  <a:cs typeface="Arial" charset="0"/>
                </a:rPr>
                <a:t>多地点或场所使用的检测系统，如中心实验室、急诊实验室、发热门诊 实验室。</a:t>
              </a:r>
              <a:endParaRPr sz="1400" b="0">
                <a:solidFill>
                  <a:srgbClr val="222222"/>
                </a:solidFill>
                <a:latin typeface="Arial" charset="0"/>
                <a:ea typeface="微软雅黑"/>
                <a:cs typeface="Arial" charset="0"/>
              </a:endParaRPr>
            </a:p>
          </p:txBody>
        </p:sp>
      </p:grpSp>
      <p:grpSp>
        <p:nvGrpSpPr>
          <p:cNvPr id="32" name="REDCARD"/>
          <p:cNvGrpSpPr/>
          <p:nvPr/>
        </p:nvGrpSpPr>
        <p:grpSpPr>
          <a:xfrm>
            <a:off x="548640" y="4983480"/>
            <a:ext cx="4300606" cy="1178560"/>
            <a:chOff x="548640" y="4983480"/>
            <a:chExt cx="4300606" cy="1178560"/>
          </a:xfrm>
        </p:grpSpPr>
        <p:sp>
          <p:nvSpPr>
            <p:cNvPr id="33" name="Rounded Rectangle 32"/>
            <p:cNvSpPr/>
            <p:nvPr/>
          </p:nvSpPr>
          <p:spPr>
            <a:xfrm>
              <a:off x="548640" y="4983480"/>
              <a:ext cx="4300606" cy="1178560"/>
            </a:xfrm>
            <a:prstGeom prst="roundRect">
              <a:avLst>
                <a:gd name="adj" fmla="val 6206"/>
              </a:avLst>
            </a:prstGeom>
            <a:solidFill>
              <a:srgbClr val="FBEDEC"/>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NEWIMG" descr="22_2.png"/>
            <p:cNvPicPr>
              <a:picLocks noChangeAspect="1"/>
            </p:cNvPicPr>
            <p:nvPr/>
          </p:nvPicPr>
          <p:blipFill>
            <a:blip r:embed="rId6"/>
            <a:stretch>
              <a:fillRect/>
            </a:stretch>
          </p:blipFill>
          <p:spPr>
            <a:xfrm>
              <a:off x="685800" y="5120640"/>
              <a:ext cx="731520" cy="731520"/>
            </a:xfrm>
            <a:prstGeom prst="roundRect">
              <a:avLst>
                <a:gd name="adj" fmla="val 10000"/>
              </a:avLst>
            </a:prstGeom>
          </p:spPr>
        </p:pic>
        <p:sp>
          <p:nvSpPr>
            <p:cNvPr id="35" name="TextBox 34"/>
            <p:cNvSpPr txBox="1"/>
            <p:nvPr/>
          </p:nvSpPr>
          <p:spPr>
            <a:xfrm>
              <a:off x="1554480" y="5120640"/>
              <a:ext cx="3157606" cy="90424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charset="0"/>
                  <a:ea typeface="微软雅黑"/>
                  <a:cs typeface="Arial" charset="0"/>
                </a:rPr>
                <a:t>! 不宜比对</a:t>
              </a:r>
              <a:endParaRPr sz="1400" b="1">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注：检测的样品类型不同且临床预期用途不同时，不宜进行比对，如动脉血气检验项目与生化常规检验项目。</a:t>
              </a:r>
              <a:endParaRPr sz="1400" b="0">
                <a:solidFill>
                  <a:srgbClr val="222222"/>
                </a:solidFill>
                <a:latin typeface="Arial" charset="0"/>
                <a:ea typeface="微软雅黑"/>
                <a:cs typeface="Arial" charset="0"/>
              </a:endParaRPr>
            </a:p>
          </p:txBody>
        </p:sp>
      </p:grpSp>
      <p:pic>
        <p:nvPicPr>
          <p:cNvPr id="36" name="LOGO" descr="logo_940.png"/>
          <p:cNvPicPr>
            <a:picLocks noChangeAspect="1"/>
          </p:cNvPicPr>
          <p:nvPr/>
        </p:nvPicPr>
        <p:blipFill>
          <a:blip r:embed="rId8"/>
          <a:stretch>
            <a:fillRect/>
          </a:stretch>
        </p:blipFill>
        <p:spPr>
          <a:xfrm>
            <a:off x="548640" y="6249924"/>
            <a:ext cx="310896" cy="31089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总 则</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4.2 </a:t>
            </a:r>
            <a:r>
              <a:rPr sz="2800" b="1">
                <a:solidFill>
                  <a:srgbClr val="1F3A5F"/>
                </a:solidFill>
                <a:latin typeface="Arial" charset="0"/>
                <a:ea typeface="微软雅黑"/>
                <a:cs typeface="Arial" charset="0"/>
              </a:rPr>
              <a:t>验证时机</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34</a:t>
            </a:r>
            <a:endParaRPr sz="1200" b="0">
              <a:solidFill>
                <a:srgbClr val="6B7280"/>
              </a:solidFill>
              <a:latin typeface="Arial" charset="0"/>
              <a:ea typeface="微软雅黑"/>
              <a:cs typeface="Arial" charset="0"/>
            </a:endParaRPr>
          </a:p>
        </p:txBody>
      </p:sp>
      <p:sp>
        <p:nvSpPr>
          <p:cNvPr id="6" name="SRCBADGE"/>
          <p:cNvSpPr/>
          <p:nvPr/>
        </p:nvSpPr>
        <p:spPr>
          <a:xfrm>
            <a:off x="8330082" y="5852160"/>
            <a:ext cx="331297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4.2；WS/T 407 第5章</a:t>
            </a:r>
            <a:endParaRPr sz="1200" b="1">
              <a:solidFill>
                <a:srgbClr val="1F3A5F"/>
              </a:solidFill>
              <a:latin typeface="Arial" charset="0"/>
              <a:ea typeface="微软雅黑"/>
              <a:cs typeface="Arial" charset="0"/>
            </a:endParaRPr>
          </a:p>
        </p:txBody>
      </p:sp>
      <p:grpSp>
        <p:nvGrpSpPr>
          <p:cNvPr id="7" name="QBOX"/>
          <p:cNvGrpSpPr/>
          <p:nvPr/>
        </p:nvGrpSpPr>
        <p:grpSpPr>
          <a:xfrm>
            <a:off x="1280160" y="1554480"/>
            <a:ext cx="5669280" cy="761999"/>
            <a:chOff x="1280160" y="1554480"/>
            <a:chExt cx="5669280" cy="761999"/>
          </a:xfrm>
        </p:grpSpPr>
        <p:sp>
          <p:nvSpPr>
            <p:cNvPr id="8" name="Rounded Rectangle 7"/>
            <p:cNvSpPr/>
            <p:nvPr/>
          </p:nvSpPr>
          <p:spPr>
            <a:xfrm>
              <a:off x="1280160" y="1554480"/>
              <a:ext cx="5669280" cy="761999"/>
            </a:xfrm>
            <a:prstGeom prst="roundRect">
              <a:avLst>
                <a:gd name="adj" fmla="val 9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0" name="TextBox 9"/>
            <p:cNvSpPr txBox="1"/>
            <p:nvPr/>
          </p:nvSpPr>
          <p:spPr>
            <a:xfrm>
              <a:off x="1691639" y="1691639"/>
              <a:ext cx="5120640" cy="49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4.2.1 </a:t>
              </a:r>
              <a:r>
                <a:rPr sz="1600" b="0">
                  <a:solidFill>
                    <a:srgbClr val="222222"/>
                  </a:solidFill>
                  <a:latin typeface="Arial" charset="0"/>
                  <a:ea typeface="微软雅黑"/>
                  <a:cs typeface="Arial" charset="0"/>
                </a:rPr>
                <a:t>检测系统启用前，应进行全面的检测系统间可比性验证。</a:t>
              </a:r>
              <a:endParaRPr sz="1600" b="0">
                <a:solidFill>
                  <a:srgbClr val="222222"/>
                </a:solidFill>
                <a:latin typeface="Arial" charset="0"/>
                <a:ea typeface="微软雅黑"/>
                <a:cs typeface="Arial" charset="0"/>
              </a:endParaRPr>
            </a:p>
          </p:txBody>
        </p:sp>
        <p:sp>
          <p:nvSpPr>
            <p:cNvPr id="11" name="CITE"/>
            <p:cNvSpPr txBox="1"/>
            <p:nvPr/>
          </p:nvSpPr>
          <p:spPr>
            <a:xfrm>
              <a:off x="4778127" y="1947672"/>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4.2.1</a:t>
              </a:r>
              <a:endParaRPr sz="1200" b="0">
                <a:solidFill>
                  <a:srgbClr val="1F3A5F"/>
                </a:solidFill>
                <a:latin typeface="Arial" charset="0"/>
                <a:ea typeface="微软雅黑"/>
                <a:cs typeface="Arial" charset="0"/>
              </a:endParaRPr>
            </a:p>
          </p:txBody>
        </p:sp>
      </p:grpSp>
      <p:pic>
        <p:nvPicPr>
          <p:cNvPr id="12" name="NEWIMG_ICON" descr="23_1-1.png"/>
          <p:cNvPicPr>
            <a:picLocks noChangeAspect="1"/>
          </p:cNvPicPr>
          <p:nvPr/>
        </p:nvPicPr>
        <p:blipFill>
          <a:blip r:embed="rId1"/>
          <a:stretch>
            <a:fillRect/>
          </a:stretch>
        </p:blipFill>
        <p:spPr>
          <a:xfrm>
            <a:off x="548640" y="1600200"/>
            <a:ext cx="566928" cy="566928"/>
          </a:xfrm>
          <a:prstGeom prst="rect">
            <a:avLst/>
          </a:prstGeom>
        </p:spPr>
      </p:pic>
      <p:grpSp>
        <p:nvGrpSpPr>
          <p:cNvPr id="13" name="QBOX"/>
          <p:cNvGrpSpPr/>
          <p:nvPr/>
        </p:nvGrpSpPr>
        <p:grpSpPr>
          <a:xfrm>
            <a:off x="1280160" y="2545080"/>
            <a:ext cx="5669280" cy="1493520"/>
            <a:chOff x="1280160" y="2545080"/>
            <a:chExt cx="5669280" cy="1493520"/>
          </a:xfrm>
        </p:grpSpPr>
        <p:sp>
          <p:nvSpPr>
            <p:cNvPr id="14" name="Rounded Rectangle 13"/>
            <p:cNvSpPr/>
            <p:nvPr/>
          </p:nvSpPr>
          <p:spPr>
            <a:xfrm>
              <a:off x="1280160" y="2545080"/>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80743" y="25907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6" name="TextBox 15"/>
            <p:cNvSpPr txBox="1"/>
            <p:nvPr/>
          </p:nvSpPr>
          <p:spPr>
            <a:xfrm>
              <a:off x="1691639" y="268224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4.2.2 </a:t>
              </a:r>
              <a:r>
                <a:rPr sz="1600" b="0">
                  <a:solidFill>
                    <a:srgbClr val="222222"/>
                  </a:solidFill>
                  <a:latin typeface="Arial" charset="0"/>
                  <a:ea typeface="微软雅黑"/>
                  <a:cs typeface="Arial" charset="0"/>
                </a:rPr>
                <a:t>常规使用期间，实验室可利用日常工作产生的检验和质控数据，或临床医生反馈的意见，定期对检测系统间结果可比性进行评审，如不再满足检验结果预期用途的要求，应根据评估结果，采用适宜的方案，重新进行检测系统间可比性验证。</a:t>
              </a:r>
              <a:endParaRPr sz="1600" b="0">
                <a:solidFill>
                  <a:srgbClr val="222222"/>
                </a:solidFill>
                <a:latin typeface="Arial" charset="0"/>
                <a:ea typeface="微软雅黑"/>
                <a:cs typeface="Arial" charset="0"/>
              </a:endParaRPr>
            </a:p>
          </p:txBody>
        </p:sp>
        <p:sp>
          <p:nvSpPr>
            <p:cNvPr id="17" name="CITE"/>
            <p:cNvSpPr txBox="1"/>
            <p:nvPr/>
          </p:nvSpPr>
          <p:spPr>
            <a:xfrm>
              <a:off x="4778127" y="3669791"/>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4.2.2</a:t>
              </a:r>
              <a:endParaRPr sz="1200" b="0">
                <a:solidFill>
                  <a:srgbClr val="1F3A5F"/>
                </a:solidFill>
                <a:latin typeface="Arial" charset="0"/>
                <a:ea typeface="微软雅黑"/>
                <a:cs typeface="Arial" charset="0"/>
              </a:endParaRPr>
            </a:p>
          </p:txBody>
        </p:sp>
      </p:grpSp>
      <p:pic>
        <p:nvPicPr>
          <p:cNvPr id="18" name="NEWIMG_ICON" descr="23_1-2.png"/>
          <p:cNvPicPr>
            <a:picLocks noChangeAspect="1"/>
          </p:cNvPicPr>
          <p:nvPr/>
        </p:nvPicPr>
        <p:blipFill>
          <a:blip r:embed="rId2"/>
          <a:stretch>
            <a:fillRect/>
          </a:stretch>
        </p:blipFill>
        <p:spPr>
          <a:xfrm>
            <a:off x="548640" y="2590799"/>
            <a:ext cx="566928" cy="566928"/>
          </a:xfrm>
          <a:prstGeom prst="rect">
            <a:avLst/>
          </a:prstGeom>
        </p:spPr>
      </p:pic>
      <p:grpSp>
        <p:nvGrpSpPr>
          <p:cNvPr id="19" name="QBOX"/>
          <p:cNvGrpSpPr/>
          <p:nvPr/>
        </p:nvGrpSpPr>
        <p:grpSpPr>
          <a:xfrm>
            <a:off x="1280160" y="4267199"/>
            <a:ext cx="5669280" cy="1493520"/>
            <a:chOff x="1280160" y="4267199"/>
            <a:chExt cx="5669280" cy="1493520"/>
          </a:xfrm>
        </p:grpSpPr>
        <p:sp>
          <p:nvSpPr>
            <p:cNvPr id="20" name="Rounded Rectangle 19"/>
            <p:cNvSpPr/>
            <p:nvPr/>
          </p:nvSpPr>
          <p:spPr>
            <a:xfrm>
              <a:off x="1280160" y="4267199"/>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0743" y="43129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2" name="TextBox 21"/>
            <p:cNvSpPr txBox="1"/>
            <p:nvPr/>
          </p:nvSpPr>
          <p:spPr>
            <a:xfrm>
              <a:off x="1691639" y="440436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4.2.3 </a:t>
              </a:r>
              <a:r>
                <a:rPr sz="1600" b="0">
                  <a:solidFill>
                    <a:srgbClr val="222222"/>
                  </a:solidFill>
                  <a:latin typeface="Arial" charset="0"/>
                  <a:ea typeface="微软雅黑"/>
                  <a:cs typeface="Arial" charset="0"/>
                </a:rPr>
                <a:t>现用检测系统的任一要素（仪器、试剂、校准品等）变更，如仪器品牌或型号、试剂原理或成分、校准品溯源性等改变，应分析这些改变对检测系统间结果可比性的影响，需要时，采用适宜的方案，重新进行检测系统间可比性验证。</a:t>
              </a:r>
              <a:endParaRPr sz="1600" b="0">
                <a:solidFill>
                  <a:srgbClr val="222222"/>
                </a:solidFill>
                <a:latin typeface="Arial" charset="0"/>
                <a:ea typeface="微软雅黑"/>
                <a:cs typeface="Arial" charset="0"/>
              </a:endParaRPr>
            </a:p>
          </p:txBody>
        </p:sp>
        <p:sp>
          <p:nvSpPr>
            <p:cNvPr id="23" name="CITE"/>
            <p:cNvSpPr txBox="1"/>
            <p:nvPr/>
          </p:nvSpPr>
          <p:spPr>
            <a:xfrm>
              <a:off x="4778127" y="5391911"/>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4.2.3</a:t>
              </a:r>
              <a:endParaRPr sz="1200" b="0">
                <a:solidFill>
                  <a:srgbClr val="1F3A5F"/>
                </a:solidFill>
                <a:latin typeface="Arial" charset="0"/>
                <a:ea typeface="微软雅黑"/>
                <a:cs typeface="Arial" charset="0"/>
              </a:endParaRPr>
            </a:p>
          </p:txBody>
        </p:sp>
      </p:grpSp>
      <p:pic>
        <p:nvPicPr>
          <p:cNvPr id="24" name="NEWIMG_ICON" descr="23_1-3.png"/>
          <p:cNvPicPr>
            <a:picLocks noChangeAspect="1"/>
          </p:cNvPicPr>
          <p:nvPr/>
        </p:nvPicPr>
        <p:blipFill>
          <a:blip r:embed="rId3"/>
          <a:stretch>
            <a:fillRect/>
          </a:stretch>
        </p:blipFill>
        <p:spPr>
          <a:xfrm>
            <a:off x="548640" y="4312919"/>
            <a:ext cx="566928" cy="566928"/>
          </a:xfrm>
          <a:prstGeom prst="rect">
            <a:avLst/>
          </a:prstGeom>
        </p:spPr>
      </p:pic>
      <p:sp>
        <p:nvSpPr>
          <p:cNvPr id="25" name="BADGE"/>
          <p:cNvSpPr/>
          <p:nvPr/>
        </p:nvSpPr>
        <p:spPr>
          <a:xfrm>
            <a:off x="7040879" y="3520439"/>
            <a:ext cx="96012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 侧重不同</a:t>
            </a:r>
            <a:endParaRPr sz="1400" b="1">
              <a:solidFill>
                <a:srgbClr val="FFFFFF"/>
              </a:solidFill>
              <a:latin typeface="Arial" charset="0"/>
              <a:ea typeface="微软雅黑"/>
              <a:cs typeface="Arial" charset="0"/>
            </a:endParaRPr>
          </a:p>
        </p:txBody>
      </p:sp>
      <p:sp>
        <p:nvSpPr>
          <p:cNvPr id="26" name="TextBox 25"/>
          <p:cNvSpPr txBox="1"/>
          <p:nvPr/>
        </p:nvSpPr>
        <p:spPr>
          <a:xfrm>
            <a:off x="8092440" y="1554480"/>
            <a:ext cx="3550615"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WS/T 407-2012 </a:t>
            </a:r>
            <a:r>
              <a:rPr sz="1400" b="1">
                <a:solidFill>
                  <a:srgbClr val="222222"/>
                </a:solidFill>
                <a:latin typeface="Arial" charset="0"/>
                <a:ea typeface="微软雅黑"/>
                <a:cs typeface="Arial" charset="0"/>
              </a:rPr>
              <a:t>医疗机构内定量检验结果的可比性验证指南</a:t>
            </a:r>
            <a:endParaRPr sz="1400" b="1">
              <a:solidFill>
                <a:srgbClr val="222222"/>
              </a:solidFill>
              <a:latin typeface="Arial" charset="0"/>
              <a:ea typeface="微软雅黑"/>
              <a:cs typeface="Arial" charset="0"/>
            </a:endParaRPr>
          </a:p>
        </p:txBody>
      </p:sp>
      <p:pic>
        <p:nvPicPr>
          <p:cNvPr id="27" name="ORIGPIC" descr="image.jpeg"/>
          <p:cNvPicPr>
            <a:picLocks noChangeAspect="1"/>
          </p:cNvPicPr>
          <p:nvPr/>
        </p:nvPicPr>
        <p:blipFill>
          <a:blip r:embed="rId4"/>
          <a:srcRect/>
          <a:stretch>
            <a:fillRect/>
          </a:stretch>
        </p:blipFill>
        <p:spPr>
          <a:xfrm>
            <a:off x="8092440" y="2136648"/>
            <a:ext cx="3047861" cy="1483004"/>
          </a:xfrm>
          <a:prstGeom prst="roundRect">
            <a:avLst>
              <a:gd name="adj" fmla="val 4932"/>
            </a:avLst>
          </a:prstGeom>
          <a:ln w="9525">
            <a:solidFill>
              <a:srgbClr val="D5DAE0"/>
            </a:solidFill>
          </a:ln>
        </p:spPr>
      </p:pic>
      <p:pic>
        <p:nvPicPr>
          <p:cNvPr id="28" name="NEWIMG_ICONS" descr="23_2.png"/>
          <p:cNvPicPr>
            <a:picLocks noChangeAspect="1"/>
          </p:cNvPicPr>
          <p:nvPr/>
        </p:nvPicPr>
        <p:blipFill>
          <a:blip r:embed="rId5"/>
          <a:stretch>
            <a:fillRect/>
          </a:stretch>
        </p:blipFill>
        <p:spPr>
          <a:xfrm>
            <a:off x="8092440" y="3848252"/>
            <a:ext cx="3550615" cy="1775307"/>
          </a:xfrm>
          <a:prstGeom prst="rect">
            <a:avLst/>
          </a:prstGeom>
        </p:spPr>
      </p:pic>
      <p:pic>
        <p:nvPicPr>
          <p:cNvPr id="29" name="LOGO" descr="logo_940.png"/>
          <p:cNvPicPr>
            <a:picLocks noChangeAspect="1"/>
          </p:cNvPicPr>
          <p:nvPr/>
        </p:nvPicPr>
        <p:blipFill>
          <a:blip r:embed="rId7"/>
          <a:stretch>
            <a:fillRect/>
          </a:stretch>
        </p:blipFill>
        <p:spPr>
          <a:xfrm>
            <a:off x="548640" y="6249924"/>
            <a:ext cx="310896" cy="31089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总 则</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4.3 </a:t>
            </a:r>
            <a:r>
              <a:rPr sz="2800" b="1">
                <a:solidFill>
                  <a:srgbClr val="1F3A5F"/>
                </a:solidFill>
                <a:latin typeface="Arial" charset="0"/>
                <a:ea typeface="微软雅黑"/>
                <a:cs typeface="Arial" charset="0"/>
              </a:rPr>
              <a:t>判断标准</a:t>
            </a:r>
            <a:endParaRPr sz="2800" b="1">
              <a:solidFill>
                <a:srgbClr val="1F3A5F"/>
              </a:solidFill>
              <a:latin typeface="Arial" charset="0"/>
              <a:ea typeface="微软雅黑"/>
              <a:cs typeface="Arial" charset="0"/>
            </a:endParaRPr>
          </a:p>
        </p:txBody>
      </p:sp>
      <p:pic>
        <p:nvPicPr>
          <p:cNvPr id="4" name="NEWIMG_CORNER" descr="24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35</a:t>
            </a:r>
            <a:endParaRPr sz="1200" b="0">
              <a:solidFill>
                <a:srgbClr val="6B7280"/>
              </a:solidFill>
              <a:latin typeface="Arial" charset="0"/>
              <a:ea typeface="微软雅黑"/>
              <a:cs typeface="Arial" charset="0"/>
            </a:endParaRP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4.3；WS/T 407 6.7</a:t>
            </a:r>
            <a:endParaRPr sz="12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2"/>
          <a:srcRect/>
          <a:stretch>
            <a:fillRect/>
          </a:stretch>
        </p:blipFill>
        <p:spPr>
          <a:xfrm>
            <a:off x="9229100" y="411480"/>
            <a:ext cx="722314" cy="914400"/>
          </a:xfrm>
          <a:prstGeom prst="roundRect">
            <a:avLst>
              <a:gd name="adj" fmla="val 10127"/>
            </a:avLst>
          </a:prstGeom>
          <a:ln w="9525">
            <a:solidFill>
              <a:srgbClr val="D5DAE0"/>
            </a:solidFill>
          </a:ln>
        </p:spPr>
      </p:pic>
      <p:grpSp>
        <p:nvGrpSpPr>
          <p:cNvPr id="9" name="QBOX"/>
          <p:cNvGrpSpPr/>
          <p:nvPr/>
        </p:nvGrpSpPr>
        <p:grpSpPr>
          <a:xfrm>
            <a:off x="548640" y="1554480"/>
            <a:ext cx="4889616" cy="1818640"/>
            <a:chOff x="548640" y="1554480"/>
            <a:chExt cx="4889616" cy="1818640"/>
          </a:xfrm>
        </p:grpSpPr>
        <p:sp>
          <p:nvSpPr>
            <p:cNvPr id="10" name="Rounded Rectangle 9"/>
            <p:cNvSpPr/>
            <p:nvPr/>
          </p:nvSpPr>
          <p:spPr>
            <a:xfrm>
              <a:off x="548640" y="1554480"/>
              <a:ext cx="4889616"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2" name="TextBox 11"/>
            <p:cNvSpPr txBox="1"/>
            <p:nvPr/>
          </p:nvSpPr>
          <p:spPr>
            <a:xfrm>
              <a:off x="960120" y="1691639"/>
              <a:ext cx="4340976"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4.3 </a:t>
              </a:r>
              <a:r>
                <a:rPr sz="1400" b="1">
                  <a:solidFill>
                    <a:srgbClr val="1F3A5F"/>
                  </a:solidFill>
                  <a:latin typeface="Arial" charset="0"/>
                  <a:ea typeface="微软雅黑"/>
                  <a:cs typeface="Arial" charset="0"/>
                </a:rPr>
                <a:t>判断标准</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实验室应根据检验项目的预期用途和性能要求，制定适宜的检测系统结果间可比性的判断标准。 实验室制定判断标准时，应参考制造商或研发者声明的标准、国家标准、行业标准、地方标准、团体标准、公开发表的临床应用指南和专家共识等。 验证结果应满足实验室制定的判断标准。</a:t>
              </a:r>
              <a:endParaRPr sz="1400" b="0">
                <a:solidFill>
                  <a:srgbClr val="222222"/>
                </a:solidFill>
                <a:latin typeface="Arial" charset="0"/>
                <a:ea typeface="微软雅黑"/>
                <a:cs typeface="Arial" charset="0"/>
              </a:endParaRPr>
            </a:p>
          </p:txBody>
        </p:sp>
        <p:sp>
          <p:nvSpPr>
            <p:cNvPr id="13" name="CITE"/>
            <p:cNvSpPr txBox="1"/>
            <p:nvPr/>
          </p:nvSpPr>
          <p:spPr>
            <a:xfrm>
              <a:off x="3401675" y="3019552"/>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4.3</a:t>
              </a:r>
              <a:endParaRPr sz="1200" b="0">
                <a:solidFill>
                  <a:srgbClr val="1F3A5F"/>
                </a:solidFill>
                <a:latin typeface="Arial" charset="0"/>
                <a:ea typeface="微软雅黑"/>
                <a:cs typeface="Arial" charset="0"/>
              </a:endParaRPr>
            </a:p>
          </p:txBody>
        </p:sp>
      </p:grpSp>
      <p:grpSp>
        <p:nvGrpSpPr>
          <p:cNvPr id="14" name="QBOX"/>
          <p:cNvGrpSpPr/>
          <p:nvPr/>
        </p:nvGrpSpPr>
        <p:grpSpPr>
          <a:xfrm>
            <a:off x="548640" y="3601720"/>
            <a:ext cx="4889616" cy="1773936"/>
            <a:chOff x="548640" y="3601720"/>
            <a:chExt cx="4889616" cy="1773936"/>
          </a:xfrm>
        </p:grpSpPr>
        <p:sp>
          <p:nvSpPr>
            <p:cNvPr id="15" name="Rounded Rectangle 14"/>
            <p:cNvSpPr/>
            <p:nvPr/>
          </p:nvSpPr>
          <p:spPr>
            <a:xfrm>
              <a:off x="548640" y="3601720"/>
              <a:ext cx="4889616"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364744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7" name="TextBox 16"/>
            <p:cNvSpPr txBox="1"/>
            <p:nvPr/>
          </p:nvSpPr>
          <p:spPr>
            <a:xfrm>
              <a:off x="960120" y="3738880"/>
              <a:ext cx="4340976"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1</a:t>
              </a:r>
              <a:r>
                <a:rPr sz="1400" b="0">
                  <a:solidFill>
                    <a:srgbClr val="222222"/>
                  </a:solidFill>
                  <a:latin typeface="Arial" charset="0"/>
                  <a:ea typeface="微软雅黑"/>
                  <a:cs typeface="Arial" charset="0"/>
                </a:rPr>
                <a:t>）建立结果可接受标准的原则：应满足临床需要，同时考虑检测系统的</a:t>
              </a:r>
              <a:r>
                <a:rPr sz="1400" b="0">
                  <a:solidFill>
                    <a:srgbClr val="C0392B"/>
                  </a:solidFill>
                  <a:latin typeface="Arial" charset="0"/>
                  <a:ea typeface="微软雅黑"/>
                  <a:cs typeface="Arial" charset="0"/>
                </a:rPr>
                <a:t>性能状况</a:t>
              </a: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反之，如果基于检测系统不精密度建立的标准高于临床要求，实验室负责人可根据临床需要适当调整可接受标准</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p:txBody>
        </p:sp>
        <p:sp>
          <p:nvSpPr>
            <p:cNvPr id="18" name="CITE"/>
            <p:cNvSpPr txBox="1"/>
            <p:nvPr/>
          </p:nvSpPr>
          <p:spPr>
            <a:xfrm>
              <a:off x="3536394" y="5037328"/>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6.7.1</a:t>
              </a:r>
              <a:endParaRPr sz="1200" b="0">
                <a:solidFill>
                  <a:srgbClr val="148F8A"/>
                </a:solidFill>
                <a:latin typeface="Arial" charset="0"/>
                <a:ea typeface="微软雅黑"/>
                <a:cs typeface="Arial" charset="0"/>
              </a:endParaRPr>
            </a:p>
          </p:txBody>
        </p:sp>
      </p:grpSp>
      <p:grpSp>
        <p:nvGrpSpPr>
          <p:cNvPr id="19" name="QBOX"/>
          <p:cNvGrpSpPr/>
          <p:nvPr/>
        </p:nvGrpSpPr>
        <p:grpSpPr>
          <a:xfrm>
            <a:off x="5666856" y="1554480"/>
            <a:ext cx="5976198" cy="4257040"/>
            <a:chOff x="5666856" y="1554480"/>
            <a:chExt cx="5976198" cy="4257040"/>
          </a:xfrm>
        </p:grpSpPr>
        <p:sp>
          <p:nvSpPr>
            <p:cNvPr id="20" name="Rounded Rectangle 19"/>
            <p:cNvSpPr/>
            <p:nvPr/>
          </p:nvSpPr>
          <p:spPr>
            <a:xfrm>
              <a:off x="5666856" y="1554480"/>
              <a:ext cx="5976198" cy="4257040"/>
            </a:xfrm>
            <a:prstGeom prst="roundRect">
              <a:avLst>
                <a:gd name="adj" fmla="val 171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744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2" name="TextBox 21"/>
            <p:cNvSpPr txBox="1"/>
            <p:nvPr/>
          </p:nvSpPr>
          <p:spPr>
            <a:xfrm>
              <a:off x="6078336" y="1691639"/>
              <a:ext cx="5427558" cy="399186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2</a:t>
              </a:r>
              <a:r>
                <a:rPr sz="1400" b="0">
                  <a:solidFill>
                    <a:srgbClr val="222222"/>
                  </a:solidFill>
                  <a:latin typeface="Arial" charset="0"/>
                  <a:ea typeface="微软雅黑"/>
                  <a:cs typeface="Arial" charset="0"/>
                </a:rPr>
                <a:t>）不同检测项目的分析质量要求。确认参与比对的各检测系统的不精密度均符合要求的前提下，</a:t>
              </a:r>
              <a:r>
                <a:rPr sz="1400" b="0">
                  <a:solidFill>
                    <a:srgbClr val="222222"/>
                  </a:solidFill>
                  <a:latin typeface="Arial" charset="0"/>
                  <a:ea typeface="微软雅黑"/>
                  <a:cs typeface="Arial" charset="0"/>
                </a:rPr>
                <a:t>按以下优选顺序</a:t>
              </a:r>
              <a:r>
                <a:rPr sz="1400" b="0">
                  <a:solidFill>
                    <a:srgbClr val="222222"/>
                  </a:solidFill>
                  <a:latin typeface="Arial" charset="0"/>
                  <a:ea typeface="微软雅黑"/>
                  <a:cs typeface="Arial" charset="0"/>
                </a:rPr>
                <a:t>确定不同检测项目的分析质量要求：</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①依据临床研究结果得出的</a:t>
              </a:r>
              <a:r>
                <a:rPr sz="1400" b="0">
                  <a:solidFill>
                    <a:srgbClr val="C0392B"/>
                  </a:solidFill>
                  <a:latin typeface="Arial" charset="0"/>
                  <a:ea typeface="微软雅黑"/>
                  <a:cs typeface="Arial" charset="0"/>
                </a:rPr>
                <a:t>推荐指标</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128270" algn="l">
                <a:lnSpc>
                  <a:spcPts val="1680"/>
                </a:lnSpc>
                <a:spcBef>
                  <a:spcPts val="400"/>
                </a:spcBef>
                <a:spcAft>
                  <a:spcPts val="0"/>
                </a:spcAft>
                <a:buNone/>
              </a:pPr>
              <a:r>
                <a:rPr sz="1400" b="0">
                  <a:solidFill>
                    <a:srgbClr val="222222"/>
                  </a:solidFill>
                  <a:latin typeface="Arial" charset="0"/>
                  <a:ea typeface="微软雅黑"/>
                  <a:cs typeface="Arial" charset="0"/>
                </a:rPr>
                <a:t>②依据</a:t>
              </a:r>
              <a:r>
                <a:rPr sz="1400" b="0">
                  <a:solidFill>
                    <a:srgbClr val="222222"/>
                  </a:solidFill>
                  <a:latin typeface="Arial" charset="0"/>
                  <a:ea typeface="微软雅黑"/>
                  <a:cs typeface="Arial" charset="0"/>
                </a:rPr>
                <a:t>医疗机构内医生的临床经验</a:t>
              </a:r>
              <a:r>
                <a:rPr sz="1400" b="0">
                  <a:solidFill>
                    <a:srgbClr val="222222"/>
                  </a:solidFill>
                  <a:latin typeface="Arial" charset="0"/>
                  <a:ea typeface="微软雅黑"/>
                  <a:cs typeface="Arial" charset="0"/>
                </a:rPr>
                <a:t>提出的</a:t>
              </a:r>
              <a:r>
                <a:rPr sz="1400" b="0">
                  <a:solidFill>
                    <a:srgbClr val="C0392B"/>
                  </a:solidFill>
                  <a:latin typeface="Arial" charset="0"/>
                  <a:ea typeface="微软雅黑"/>
                  <a:cs typeface="Arial" charset="0"/>
                </a:rPr>
                <a:t>建议指标</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255905" algn="l">
                <a:lnSpc>
                  <a:spcPts val="1680"/>
                </a:lnSpc>
                <a:spcBef>
                  <a:spcPts val="400"/>
                </a:spcBef>
                <a:spcAft>
                  <a:spcPts val="0"/>
                </a:spcAft>
                <a:buNone/>
              </a:pPr>
              <a:r>
                <a:rPr sz="1400" b="0">
                  <a:solidFill>
                    <a:srgbClr val="222222"/>
                  </a:solidFill>
                  <a:latin typeface="Arial" charset="0"/>
                  <a:ea typeface="微软雅黑"/>
                  <a:cs typeface="Arial" charset="0"/>
                </a:rPr>
                <a:t>③依据生物学变异确定的分析质量要求（注：对于精密度检测结果符合要求的检测系统，同一检测项目可比性结果的允许差异为个体内生物学变异（CV)的1/3）</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384175" algn="l">
                <a:lnSpc>
                  <a:spcPts val="1680"/>
                </a:lnSpc>
                <a:spcBef>
                  <a:spcPts val="400"/>
                </a:spcBef>
                <a:spcAft>
                  <a:spcPts val="0"/>
                </a:spcAft>
                <a:buNone/>
              </a:pPr>
              <a:r>
                <a:rPr sz="1400" b="0">
                  <a:solidFill>
                    <a:srgbClr val="222222"/>
                  </a:solidFill>
                  <a:latin typeface="Arial" charset="0"/>
                  <a:ea typeface="微软雅黑"/>
                  <a:cs typeface="Arial" charset="0"/>
                </a:rPr>
                <a:t>④依据</a:t>
              </a:r>
              <a:r>
                <a:rPr sz="1400" b="0">
                  <a:solidFill>
                    <a:srgbClr val="C0392B"/>
                  </a:solidFill>
                  <a:latin typeface="Arial" charset="0"/>
                  <a:ea typeface="微软雅黑"/>
                  <a:cs typeface="Arial" charset="0"/>
                </a:rPr>
                <a:t>室间质评（</a:t>
              </a:r>
              <a:r>
                <a:rPr sz="1400" b="0">
                  <a:solidFill>
                    <a:srgbClr val="C0392B"/>
                  </a:solidFill>
                  <a:latin typeface="Arial" charset="0"/>
                  <a:ea typeface="微软雅黑"/>
                  <a:cs typeface="Arial" charset="0"/>
                </a:rPr>
                <a:t>EQA</a:t>
              </a:r>
              <a:r>
                <a:rPr sz="1400" b="0">
                  <a:solidFill>
                    <a:srgbClr val="C0392B"/>
                  </a:solidFill>
                  <a:latin typeface="Arial" charset="0"/>
                  <a:ea typeface="微软雅黑"/>
                  <a:cs typeface="Arial" charset="0"/>
                </a:rPr>
                <a:t>）</a:t>
              </a:r>
              <a:r>
                <a:rPr sz="1400" b="0">
                  <a:solidFill>
                    <a:srgbClr val="222222"/>
                  </a:solidFill>
                  <a:latin typeface="Arial" charset="0"/>
                  <a:ea typeface="微软雅黑"/>
                  <a:cs typeface="Arial" charset="0"/>
                </a:rPr>
                <a:t>数据设定的分析质量要求；</a:t>
              </a:r>
              <a:endParaRPr sz="1400" b="0">
                <a:solidFill>
                  <a:srgbClr val="222222"/>
                </a:solidFill>
                <a:latin typeface="Arial" charset="0"/>
                <a:ea typeface="微软雅黑"/>
                <a:cs typeface="Arial" charset="0"/>
              </a:endParaRPr>
            </a:p>
            <a:p>
              <a:pPr marL="511810" algn="l">
                <a:lnSpc>
                  <a:spcPts val="1680"/>
                </a:lnSpc>
                <a:spcBef>
                  <a:spcPts val="400"/>
                </a:spcBef>
                <a:spcAft>
                  <a:spcPts val="0"/>
                </a:spcAft>
                <a:buNone/>
              </a:pPr>
              <a:r>
                <a:rPr sz="1400" b="0">
                  <a:solidFill>
                    <a:srgbClr val="222222"/>
                  </a:solidFill>
                  <a:latin typeface="Arial" charset="0"/>
                  <a:ea typeface="微软雅黑"/>
                  <a:cs typeface="Arial" charset="0"/>
                </a:rPr>
                <a:t>⑤依据认可机构设置的</a:t>
              </a:r>
              <a:r>
                <a:rPr sz="1400" b="0">
                  <a:solidFill>
                    <a:srgbClr val="C0392B"/>
                  </a:solidFill>
                  <a:latin typeface="Arial" charset="0"/>
                  <a:ea typeface="微软雅黑"/>
                  <a:cs typeface="Arial" charset="0"/>
                </a:rPr>
                <a:t>最低标准</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640080" algn="l">
                <a:lnSpc>
                  <a:spcPts val="1680"/>
                </a:lnSpc>
                <a:spcBef>
                  <a:spcPts val="400"/>
                </a:spcBef>
                <a:spcAft>
                  <a:spcPts val="0"/>
                </a:spcAft>
                <a:buNone/>
              </a:pPr>
              <a:r>
                <a:rPr sz="1400" b="0">
                  <a:solidFill>
                    <a:srgbClr val="222222"/>
                  </a:solidFill>
                  <a:latin typeface="Arial" charset="0"/>
                  <a:ea typeface="微软雅黑"/>
                  <a:cs typeface="Arial" charset="0"/>
                </a:rPr>
                <a:t>⑥如无适用的外部标准，可</a:t>
              </a:r>
              <a:r>
                <a:rPr sz="1400" b="0">
                  <a:solidFill>
                    <a:srgbClr val="C0392B"/>
                  </a:solidFill>
                  <a:latin typeface="Arial" charset="0"/>
                  <a:ea typeface="微软雅黑"/>
                  <a:cs typeface="Arial" charset="0"/>
                </a:rPr>
                <a:t>依据实验室内部的长期不精密度数据</a:t>
              </a:r>
              <a:r>
                <a:rPr sz="1400" b="0">
                  <a:solidFill>
                    <a:srgbClr val="222222"/>
                  </a:solidFill>
                  <a:latin typeface="Arial" charset="0"/>
                  <a:ea typeface="微软雅黑"/>
                  <a:cs typeface="Arial" charset="0"/>
                </a:rPr>
                <a:t>确定分析质量要求；</a:t>
              </a:r>
              <a:endParaRPr sz="1400" b="0">
                <a:solidFill>
                  <a:srgbClr val="222222"/>
                </a:solidFill>
                <a:latin typeface="Arial" charset="0"/>
                <a:ea typeface="微软雅黑"/>
                <a:cs typeface="Arial" charset="0"/>
              </a:endParaRPr>
            </a:p>
            <a:p>
              <a:pPr marL="768350" algn="l">
                <a:lnSpc>
                  <a:spcPts val="1680"/>
                </a:lnSpc>
                <a:spcBef>
                  <a:spcPts val="400"/>
                </a:spcBef>
                <a:spcAft>
                  <a:spcPts val="0"/>
                </a:spcAft>
                <a:buNone/>
              </a:pPr>
              <a:r>
                <a:rPr sz="1400" b="0">
                  <a:solidFill>
                    <a:srgbClr val="222222"/>
                  </a:solidFill>
                  <a:latin typeface="Arial" charset="0"/>
                  <a:ea typeface="微软雅黑"/>
                  <a:cs typeface="Arial" charset="0"/>
                </a:rPr>
                <a:t>⑦所选定的分析质量要求至少应满足国家或行业标准的要求。</a:t>
              </a:r>
              <a:endParaRPr sz="1400" b="0">
                <a:solidFill>
                  <a:srgbClr val="222222"/>
                </a:solidFill>
                <a:latin typeface="Arial" charset="0"/>
                <a:ea typeface="微软雅黑"/>
                <a:cs typeface="Arial" charset="0"/>
              </a:endParaRPr>
            </a:p>
          </p:txBody>
        </p:sp>
        <p:sp>
          <p:nvSpPr>
            <p:cNvPr id="23" name="CITE"/>
            <p:cNvSpPr txBox="1"/>
            <p:nvPr/>
          </p:nvSpPr>
          <p:spPr>
            <a:xfrm>
              <a:off x="9741192" y="5457952"/>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6.7.2</a:t>
              </a:r>
              <a:endParaRPr sz="1200" b="0">
                <a:solidFill>
                  <a:srgbClr val="148F8A"/>
                </a:solidFill>
                <a:latin typeface="Arial" charset="0"/>
                <a:ea typeface="微软雅黑"/>
                <a:cs typeface="Arial" charset="0"/>
              </a:endParaRPr>
            </a:p>
          </p:txBody>
        </p:sp>
      </p:grpSp>
      <p:pic>
        <p:nvPicPr>
          <p:cNvPr id="24"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5 </a:t>
            </a:r>
            <a:r>
              <a:rPr sz="2800" b="1">
                <a:solidFill>
                  <a:srgbClr val="1F3A5F"/>
                </a:solidFill>
                <a:latin typeface="Arial" charset="0"/>
                <a:ea typeface="微软雅黑"/>
                <a:cs typeface="Arial" charset="0"/>
              </a:rPr>
              <a:t>验证方案</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36</a:t>
            </a:r>
            <a:endParaRPr sz="1200" b="0">
              <a:solidFill>
                <a:srgbClr val="6B7280"/>
              </a:solidFill>
              <a:latin typeface="Arial" charset="0"/>
              <a:ea typeface="微软雅黑"/>
              <a:cs typeface="Arial" charset="0"/>
            </a:endParaRPr>
          </a:p>
        </p:txBody>
      </p:sp>
      <p:sp>
        <p:nvSpPr>
          <p:cNvPr id="6"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5</a:t>
            </a:r>
            <a:endParaRPr sz="1200" b="1">
              <a:solidFill>
                <a:srgbClr val="1F3A5F"/>
              </a:solidFill>
              <a:latin typeface="Arial" charset="0"/>
              <a:ea typeface="微软雅黑"/>
              <a:cs typeface="Arial" charset="0"/>
            </a:endParaRPr>
          </a:p>
        </p:txBody>
      </p:sp>
      <p:pic>
        <p:nvPicPr>
          <p:cNvPr id="7" name="ORIGPIC" descr="image.jpeg"/>
          <p:cNvPicPr>
            <a:picLocks noChangeAspect="1"/>
          </p:cNvPicPr>
          <p:nvPr/>
        </p:nvPicPr>
        <p:blipFill>
          <a:blip r:embed="rId1"/>
          <a:srcRect/>
          <a:stretch>
            <a:fillRect/>
          </a:stretch>
        </p:blipFill>
        <p:spPr>
          <a:xfrm>
            <a:off x="909031" y="1554480"/>
            <a:ext cx="1881371" cy="2660904"/>
          </a:xfrm>
          <a:prstGeom prst="roundRect">
            <a:avLst>
              <a:gd name="adj" fmla="val 3888"/>
            </a:avLst>
          </a:prstGeom>
          <a:ln w="9525">
            <a:solidFill>
              <a:srgbClr val="D5DAE0"/>
            </a:solidFill>
          </a:ln>
        </p:spPr>
      </p:pic>
      <p:pic>
        <p:nvPicPr>
          <p:cNvPr id="8" name="ORIGPIC" descr="image.jpeg"/>
          <p:cNvPicPr>
            <a:picLocks noChangeAspect="1"/>
          </p:cNvPicPr>
          <p:nvPr/>
        </p:nvPicPr>
        <p:blipFill>
          <a:blip r:embed="rId2"/>
          <a:srcRect/>
          <a:stretch>
            <a:fillRect/>
          </a:stretch>
        </p:blipFill>
        <p:spPr>
          <a:xfrm>
            <a:off x="3753339" y="1554480"/>
            <a:ext cx="1854261" cy="2660904"/>
          </a:xfrm>
          <a:prstGeom prst="roundRect">
            <a:avLst>
              <a:gd name="adj" fmla="val 3945"/>
            </a:avLst>
          </a:prstGeom>
          <a:ln w="9525">
            <a:solidFill>
              <a:srgbClr val="D5DAE0"/>
            </a:solidFill>
          </a:ln>
        </p:spPr>
      </p:pic>
      <p:grpSp>
        <p:nvGrpSpPr>
          <p:cNvPr id="9" name="NUMCARD"/>
          <p:cNvGrpSpPr/>
          <p:nvPr/>
        </p:nvGrpSpPr>
        <p:grpSpPr>
          <a:xfrm>
            <a:off x="548640" y="4443984"/>
            <a:ext cx="1737817" cy="768096"/>
            <a:chOff x="548640" y="4443984"/>
            <a:chExt cx="1737817" cy="768096"/>
          </a:xfrm>
        </p:grpSpPr>
        <p:sp>
          <p:nvSpPr>
            <p:cNvPr id="10" name="Rounded Rectangle 9"/>
            <p:cNvSpPr/>
            <p:nvPr/>
          </p:nvSpPr>
          <p:spPr>
            <a:xfrm>
              <a:off x="54864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①</a:t>
              </a:r>
              <a:endParaRPr sz="1600" b="1">
                <a:solidFill>
                  <a:srgbClr val="E8833A"/>
                </a:solidFill>
                <a:latin typeface="Arial" charset="0"/>
                <a:ea typeface="微软雅黑"/>
                <a:cs typeface="Arial" charset="0"/>
              </a:endParaRPr>
            </a:p>
          </p:txBody>
        </p:sp>
        <p:sp>
          <p:nvSpPr>
            <p:cNvPr id="12" name="TextBox 11"/>
            <p:cNvSpPr txBox="1"/>
            <p:nvPr/>
          </p:nvSpPr>
          <p:spPr>
            <a:xfrm>
              <a:off x="96012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检测系统（分析仪器、试剂和校准品）</a:t>
              </a:r>
              <a:endParaRPr sz="1400" b="0">
                <a:solidFill>
                  <a:srgbClr val="222222"/>
                </a:solidFill>
                <a:latin typeface="Arial" charset="0"/>
                <a:ea typeface="微软雅黑"/>
                <a:cs typeface="Arial" charset="0"/>
              </a:endParaRPr>
            </a:p>
          </p:txBody>
        </p:sp>
      </p:grpSp>
      <p:grpSp>
        <p:nvGrpSpPr>
          <p:cNvPr id="13" name="NUMCARD"/>
          <p:cNvGrpSpPr/>
          <p:nvPr/>
        </p:nvGrpSpPr>
        <p:grpSpPr>
          <a:xfrm>
            <a:off x="2396185" y="4443984"/>
            <a:ext cx="1737817" cy="768096"/>
            <a:chOff x="2396185" y="4443984"/>
            <a:chExt cx="1737817" cy="768096"/>
          </a:xfrm>
        </p:grpSpPr>
        <p:sp>
          <p:nvSpPr>
            <p:cNvPr id="14" name="Rounded Rectangle 13"/>
            <p:cNvSpPr/>
            <p:nvPr/>
          </p:nvSpPr>
          <p:spPr>
            <a:xfrm>
              <a:off x="2396185"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9337"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②</a:t>
              </a:r>
              <a:endParaRPr sz="1600" b="1">
                <a:solidFill>
                  <a:srgbClr val="E8833A"/>
                </a:solidFill>
                <a:latin typeface="Arial" charset="0"/>
                <a:ea typeface="微软雅黑"/>
                <a:cs typeface="Arial" charset="0"/>
              </a:endParaRPr>
            </a:p>
          </p:txBody>
        </p:sp>
        <p:sp>
          <p:nvSpPr>
            <p:cNvPr id="16" name="TextBox 15"/>
            <p:cNvSpPr txBox="1"/>
            <p:nvPr/>
          </p:nvSpPr>
          <p:spPr>
            <a:xfrm>
              <a:off x="2807665"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样本类型和数量</a:t>
              </a:r>
              <a:endParaRPr sz="1400" b="0">
                <a:solidFill>
                  <a:srgbClr val="222222"/>
                </a:solidFill>
                <a:latin typeface="Arial" charset="0"/>
                <a:ea typeface="微软雅黑"/>
                <a:cs typeface="Arial" charset="0"/>
              </a:endParaRPr>
            </a:p>
          </p:txBody>
        </p:sp>
      </p:grpSp>
      <p:grpSp>
        <p:nvGrpSpPr>
          <p:cNvPr id="17" name="NUMCARD"/>
          <p:cNvGrpSpPr/>
          <p:nvPr/>
        </p:nvGrpSpPr>
        <p:grpSpPr>
          <a:xfrm>
            <a:off x="4243730" y="4443984"/>
            <a:ext cx="1737817" cy="768096"/>
            <a:chOff x="4243730" y="4443984"/>
            <a:chExt cx="1737817" cy="768096"/>
          </a:xfrm>
        </p:grpSpPr>
        <p:sp>
          <p:nvSpPr>
            <p:cNvPr id="18" name="Rounded Rectangle 17"/>
            <p:cNvSpPr/>
            <p:nvPr/>
          </p:nvSpPr>
          <p:spPr>
            <a:xfrm>
              <a:off x="424373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1688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③</a:t>
              </a:r>
              <a:endParaRPr sz="1600" b="1">
                <a:solidFill>
                  <a:srgbClr val="E8833A"/>
                </a:solidFill>
                <a:latin typeface="Arial" charset="0"/>
                <a:ea typeface="微软雅黑"/>
                <a:cs typeface="Arial" charset="0"/>
              </a:endParaRPr>
            </a:p>
          </p:txBody>
        </p:sp>
        <p:sp>
          <p:nvSpPr>
            <p:cNvPr id="20" name="TextBox 19"/>
            <p:cNvSpPr txBox="1"/>
            <p:nvPr/>
          </p:nvSpPr>
          <p:spPr>
            <a:xfrm>
              <a:off x="465521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实验操作和质量控制过程</a:t>
              </a:r>
              <a:endParaRPr sz="1400" b="0">
                <a:solidFill>
                  <a:srgbClr val="222222"/>
                </a:solidFill>
                <a:latin typeface="Arial" charset="0"/>
                <a:ea typeface="微软雅黑"/>
                <a:cs typeface="Arial" charset="0"/>
              </a:endParaRPr>
            </a:p>
          </p:txBody>
        </p:sp>
      </p:grpSp>
      <p:grpSp>
        <p:nvGrpSpPr>
          <p:cNvPr id="21" name="NUMCARD"/>
          <p:cNvGrpSpPr/>
          <p:nvPr/>
        </p:nvGrpSpPr>
        <p:grpSpPr>
          <a:xfrm>
            <a:off x="548640" y="5285232"/>
            <a:ext cx="1737817" cy="768096"/>
            <a:chOff x="548640" y="5285232"/>
            <a:chExt cx="1737817" cy="768096"/>
          </a:xfrm>
        </p:grpSpPr>
        <p:sp>
          <p:nvSpPr>
            <p:cNvPr id="22" name="Rounded Rectangle 21"/>
            <p:cNvSpPr/>
            <p:nvPr/>
          </p:nvSpPr>
          <p:spPr>
            <a:xfrm>
              <a:off x="54864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④</a:t>
              </a:r>
              <a:endParaRPr sz="1600" b="1">
                <a:solidFill>
                  <a:srgbClr val="E8833A"/>
                </a:solidFill>
                <a:latin typeface="Arial" charset="0"/>
                <a:ea typeface="微软雅黑"/>
                <a:cs typeface="Arial" charset="0"/>
              </a:endParaRPr>
            </a:p>
          </p:txBody>
        </p:sp>
        <p:sp>
          <p:nvSpPr>
            <p:cNvPr id="24" name="TextBox 23"/>
            <p:cNvSpPr txBox="1"/>
            <p:nvPr/>
          </p:nvSpPr>
          <p:spPr>
            <a:xfrm>
              <a:off x="96012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数据处理方法和判断标准</a:t>
              </a:r>
              <a:endParaRPr sz="1400" b="0">
                <a:solidFill>
                  <a:srgbClr val="222222"/>
                </a:solidFill>
                <a:latin typeface="Arial" charset="0"/>
                <a:ea typeface="微软雅黑"/>
                <a:cs typeface="Arial" charset="0"/>
              </a:endParaRPr>
            </a:p>
          </p:txBody>
        </p:sp>
      </p:grpSp>
      <p:grpSp>
        <p:nvGrpSpPr>
          <p:cNvPr id="25" name="NUMCARD"/>
          <p:cNvGrpSpPr/>
          <p:nvPr/>
        </p:nvGrpSpPr>
        <p:grpSpPr>
          <a:xfrm>
            <a:off x="2396185" y="5285232"/>
            <a:ext cx="1737817" cy="768096"/>
            <a:chOff x="2396185" y="5285232"/>
            <a:chExt cx="1737817" cy="768096"/>
          </a:xfrm>
        </p:grpSpPr>
        <p:sp>
          <p:nvSpPr>
            <p:cNvPr id="26" name="Rounded Rectangle 25"/>
            <p:cNvSpPr/>
            <p:nvPr/>
          </p:nvSpPr>
          <p:spPr>
            <a:xfrm>
              <a:off x="2396185"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9337"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⑤</a:t>
              </a:r>
              <a:endParaRPr sz="1600" b="1">
                <a:solidFill>
                  <a:srgbClr val="E8833A"/>
                </a:solidFill>
                <a:latin typeface="Arial" charset="0"/>
                <a:ea typeface="微软雅黑"/>
                <a:cs typeface="Arial" charset="0"/>
              </a:endParaRPr>
            </a:p>
          </p:txBody>
        </p:sp>
        <p:sp>
          <p:nvSpPr>
            <p:cNvPr id="28" name="TextBox 27"/>
            <p:cNvSpPr txBox="1"/>
            <p:nvPr/>
          </p:nvSpPr>
          <p:spPr>
            <a:xfrm>
              <a:off x="2807665"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人员了解验证方案</a:t>
              </a:r>
              <a:endParaRPr sz="1400" b="0">
                <a:solidFill>
                  <a:srgbClr val="222222"/>
                </a:solidFill>
                <a:latin typeface="Arial" charset="0"/>
                <a:ea typeface="微软雅黑"/>
                <a:cs typeface="Arial" charset="0"/>
              </a:endParaRPr>
            </a:p>
          </p:txBody>
        </p:sp>
      </p:grpSp>
      <p:grpSp>
        <p:nvGrpSpPr>
          <p:cNvPr id="29" name="NUMCARD"/>
          <p:cNvGrpSpPr/>
          <p:nvPr/>
        </p:nvGrpSpPr>
        <p:grpSpPr>
          <a:xfrm>
            <a:off x="4243730" y="5285232"/>
            <a:ext cx="1737817" cy="768096"/>
            <a:chOff x="4243730" y="5285232"/>
            <a:chExt cx="1737817" cy="768096"/>
          </a:xfrm>
        </p:grpSpPr>
        <p:sp>
          <p:nvSpPr>
            <p:cNvPr id="30" name="Rounded Rectangle 29"/>
            <p:cNvSpPr/>
            <p:nvPr/>
          </p:nvSpPr>
          <p:spPr>
            <a:xfrm>
              <a:off x="424373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688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⑥</a:t>
              </a:r>
              <a:endParaRPr sz="1600" b="1">
                <a:solidFill>
                  <a:srgbClr val="E8833A"/>
                </a:solidFill>
                <a:latin typeface="Arial" charset="0"/>
                <a:ea typeface="微软雅黑"/>
                <a:cs typeface="Arial" charset="0"/>
              </a:endParaRPr>
            </a:p>
          </p:txBody>
        </p:sp>
        <p:sp>
          <p:nvSpPr>
            <p:cNvPr id="32" name="TextBox 31"/>
            <p:cNvSpPr txBox="1"/>
            <p:nvPr/>
          </p:nvSpPr>
          <p:spPr>
            <a:xfrm>
              <a:off x="465521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制定验证计划，组织实施并记录</a:t>
              </a:r>
              <a:endParaRPr sz="1400" b="0">
                <a:solidFill>
                  <a:srgbClr val="222222"/>
                </a:solidFill>
                <a:latin typeface="Arial" charset="0"/>
                <a:ea typeface="微软雅黑"/>
                <a:cs typeface="Arial" charset="0"/>
              </a:endParaRPr>
            </a:p>
          </p:txBody>
        </p:sp>
      </p:grpSp>
      <p:grpSp>
        <p:nvGrpSpPr>
          <p:cNvPr id="33" name="QBOX"/>
          <p:cNvGrpSpPr/>
          <p:nvPr/>
        </p:nvGrpSpPr>
        <p:grpSpPr>
          <a:xfrm>
            <a:off x="6210147" y="1554480"/>
            <a:ext cx="5432907" cy="2194559"/>
            <a:chOff x="6210147" y="1554480"/>
            <a:chExt cx="5432907" cy="2194559"/>
          </a:xfrm>
        </p:grpSpPr>
        <p:sp>
          <p:nvSpPr>
            <p:cNvPr id="34" name="Rounded Rectangle 33"/>
            <p:cNvSpPr/>
            <p:nvPr/>
          </p:nvSpPr>
          <p:spPr>
            <a:xfrm>
              <a:off x="6210147" y="1554480"/>
              <a:ext cx="5432907" cy="2194559"/>
            </a:xfrm>
            <a:prstGeom prst="roundRect">
              <a:avLst>
                <a:gd name="adj" fmla="val 333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36" name="TextBox 35"/>
            <p:cNvSpPr txBox="1"/>
            <p:nvPr/>
          </p:nvSpPr>
          <p:spPr>
            <a:xfrm>
              <a:off x="6621627" y="1691639"/>
              <a:ext cx="4884267" cy="19293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实验室应制定验证程序文件和</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或作业指导书，内容包括用于结果比对的检测系统（包括但不限于分析仪器、试剂和校准品），样本类型和数量，实验操作和质量控制过程，数据处理方法和判断标准等。 负责实施结果可比性验证的人员应了解验证方案，制定验证计划，组织实施并记录。</a:t>
              </a:r>
              <a:endParaRPr sz="1800" b="0">
                <a:solidFill>
                  <a:srgbClr val="222222"/>
                </a:solidFill>
                <a:latin typeface="Arial" charset="0"/>
                <a:ea typeface="微软雅黑"/>
                <a:cs typeface="Arial" charset="0"/>
              </a:endParaRPr>
            </a:p>
          </p:txBody>
        </p:sp>
        <p:sp>
          <p:nvSpPr>
            <p:cNvPr id="37" name="CITE"/>
            <p:cNvSpPr txBox="1"/>
            <p:nvPr/>
          </p:nvSpPr>
          <p:spPr>
            <a:xfrm>
              <a:off x="9741205" y="3364991"/>
              <a:ext cx="17646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5</a:t>
              </a:r>
              <a:endParaRPr sz="1200" b="0">
                <a:solidFill>
                  <a:srgbClr val="1F3A5F"/>
                </a:solidFill>
                <a:latin typeface="Arial" charset="0"/>
                <a:ea typeface="微软雅黑"/>
                <a:cs typeface="Arial" charset="0"/>
              </a:endParaRPr>
            </a:p>
          </p:txBody>
        </p:sp>
      </p:grpSp>
      <p:pic>
        <p:nvPicPr>
          <p:cNvPr id="38" name="NEWIMG" descr="25_1.png"/>
          <p:cNvPicPr>
            <a:picLocks noChangeAspect="1"/>
          </p:cNvPicPr>
          <p:nvPr/>
        </p:nvPicPr>
        <p:blipFill>
          <a:blip r:embed="rId3"/>
          <a:stretch>
            <a:fillRect/>
          </a:stretch>
        </p:blipFill>
        <p:spPr>
          <a:xfrm>
            <a:off x="6210147" y="3977639"/>
            <a:ext cx="1371600" cy="1371600"/>
          </a:xfrm>
          <a:prstGeom prst="roundRect">
            <a:avLst>
              <a:gd name="adj" fmla="val 5333"/>
            </a:avLst>
          </a:prstGeom>
        </p:spPr>
      </p:pic>
      <p:sp>
        <p:nvSpPr>
          <p:cNvPr id="39" name="TextBox 38"/>
          <p:cNvSpPr txBox="1"/>
          <p:nvPr/>
        </p:nvSpPr>
        <p:spPr>
          <a:xfrm>
            <a:off x="6210147" y="5404104"/>
            <a:ext cx="5432907"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示例图：程序文件与核对清单</a:t>
            </a:r>
            <a:endParaRPr sz="1200" b="0">
              <a:solidFill>
                <a:srgbClr val="6B7280"/>
              </a:solidFill>
              <a:latin typeface="Arial" charset="0"/>
              <a:ea typeface="微软雅黑"/>
              <a:cs typeface="Arial" charset="0"/>
            </a:endParaRPr>
          </a:p>
        </p:txBody>
      </p:sp>
      <p:pic>
        <p:nvPicPr>
          <p:cNvPr id="40" name="LOGO" descr="logo_940.png"/>
          <p:cNvPicPr>
            <a:picLocks noChangeAspect="1"/>
          </p:cNvPicPr>
          <p:nvPr/>
        </p:nvPicPr>
        <p:blipFill>
          <a:blip r:embed="rId5"/>
          <a:stretch>
            <a:fillRect/>
          </a:stretch>
        </p:blipFill>
        <p:spPr>
          <a:xfrm>
            <a:off x="548640" y="6249924"/>
            <a:ext cx="310896" cy="31089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386161"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6 </a:t>
            </a:r>
            <a:r>
              <a:rPr sz="2800" b="1">
                <a:solidFill>
                  <a:srgbClr val="1F3A5F"/>
                </a:solidFill>
                <a:latin typeface="Arial" charset="0"/>
                <a:ea typeface="微软雅黑"/>
                <a:cs typeface="Arial" charset="0"/>
              </a:rPr>
              <a:t>实验前准备</a:t>
            </a:r>
            <a:endParaRPr sz="2800" b="1">
              <a:solidFill>
                <a:srgbClr val="1F3A5F"/>
              </a:solidFill>
              <a:latin typeface="Arial" charset="0"/>
              <a:ea typeface="微软雅黑"/>
              <a:cs typeface="Arial" charset="0"/>
            </a:endParaRPr>
          </a:p>
        </p:txBody>
      </p:sp>
      <p:pic>
        <p:nvPicPr>
          <p:cNvPr id="4" name="NEWIMG_CORNER" descr="26_2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37</a:t>
            </a:r>
            <a:endParaRPr sz="1200" b="0">
              <a:solidFill>
                <a:srgbClr val="6B7280"/>
              </a:solidFill>
              <a:latin typeface="Arial" charset="0"/>
              <a:ea typeface="微软雅黑"/>
              <a:cs typeface="Arial" charset="0"/>
            </a:endParaRP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6；WS/T 407 6.3.1</a:t>
            </a:r>
            <a:endParaRPr sz="1200" b="1">
              <a:solidFill>
                <a:srgbClr val="1F3A5F"/>
              </a:solidFill>
              <a:latin typeface="Arial" charset="0"/>
              <a:ea typeface="微软雅黑"/>
              <a:cs typeface="Arial" charset="0"/>
            </a:endParaRPr>
          </a:p>
        </p:txBody>
      </p:sp>
      <p:grpSp>
        <p:nvGrpSpPr>
          <p:cNvPr id="8" name="CARD"/>
          <p:cNvGrpSpPr/>
          <p:nvPr/>
        </p:nvGrpSpPr>
        <p:grpSpPr>
          <a:xfrm>
            <a:off x="548640" y="1554480"/>
            <a:ext cx="3545738" cy="2141728"/>
            <a:chOff x="548640" y="1554480"/>
            <a:chExt cx="3545738" cy="2141728"/>
          </a:xfrm>
        </p:grpSpPr>
        <p:sp>
          <p:nvSpPr>
            <p:cNvPr id="9" name="CITE"/>
            <p:cNvSpPr txBox="1"/>
            <p:nvPr/>
          </p:nvSpPr>
          <p:spPr>
            <a:xfrm>
              <a:off x="2283968" y="3421888"/>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10" name="Rounded Rectangle 9"/>
            <p:cNvSpPr/>
            <p:nvPr/>
          </p:nvSpPr>
          <p:spPr>
            <a:xfrm>
              <a:off x="548640"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NEWIMG_ICON" descr="26_1-1.png"/>
            <p:cNvPicPr>
              <a:picLocks noChangeAspect="1"/>
            </p:cNvPicPr>
            <p:nvPr/>
          </p:nvPicPr>
          <p:blipFill>
            <a:blip r:embed="rId2"/>
            <a:stretch>
              <a:fillRect/>
            </a:stretch>
          </p:blipFill>
          <p:spPr>
            <a:xfrm>
              <a:off x="2092909" y="1691639"/>
              <a:ext cx="457200" cy="457200"/>
            </a:xfrm>
            <a:prstGeom prst="rect">
              <a:avLst/>
            </a:prstGeom>
          </p:spPr>
        </p:pic>
        <p:sp>
          <p:nvSpPr>
            <p:cNvPr id="12" name="TextBox 11"/>
            <p:cNvSpPr txBox="1"/>
            <p:nvPr/>
          </p:nvSpPr>
          <p:spPr>
            <a:xfrm>
              <a:off x="685800"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6.1 </a:t>
              </a:r>
              <a:r>
                <a:rPr sz="1400" b="1">
                  <a:solidFill>
                    <a:srgbClr val="1F3A5F"/>
                  </a:solidFill>
                  <a:latin typeface="Arial" charset="0"/>
                  <a:ea typeface="微软雅黑"/>
                  <a:cs typeface="Arial" charset="0"/>
                </a:rPr>
                <a:t>人员</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实验操作人员应熟悉检测系统的方法原理与日常操作，包括样本处理、校准、 维护程序、质量控制等，确保检测系统工作状态正常。</a:t>
              </a:r>
              <a:endParaRPr sz="1400" b="0">
                <a:solidFill>
                  <a:srgbClr val="222222"/>
                </a:solidFill>
                <a:latin typeface="Arial" charset="0"/>
                <a:ea typeface="微软雅黑"/>
                <a:cs typeface="Arial" charset="0"/>
              </a:endParaRPr>
            </a:p>
          </p:txBody>
        </p:sp>
      </p:grpSp>
      <p:grpSp>
        <p:nvGrpSpPr>
          <p:cNvPr id="13" name="CARD"/>
          <p:cNvGrpSpPr/>
          <p:nvPr/>
        </p:nvGrpSpPr>
        <p:grpSpPr>
          <a:xfrm>
            <a:off x="4322978" y="1554480"/>
            <a:ext cx="3545738" cy="2141728"/>
            <a:chOff x="4322978" y="1554480"/>
            <a:chExt cx="3545738" cy="2141728"/>
          </a:xfrm>
        </p:grpSpPr>
        <p:sp>
          <p:nvSpPr>
            <p:cNvPr id="14" name="CITE"/>
            <p:cNvSpPr txBox="1"/>
            <p:nvPr/>
          </p:nvSpPr>
          <p:spPr>
            <a:xfrm>
              <a:off x="6058307" y="3421888"/>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15" name="Rounded Rectangle 14"/>
            <p:cNvSpPr/>
            <p:nvPr/>
          </p:nvSpPr>
          <p:spPr>
            <a:xfrm>
              <a:off x="4322978"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NEWIMG_ICON" descr="26_1-2.png"/>
            <p:cNvPicPr>
              <a:picLocks noChangeAspect="1"/>
            </p:cNvPicPr>
            <p:nvPr/>
          </p:nvPicPr>
          <p:blipFill>
            <a:blip r:embed="rId3"/>
            <a:stretch>
              <a:fillRect/>
            </a:stretch>
          </p:blipFill>
          <p:spPr>
            <a:xfrm>
              <a:off x="5867247" y="1691639"/>
              <a:ext cx="457200" cy="457200"/>
            </a:xfrm>
            <a:prstGeom prst="rect">
              <a:avLst/>
            </a:prstGeom>
          </p:spPr>
        </p:pic>
        <p:sp>
          <p:nvSpPr>
            <p:cNvPr id="17" name="TextBox 16"/>
            <p:cNvSpPr txBox="1"/>
            <p:nvPr/>
          </p:nvSpPr>
          <p:spPr>
            <a:xfrm>
              <a:off x="4460138"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6.2 </a:t>
              </a:r>
              <a:r>
                <a:rPr sz="1400" b="1">
                  <a:solidFill>
                    <a:srgbClr val="1F3A5F"/>
                  </a:solidFill>
                  <a:latin typeface="Arial" charset="0"/>
                  <a:ea typeface="微软雅黑"/>
                  <a:cs typeface="Arial" charset="0"/>
                </a:rPr>
                <a:t>仪器设备</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所用检测系统的关键性能指标应经过验证满足性能要求，对测量结果有重要 影响的辅助设备的性能指标应与标称值相符。</a:t>
              </a:r>
              <a:endParaRPr sz="1400" b="0">
                <a:solidFill>
                  <a:srgbClr val="222222"/>
                </a:solidFill>
                <a:latin typeface="Arial" charset="0"/>
                <a:ea typeface="微软雅黑"/>
                <a:cs typeface="Arial" charset="0"/>
              </a:endParaRPr>
            </a:p>
          </p:txBody>
        </p:sp>
      </p:grpSp>
      <p:grpSp>
        <p:nvGrpSpPr>
          <p:cNvPr id="18" name="CARD"/>
          <p:cNvGrpSpPr/>
          <p:nvPr/>
        </p:nvGrpSpPr>
        <p:grpSpPr>
          <a:xfrm>
            <a:off x="8097316" y="1554480"/>
            <a:ext cx="3545738" cy="2141728"/>
            <a:chOff x="8097316" y="1554480"/>
            <a:chExt cx="3545738" cy="2141728"/>
          </a:xfrm>
        </p:grpSpPr>
        <p:sp>
          <p:nvSpPr>
            <p:cNvPr id="19" name="CITE"/>
            <p:cNvSpPr txBox="1"/>
            <p:nvPr/>
          </p:nvSpPr>
          <p:spPr>
            <a:xfrm>
              <a:off x="9832645" y="3421888"/>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20" name="Rounded Rectangle 19"/>
            <p:cNvSpPr/>
            <p:nvPr/>
          </p:nvSpPr>
          <p:spPr>
            <a:xfrm>
              <a:off x="8097316"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NEWIMG_ICON" descr="26_1-3.png"/>
            <p:cNvPicPr>
              <a:picLocks noChangeAspect="1"/>
            </p:cNvPicPr>
            <p:nvPr/>
          </p:nvPicPr>
          <p:blipFill>
            <a:blip r:embed="rId4"/>
            <a:stretch>
              <a:fillRect/>
            </a:stretch>
          </p:blipFill>
          <p:spPr>
            <a:xfrm>
              <a:off x="9641585" y="1691639"/>
              <a:ext cx="457200" cy="457200"/>
            </a:xfrm>
            <a:prstGeom prst="rect">
              <a:avLst/>
            </a:prstGeom>
          </p:spPr>
        </p:pic>
        <p:sp>
          <p:nvSpPr>
            <p:cNvPr id="22" name="TextBox 21"/>
            <p:cNvSpPr txBox="1"/>
            <p:nvPr/>
          </p:nvSpPr>
          <p:spPr>
            <a:xfrm>
              <a:off x="8234476" y="2221991"/>
              <a:ext cx="3271418"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6.3 </a:t>
              </a:r>
              <a:r>
                <a:rPr sz="1400" b="1">
                  <a:solidFill>
                    <a:srgbClr val="1F3A5F"/>
                  </a:solidFill>
                  <a:latin typeface="Arial" charset="0"/>
                  <a:ea typeface="微软雅黑"/>
                  <a:cs typeface="Arial" charset="0"/>
                </a:rPr>
                <a:t>试剂和校准品</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验证过程中，试剂或校准品不宜更换批号。</a:t>
              </a:r>
              <a:endParaRPr sz="1400" b="0">
                <a:solidFill>
                  <a:srgbClr val="222222"/>
                </a:solidFill>
                <a:latin typeface="Arial" charset="0"/>
                <a:ea typeface="微软雅黑"/>
                <a:cs typeface="Arial" charset="0"/>
              </a:endParaRPr>
            </a:p>
          </p:txBody>
        </p:sp>
      </p:grpSp>
      <p:grpSp>
        <p:nvGrpSpPr>
          <p:cNvPr id="23" name="QBOX"/>
          <p:cNvGrpSpPr/>
          <p:nvPr/>
        </p:nvGrpSpPr>
        <p:grpSpPr>
          <a:xfrm>
            <a:off x="548640" y="3924808"/>
            <a:ext cx="8263661" cy="1818640"/>
            <a:chOff x="548640" y="3924808"/>
            <a:chExt cx="8263661" cy="1818640"/>
          </a:xfrm>
        </p:grpSpPr>
        <p:sp>
          <p:nvSpPr>
            <p:cNvPr id="24" name="Rounded Rectangle 23"/>
            <p:cNvSpPr/>
            <p:nvPr/>
          </p:nvSpPr>
          <p:spPr>
            <a:xfrm>
              <a:off x="548640" y="3924808"/>
              <a:ext cx="8263661"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970528"/>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pic>
          <p:nvPicPr>
            <p:cNvPr id="26" name="NEWIMG_ICON" descr="26_1-4.png"/>
            <p:cNvPicPr>
              <a:picLocks noChangeAspect="1"/>
            </p:cNvPicPr>
            <p:nvPr/>
          </p:nvPicPr>
          <p:blipFill>
            <a:blip r:embed="rId5"/>
            <a:stretch>
              <a:fillRect/>
            </a:stretch>
          </p:blipFill>
          <p:spPr>
            <a:xfrm>
              <a:off x="8400821" y="4025392"/>
              <a:ext cx="274320" cy="274320"/>
            </a:xfrm>
            <a:prstGeom prst="rect">
              <a:avLst/>
            </a:prstGeom>
          </p:spPr>
        </p:pic>
        <p:sp>
          <p:nvSpPr>
            <p:cNvPr id="27" name="TextBox 26"/>
            <p:cNvSpPr txBox="1"/>
            <p:nvPr/>
          </p:nvSpPr>
          <p:spPr>
            <a:xfrm>
              <a:off x="960120" y="4061968"/>
              <a:ext cx="7715021"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6.4 </a:t>
              </a:r>
              <a:r>
                <a:rPr sz="1400" b="1">
                  <a:solidFill>
                    <a:srgbClr val="1F3A5F"/>
                  </a:solidFill>
                  <a:latin typeface="Arial" charset="0"/>
                  <a:ea typeface="微软雅黑"/>
                  <a:cs typeface="Arial" charset="0"/>
                </a:rPr>
                <a:t>样本 （比对物质）</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应使用患者样本</a:t>
              </a:r>
              <a:r>
                <a:rPr sz="1400" b="0">
                  <a:solidFill>
                    <a:srgbClr val="222222"/>
                  </a:solidFill>
                  <a:latin typeface="Arial" charset="0"/>
                  <a:ea typeface="微软雅黑"/>
                  <a:cs typeface="Arial" charset="0"/>
                </a:rPr>
                <a:t>（若为抗凝样本，应使用相同的抗凝剂）；样本中被测物浓度、活性等应能覆盖临床适宜区间，重点关注医学决定水平。 比对的样本数量应不少于 </a:t>
              </a:r>
              <a:r>
                <a:rPr sz="1400" b="0">
                  <a:solidFill>
                    <a:srgbClr val="222222"/>
                  </a:solidFill>
                  <a:latin typeface="Arial" charset="0"/>
                  <a:ea typeface="微软雅黑"/>
                  <a:cs typeface="Arial" charset="0"/>
                </a:rPr>
                <a:t>5 </a:t>
              </a:r>
              <a:r>
                <a:rPr sz="1400" b="0">
                  <a:solidFill>
                    <a:srgbClr val="222222"/>
                  </a:solidFill>
                  <a:latin typeface="Arial" charset="0"/>
                  <a:ea typeface="微软雅黑"/>
                  <a:cs typeface="Arial" charset="0"/>
                </a:rPr>
                <a:t>例。使用更多的样本数量，可以增加验证结果的可靠性。 </a:t>
              </a:r>
              <a:r>
                <a:rPr sz="1400" b="0">
                  <a:solidFill>
                    <a:srgbClr val="222222"/>
                  </a:solidFill>
                  <a:latin typeface="Arial" charset="0"/>
                  <a:ea typeface="微软雅黑"/>
                  <a:cs typeface="Arial" charset="0"/>
                </a:rPr>
                <a:t>宜使用临床标本作为首选比对物质；不得不使用其他物质（如室间质评物或其他参考物质）时，应验证比对物质的互通性。（WS/T 407 6.3.1）</a:t>
              </a:r>
              <a:endParaRPr sz="1400" b="0">
                <a:solidFill>
                  <a:srgbClr val="222222"/>
                </a:solidFill>
                <a:latin typeface="Arial" charset="0"/>
                <a:ea typeface="微软雅黑"/>
                <a:cs typeface="Arial" charset="0"/>
              </a:endParaRPr>
            </a:p>
          </p:txBody>
        </p:sp>
        <p:sp>
          <p:nvSpPr>
            <p:cNvPr id="28" name="CITE"/>
            <p:cNvSpPr txBox="1"/>
            <p:nvPr/>
          </p:nvSpPr>
          <p:spPr>
            <a:xfrm>
              <a:off x="6775720" y="5389880"/>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6.4</a:t>
              </a:r>
              <a:endParaRPr sz="1200" b="0">
                <a:solidFill>
                  <a:srgbClr val="1F3A5F"/>
                </a:solidFill>
                <a:latin typeface="Arial" charset="0"/>
                <a:ea typeface="微软雅黑"/>
                <a:cs typeface="Arial" charset="0"/>
              </a:endParaRPr>
            </a:p>
          </p:txBody>
        </p:sp>
      </p:grpSp>
      <p:grpSp>
        <p:nvGrpSpPr>
          <p:cNvPr id="29" name="CARD"/>
          <p:cNvGrpSpPr/>
          <p:nvPr/>
        </p:nvGrpSpPr>
        <p:grpSpPr>
          <a:xfrm>
            <a:off x="9040901" y="3924808"/>
            <a:ext cx="2602153" cy="1669288"/>
            <a:chOff x="9040901" y="3924808"/>
            <a:chExt cx="2602153" cy="1669288"/>
          </a:xfrm>
        </p:grpSpPr>
        <p:sp>
          <p:nvSpPr>
            <p:cNvPr id="30" name="CITE"/>
            <p:cNvSpPr txBox="1"/>
            <p:nvPr/>
          </p:nvSpPr>
          <p:spPr>
            <a:xfrm>
              <a:off x="9832645" y="5319776"/>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31" name="Rounded Rectangle 30"/>
            <p:cNvSpPr/>
            <p:nvPr/>
          </p:nvSpPr>
          <p:spPr>
            <a:xfrm>
              <a:off x="9040901" y="3924808"/>
              <a:ext cx="2602153" cy="1669288"/>
            </a:xfrm>
            <a:prstGeom prst="roundRect">
              <a:avLst>
                <a:gd name="adj" fmla="val 438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NEWIMG_ICON" descr="26_1-5.png"/>
            <p:cNvPicPr>
              <a:picLocks noChangeAspect="1"/>
            </p:cNvPicPr>
            <p:nvPr/>
          </p:nvPicPr>
          <p:blipFill>
            <a:blip r:embed="rId6"/>
            <a:stretch>
              <a:fillRect/>
            </a:stretch>
          </p:blipFill>
          <p:spPr>
            <a:xfrm>
              <a:off x="10136238" y="4061968"/>
              <a:ext cx="411480" cy="411480"/>
            </a:xfrm>
            <a:prstGeom prst="rect">
              <a:avLst/>
            </a:prstGeom>
          </p:spPr>
        </p:pic>
        <p:sp>
          <p:nvSpPr>
            <p:cNvPr id="33" name="TextBox 32"/>
            <p:cNvSpPr txBox="1"/>
            <p:nvPr/>
          </p:nvSpPr>
          <p:spPr>
            <a:xfrm>
              <a:off x="9178061" y="4546600"/>
              <a:ext cx="2327833"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6.5 </a:t>
              </a:r>
              <a:r>
                <a:rPr sz="1400" b="1">
                  <a:solidFill>
                    <a:srgbClr val="1F3A5F"/>
                  </a:solidFill>
                  <a:latin typeface="Arial" charset="0"/>
                  <a:ea typeface="微软雅黑"/>
                  <a:cs typeface="Arial" charset="0"/>
                </a:rPr>
                <a:t>质控品</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验证过程中应使用适宜的质控品做好室内质量控制。</a:t>
              </a:r>
              <a:endParaRPr sz="1400" b="0">
                <a:solidFill>
                  <a:srgbClr val="222222"/>
                </a:solidFill>
                <a:latin typeface="Arial" charset="0"/>
                <a:ea typeface="微软雅黑"/>
                <a:cs typeface="Arial" charset="0"/>
              </a:endParaRPr>
            </a:p>
          </p:txBody>
        </p:sp>
      </p:grpSp>
      <p:grpSp>
        <p:nvGrpSpPr>
          <p:cNvPr id="34" name="CMP"/>
          <p:cNvGrpSpPr/>
          <p:nvPr/>
        </p:nvGrpSpPr>
        <p:grpSpPr>
          <a:xfrm>
            <a:off x="3163401" y="673354"/>
            <a:ext cx="2240294" cy="518667"/>
            <a:chOff x="3163401" y="673354"/>
            <a:chExt cx="2240294" cy="518667"/>
          </a:xfrm>
        </p:grpSpPr>
        <p:sp>
          <p:nvSpPr>
            <p:cNvPr id="35" name="Rounded Rectangle 34"/>
            <p:cNvSpPr/>
            <p:nvPr/>
          </p:nvSpPr>
          <p:spPr>
            <a:xfrm>
              <a:off x="3163401" y="673354"/>
              <a:ext cx="2240294" cy="518667"/>
            </a:xfrm>
            <a:prstGeom prst="roundRect">
              <a:avLst>
                <a:gd name="adj" fmla="val 14103"/>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54841" y="728218"/>
              <a:ext cx="2057414" cy="408939"/>
            </a:xfrm>
            <a:prstGeom prst="rect">
              <a:avLst/>
            </a:prstGeom>
            <a:noFill/>
          </p:spPr>
          <p:txBody>
            <a:bodyPr wrap="square" lIns="0" tIns="0" rIns="0" bIns="0" anchor="ctr">
              <a:noAutofit/>
            </a:bodyPr>
            <a:lstStyle/>
            <a:p>
              <a:pPr algn="l">
                <a:lnSpc>
                  <a:spcPts val="1610"/>
                </a:lnSpc>
                <a:spcBef>
                  <a:spcPts val="0"/>
                </a:spcBef>
                <a:spcAft>
                  <a:spcPts val="0"/>
                </a:spcAft>
                <a:buNone/>
              </a:pPr>
              <a:r>
                <a:rPr sz="1400" b="1">
                  <a:solidFill>
                    <a:srgbClr val="1F3A5F"/>
                  </a:solidFill>
                  <a:latin typeface="Arial" charset="0"/>
                  <a:ea typeface="微软雅黑"/>
                  <a:cs typeface="Arial" charset="0"/>
                </a:rPr>
                <a:t>GL047：应使用患者样本</a:t>
              </a:r>
              <a:endParaRPr sz="1400" b="1">
                <a:solidFill>
                  <a:srgbClr val="1F3A5F"/>
                </a:solidFill>
                <a:latin typeface="Arial" charset="0"/>
                <a:ea typeface="微软雅黑"/>
                <a:cs typeface="Arial" charset="0"/>
              </a:endParaRPr>
            </a:p>
          </p:txBody>
        </p:sp>
      </p:grpSp>
      <p:grpSp>
        <p:nvGrpSpPr>
          <p:cNvPr id="37" name="CMP"/>
          <p:cNvGrpSpPr/>
          <p:nvPr/>
        </p:nvGrpSpPr>
        <p:grpSpPr>
          <a:xfrm>
            <a:off x="5906616" y="673354"/>
            <a:ext cx="4044798" cy="518667"/>
            <a:chOff x="5906616" y="673354"/>
            <a:chExt cx="4044798" cy="518667"/>
          </a:xfrm>
        </p:grpSpPr>
        <p:sp>
          <p:nvSpPr>
            <p:cNvPr id="38" name="Rounded Rectangle 37"/>
            <p:cNvSpPr/>
            <p:nvPr/>
          </p:nvSpPr>
          <p:spPr>
            <a:xfrm>
              <a:off x="5906616" y="673354"/>
              <a:ext cx="4044798" cy="518667"/>
            </a:xfrm>
            <a:prstGeom prst="roundRect">
              <a:avLst>
                <a:gd name="adj" fmla="val 14103"/>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98056" y="728218"/>
              <a:ext cx="3861918" cy="408939"/>
            </a:xfrm>
            <a:prstGeom prst="rect">
              <a:avLst/>
            </a:prstGeom>
            <a:noFill/>
          </p:spPr>
          <p:txBody>
            <a:bodyPr wrap="square" lIns="0" tIns="0" rIns="0" bIns="0" anchor="ctr">
              <a:noAutofit/>
            </a:bodyPr>
            <a:lstStyle/>
            <a:p>
              <a:pPr algn="l">
                <a:lnSpc>
                  <a:spcPts val="1610"/>
                </a:lnSpc>
                <a:spcBef>
                  <a:spcPts val="0"/>
                </a:spcBef>
                <a:spcAft>
                  <a:spcPts val="0"/>
                </a:spcAft>
                <a:buNone/>
              </a:pPr>
              <a:r>
                <a:rPr sz="1400" b="1">
                  <a:solidFill>
                    <a:srgbClr val="148F8A"/>
                  </a:solidFill>
                  <a:latin typeface="Arial" charset="0"/>
                  <a:ea typeface="微软雅黑"/>
                  <a:cs typeface="Arial" charset="0"/>
                </a:rPr>
                <a:t>WS/T 407：宜首选临床标本；不得不用其他物质时验证互通性</a:t>
              </a:r>
              <a:endParaRPr sz="1400" b="1">
                <a:solidFill>
                  <a:srgbClr val="148F8A"/>
                </a:solidFill>
                <a:latin typeface="Arial" charset="0"/>
                <a:ea typeface="微软雅黑"/>
                <a:cs typeface="Arial" charset="0"/>
              </a:endParaRPr>
            </a:p>
          </p:txBody>
        </p:sp>
      </p:grpSp>
      <p:sp>
        <p:nvSpPr>
          <p:cNvPr id="40" name="BADGE"/>
          <p:cNvSpPr/>
          <p:nvPr/>
        </p:nvSpPr>
        <p:spPr>
          <a:xfrm>
            <a:off x="5444844" y="7955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pic>
        <p:nvPicPr>
          <p:cNvPr id="41" name="LOGO" descr="logo_940.png"/>
          <p:cNvPicPr>
            <a:picLocks noChangeAspect="1"/>
          </p:cNvPicPr>
          <p:nvPr/>
        </p:nvPicPr>
        <p:blipFill>
          <a:blip r:embed="rId8"/>
          <a:stretch>
            <a:fillRect/>
          </a:stretch>
        </p:blipFill>
        <p:spPr>
          <a:xfrm>
            <a:off x="548640" y="6249924"/>
            <a:ext cx="310896" cy="31089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 </a:t>
            </a:r>
            <a:r>
              <a:rPr sz="2800" b="1">
                <a:solidFill>
                  <a:srgbClr val="1F3A5F"/>
                </a:solidFill>
                <a:latin typeface="Arial" charset="0"/>
                <a:ea typeface="微软雅黑"/>
                <a:cs typeface="Arial" charset="0"/>
              </a:rPr>
              <a:t>验证过程</a:t>
            </a:r>
            <a:endParaRPr sz="2800" b="1">
              <a:solidFill>
                <a:srgbClr val="1F3A5F"/>
              </a:solidFill>
              <a:latin typeface="Arial" charset="0"/>
              <a:ea typeface="微软雅黑"/>
              <a:cs typeface="Arial" charset="0"/>
            </a:endParaRPr>
          </a:p>
        </p:txBody>
      </p:sp>
      <p:pic>
        <p:nvPicPr>
          <p:cNvPr id="4" name="NEWIMG_CORNER" descr="27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38</a:t>
            </a:r>
            <a:endParaRPr sz="1200" b="0">
              <a:solidFill>
                <a:srgbClr val="6B7280"/>
              </a:solidFill>
              <a:latin typeface="Arial" charset="0"/>
              <a:ea typeface="微软雅黑"/>
              <a:cs typeface="Arial" charset="0"/>
            </a:endParaRPr>
          </a:p>
        </p:txBody>
      </p:sp>
      <p:sp>
        <p:nvSpPr>
          <p:cNvPr id="7"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7.1</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11094415" cy="751840"/>
            <a:chOff x="548640" y="1554480"/>
            <a:chExt cx="11094415" cy="751840"/>
          </a:xfrm>
        </p:grpSpPr>
        <p:sp>
          <p:nvSpPr>
            <p:cNvPr id="9" name="Rounded Rectangle 8"/>
            <p:cNvSpPr/>
            <p:nvPr/>
          </p:nvSpPr>
          <p:spPr>
            <a:xfrm>
              <a:off x="548640" y="1554480"/>
              <a:ext cx="11094415" cy="751840"/>
            </a:xfrm>
            <a:prstGeom prst="roundRect">
              <a:avLst>
                <a:gd name="adj" fmla="val 972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10545775" cy="48666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7.1 </a:t>
              </a:r>
              <a:r>
                <a:rPr sz="1400" b="1">
                  <a:solidFill>
                    <a:srgbClr val="1F3A5F"/>
                  </a:solidFill>
                  <a:latin typeface="Arial" charset="0"/>
                  <a:ea typeface="微软雅黑"/>
                  <a:cs typeface="Arial" charset="0"/>
                </a:rPr>
                <a:t>验证方法和条件</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实验室可根据实际使用情况，选择使用与</a:t>
              </a:r>
              <a:r>
                <a:rPr sz="1400" b="0">
                  <a:solidFill>
                    <a:srgbClr val="C0392B"/>
                  </a:solidFill>
                  <a:latin typeface="Arial" charset="0"/>
                  <a:ea typeface="微软雅黑"/>
                  <a:cs typeface="Arial" charset="0"/>
                </a:rPr>
                <a:t>参比系统比对</a:t>
              </a:r>
              <a:r>
                <a:rPr sz="1400" b="0">
                  <a:solidFill>
                    <a:srgbClr val="222222"/>
                  </a:solidFill>
                  <a:latin typeface="Arial" charset="0"/>
                  <a:ea typeface="微软雅黑"/>
                  <a:cs typeface="Arial" charset="0"/>
                </a:rPr>
                <a:t>的方法或</a:t>
              </a:r>
              <a:r>
                <a:rPr sz="1400" b="0">
                  <a:solidFill>
                    <a:srgbClr val="C0392B"/>
                  </a:solidFill>
                  <a:latin typeface="Arial" charset="0"/>
                  <a:ea typeface="微软雅黑"/>
                  <a:cs typeface="Arial" charset="0"/>
                </a:rPr>
                <a:t>均值法</a:t>
              </a:r>
              <a:r>
                <a:rPr sz="1400" b="0">
                  <a:solidFill>
                    <a:srgbClr val="222222"/>
                  </a:solidFill>
                  <a:latin typeface="Arial" charset="0"/>
                  <a:ea typeface="微软雅黑"/>
                  <a:cs typeface="Arial" charset="0"/>
                </a:rPr>
                <a:t>进行可比性验证。</a:t>
              </a:r>
              <a:endParaRPr sz="1400" b="0">
                <a:solidFill>
                  <a:srgbClr val="222222"/>
                </a:solidFill>
                <a:latin typeface="Arial" charset="0"/>
                <a:ea typeface="微软雅黑"/>
                <a:cs typeface="Arial" charset="0"/>
              </a:endParaRPr>
            </a:p>
          </p:txBody>
        </p:sp>
        <p:sp>
          <p:nvSpPr>
            <p:cNvPr id="12" name="CITE"/>
            <p:cNvSpPr txBox="1"/>
            <p:nvPr/>
          </p:nvSpPr>
          <p:spPr>
            <a:xfrm>
              <a:off x="9606474" y="1952752"/>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7.1</a:t>
              </a:r>
              <a:endParaRPr sz="1200" b="0">
                <a:solidFill>
                  <a:srgbClr val="1F3A5F"/>
                </a:solidFill>
                <a:latin typeface="Arial" charset="0"/>
                <a:ea typeface="微软雅黑"/>
                <a:cs typeface="Arial" charset="0"/>
              </a:endParaRPr>
            </a:p>
          </p:txBody>
        </p:sp>
      </p:grpSp>
      <p:grpSp>
        <p:nvGrpSpPr>
          <p:cNvPr id="13" name="QBOX"/>
          <p:cNvGrpSpPr/>
          <p:nvPr/>
        </p:nvGrpSpPr>
        <p:grpSpPr>
          <a:xfrm>
            <a:off x="548640" y="2534920"/>
            <a:ext cx="5318607" cy="2464816"/>
            <a:chOff x="548640" y="2534920"/>
            <a:chExt cx="5318607" cy="2464816"/>
          </a:xfrm>
        </p:grpSpPr>
        <p:sp>
          <p:nvSpPr>
            <p:cNvPr id="14" name="Rounded Rectangle 13"/>
            <p:cNvSpPr/>
            <p:nvPr/>
          </p:nvSpPr>
          <p:spPr>
            <a:xfrm>
              <a:off x="548640"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6" name="TextBox 15"/>
            <p:cNvSpPr txBox="1"/>
            <p:nvPr/>
          </p:nvSpPr>
          <p:spPr>
            <a:xfrm>
              <a:off x="960120"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参比系统比对法（检测系统≤4）</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实验室使用的检测系统数量≤</a:t>
              </a:r>
              <a:r>
                <a:rPr sz="1400" b="0">
                  <a:solidFill>
                    <a:srgbClr val="222222"/>
                  </a:solidFill>
                  <a:latin typeface="Arial" charset="0"/>
                  <a:ea typeface="微软雅黑"/>
                  <a:cs typeface="Arial" charset="0"/>
                </a:rPr>
                <a:t>4 </a:t>
              </a:r>
              <a:r>
                <a:rPr sz="1400" b="0">
                  <a:solidFill>
                    <a:srgbClr val="222222"/>
                  </a:solidFill>
                  <a:latin typeface="Arial" charset="0"/>
                  <a:ea typeface="微软雅黑"/>
                  <a:cs typeface="Arial" charset="0"/>
                </a:rPr>
                <a:t>时，可以选用与参比系统比对的方法。实验室应根据检测系统分析性能的确认或验证结果、室内质控</a:t>
              </a:r>
              <a:r>
                <a:rPr sz="1400" b="0">
                  <a:solidFill>
                    <a:srgbClr val="222222"/>
                  </a:solidFill>
                  <a:latin typeface="Arial" charset="0"/>
                  <a:ea typeface="微软雅黑"/>
                  <a:cs typeface="Arial" charset="0"/>
                </a:rPr>
                <a:t>(IQC)</a:t>
              </a:r>
              <a:r>
                <a:rPr sz="1400" b="0">
                  <a:solidFill>
                    <a:srgbClr val="222222"/>
                  </a:solidFill>
                  <a:latin typeface="Arial" charset="0"/>
                  <a:ea typeface="微软雅黑"/>
                  <a:cs typeface="Arial" charset="0"/>
                </a:rPr>
                <a:t>和室间质评的表现、不确定度评估等情况，综合评估后，确定实验室内的参比系统。实验室使用的其它检测系统检测结果与参比系统的测量结果进行比对，</a:t>
              </a:r>
              <a:r>
                <a:rPr sz="1400" b="0">
                  <a:solidFill>
                    <a:srgbClr val="222222"/>
                  </a:solidFill>
                  <a:latin typeface="Arial" charset="0"/>
                  <a:ea typeface="微软雅黑"/>
                  <a:cs typeface="Arial" charset="0"/>
                </a:rPr>
                <a:t>计算每个检测系统结果与参比系统检测结果的偏差</a:t>
              </a:r>
              <a:r>
                <a:rPr sz="1400" b="0">
                  <a:solidFill>
                    <a:srgbClr val="222222"/>
                  </a:solidFill>
                  <a:latin typeface="Arial" charset="0"/>
                  <a:ea typeface="微软雅黑"/>
                  <a:cs typeface="Arial" charset="0"/>
                </a:rPr>
                <a:t>，并依此评价可比性验证结果。</a:t>
              </a:r>
              <a:endParaRPr sz="1400" b="0">
                <a:solidFill>
                  <a:srgbClr val="222222"/>
                </a:solidFill>
                <a:latin typeface="Arial" charset="0"/>
                <a:ea typeface="微软雅黑"/>
                <a:cs typeface="Arial" charset="0"/>
              </a:endParaRPr>
            </a:p>
          </p:txBody>
        </p:sp>
        <p:sp>
          <p:nvSpPr>
            <p:cNvPr id="17" name="CITE"/>
            <p:cNvSpPr txBox="1"/>
            <p:nvPr/>
          </p:nvSpPr>
          <p:spPr>
            <a:xfrm>
              <a:off x="3830666" y="4661407"/>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7.1</a:t>
              </a:r>
              <a:endParaRPr sz="1200" b="0">
                <a:solidFill>
                  <a:srgbClr val="1F3A5F"/>
                </a:solidFill>
                <a:latin typeface="Arial" charset="0"/>
                <a:ea typeface="微软雅黑"/>
                <a:cs typeface="Arial" charset="0"/>
              </a:endParaRPr>
            </a:p>
          </p:txBody>
        </p:sp>
      </p:grpSp>
      <p:grpSp>
        <p:nvGrpSpPr>
          <p:cNvPr id="18" name="QBOX"/>
          <p:cNvGrpSpPr/>
          <p:nvPr/>
        </p:nvGrpSpPr>
        <p:grpSpPr>
          <a:xfrm>
            <a:off x="6324447" y="2534920"/>
            <a:ext cx="5318607" cy="2464816"/>
            <a:chOff x="6324447" y="2534920"/>
            <a:chExt cx="5318607" cy="2464816"/>
          </a:xfrm>
        </p:grpSpPr>
        <p:sp>
          <p:nvSpPr>
            <p:cNvPr id="19" name="Rounded Rectangle 18"/>
            <p:cNvSpPr/>
            <p:nvPr/>
          </p:nvSpPr>
          <p:spPr>
            <a:xfrm>
              <a:off x="6324447"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1" name="TextBox 20"/>
            <p:cNvSpPr txBox="1"/>
            <p:nvPr/>
          </p:nvSpPr>
          <p:spPr>
            <a:xfrm>
              <a:off x="6735927"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均值法（&gt;4）</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实验室使用检测系统数量</a:t>
              </a:r>
              <a:r>
                <a:rPr sz="1400" b="0">
                  <a:solidFill>
                    <a:srgbClr val="222222"/>
                  </a:solidFill>
                  <a:latin typeface="Arial" charset="0"/>
                  <a:ea typeface="微软雅黑"/>
                  <a:cs typeface="Arial" charset="0"/>
                </a:rPr>
                <a:t>&gt;4 </a:t>
              </a:r>
              <a:r>
                <a:rPr sz="1400" b="0">
                  <a:solidFill>
                    <a:srgbClr val="222222"/>
                  </a:solidFill>
                  <a:latin typeface="Arial" charset="0"/>
                  <a:ea typeface="微软雅黑"/>
                  <a:cs typeface="Arial" charset="0"/>
                </a:rPr>
                <a:t>时，可以选用均值法。以全部系统结果的均值为参考值，计算全部检测系统结果的极差，并依此评价可比性验证结果。</a:t>
              </a:r>
              <a:endParaRPr sz="1400" b="0">
                <a:solidFill>
                  <a:srgbClr val="222222"/>
                </a:solidFill>
                <a:latin typeface="Arial" charset="0"/>
                <a:ea typeface="微软雅黑"/>
                <a:cs typeface="Arial" charset="0"/>
              </a:endParaRPr>
            </a:p>
          </p:txBody>
        </p:sp>
        <p:sp>
          <p:nvSpPr>
            <p:cNvPr id="22" name="CITE"/>
            <p:cNvSpPr txBox="1"/>
            <p:nvPr/>
          </p:nvSpPr>
          <p:spPr>
            <a:xfrm>
              <a:off x="9606474" y="4661407"/>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7.1</a:t>
              </a:r>
              <a:endParaRPr sz="1200" b="0">
                <a:solidFill>
                  <a:srgbClr val="1F3A5F"/>
                </a:solidFill>
                <a:latin typeface="Arial" charset="0"/>
                <a:ea typeface="微软雅黑"/>
                <a:cs typeface="Arial" charset="0"/>
              </a:endParaRPr>
            </a:p>
          </p:txBody>
        </p:sp>
      </p:grpSp>
      <p:sp>
        <p:nvSpPr>
          <p:cNvPr id="23" name="BADGE"/>
          <p:cNvSpPr/>
          <p:nvPr/>
        </p:nvSpPr>
        <p:spPr>
          <a:xfrm>
            <a:off x="5885535" y="363016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grpSp>
        <p:nvGrpSpPr>
          <p:cNvPr id="24" name="FLOW"/>
          <p:cNvGrpSpPr/>
          <p:nvPr/>
        </p:nvGrpSpPr>
        <p:grpSpPr>
          <a:xfrm>
            <a:off x="548640" y="5447792"/>
            <a:ext cx="1920240" cy="365760"/>
            <a:chOff x="548640" y="5447792"/>
            <a:chExt cx="1920240" cy="365760"/>
          </a:xfrm>
        </p:grpSpPr>
        <p:sp>
          <p:nvSpPr>
            <p:cNvPr id="25" name="Rounded Rectangle 24"/>
            <p:cNvSpPr/>
            <p:nvPr/>
          </p:nvSpPr>
          <p:spPr>
            <a:xfrm>
              <a:off x="548640" y="5447792"/>
              <a:ext cx="192024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14848"/>
              <a:ext cx="17373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检测系统数量？</a:t>
              </a:r>
              <a:endParaRPr sz="1400" b="1">
                <a:solidFill>
                  <a:srgbClr val="222222"/>
                </a:solidFill>
                <a:latin typeface="Arial" charset="0"/>
                <a:ea typeface="微软雅黑"/>
                <a:cs typeface="Arial" charset="0"/>
              </a:endParaRPr>
            </a:p>
          </p:txBody>
        </p:sp>
      </p:grpSp>
      <p:grpSp>
        <p:nvGrpSpPr>
          <p:cNvPr id="27" name="FLOW"/>
          <p:cNvGrpSpPr/>
          <p:nvPr/>
        </p:nvGrpSpPr>
        <p:grpSpPr>
          <a:xfrm>
            <a:off x="2926080" y="5228336"/>
            <a:ext cx="3017520" cy="365760"/>
            <a:chOff x="2926080" y="5228336"/>
            <a:chExt cx="3017520" cy="365760"/>
          </a:xfrm>
        </p:grpSpPr>
        <p:sp>
          <p:nvSpPr>
            <p:cNvPr id="28" name="Rounded Rectangle 27"/>
            <p:cNvSpPr/>
            <p:nvPr/>
          </p:nvSpPr>
          <p:spPr>
            <a:xfrm>
              <a:off x="2926080" y="5228336"/>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5295392"/>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≤4 → 参比系统比对法（7.2.1）</a:t>
              </a:r>
              <a:endParaRPr sz="1400" b="0">
                <a:solidFill>
                  <a:srgbClr val="222222"/>
                </a:solidFill>
                <a:latin typeface="Arial" charset="0"/>
                <a:ea typeface="微软雅黑"/>
                <a:cs typeface="Arial" charset="0"/>
              </a:endParaRPr>
            </a:p>
          </p:txBody>
        </p:sp>
      </p:grpSp>
      <p:grpSp>
        <p:nvGrpSpPr>
          <p:cNvPr id="30" name="FLOW"/>
          <p:cNvGrpSpPr/>
          <p:nvPr/>
        </p:nvGrpSpPr>
        <p:grpSpPr>
          <a:xfrm>
            <a:off x="2926080" y="5667248"/>
            <a:ext cx="3017520" cy="365760"/>
            <a:chOff x="2926080" y="5667248"/>
            <a:chExt cx="3017520" cy="365760"/>
          </a:xfrm>
        </p:grpSpPr>
        <p:sp>
          <p:nvSpPr>
            <p:cNvPr id="31" name="Rounded Rectangle 30"/>
            <p:cNvSpPr/>
            <p:nvPr/>
          </p:nvSpPr>
          <p:spPr>
            <a:xfrm>
              <a:off x="2926080" y="5667248"/>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734304"/>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&gt;4 → 均值法（7.2.2）</a:t>
              </a:r>
              <a:endParaRPr sz="1400" b="0">
                <a:solidFill>
                  <a:srgbClr val="222222"/>
                </a:solidFill>
                <a:latin typeface="Arial" charset="0"/>
                <a:ea typeface="微软雅黑"/>
                <a:cs typeface="Arial" charset="0"/>
              </a:endParaRPr>
            </a:p>
          </p:txBody>
        </p:sp>
      </p:grpSp>
      <p:grpSp>
        <p:nvGrpSpPr>
          <p:cNvPr id="33" name="FLOW"/>
          <p:cNvGrpSpPr/>
          <p:nvPr/>
        </p:nvGrpSpPr>
        <p:grpSpPr>
          <a:xfrm>
            <a:off x="6309360" y="5447792"/>
            <a:ext cx="3291840" cy="365760"/>
            <a:chOff x="6309360" y="5447792"/>
            <a:chExt cx="3291840" cy="365760"/>
          </a:xfrm>
        </p:grpSpPr>
        <p:sp>
          <p:nvSpPr>
            <p:cNvPr id="34" name="Rounded Rectangle 33"/>
            <p:cNvSpPr/>
            <p:nvPr/>
          </p:nvSpPr>
          <p:spPr>
            <a:xfrm>
              <a:off x="6309360" y="5447792"/>
              <a:ext cx="3291840" cy="365760"/>
            </a:xfrm>
            <a:prstGeom prst="roundRect">
              <a:avLst>
                <a:gd name="adj" fmla="val 20000"/>
              </a:avLst>
            </a:prstGeom>
            <a:solidFill>
              <a:srgbClr val="FFFFFF"/>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514848"/>
              <a:ext cx="31089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按CV定次数 → WS/T 407（7.2.3）</a:t>
              </a:r>
              <a:endParaRPr sz="1400" b="0">
                <a:solidFill>
                  <a:srgbClr val="222222"/>
                </a:solidFill>
                <a:latin typeface="Arial" charset="0"/>
                <a:ea typeface="微软雅黑"/>
                <a:cs typeface="Arial" charset="0"/>
              </a:endParaRPr>
            </a:p>
          </p:txBody>
        </p:sp>
      </p:grpSp>
      <p:cxnSp>
        <p:nvCxnSpPr>
          <p:cNvPr id="36" name="ARROW"/>
          <p:cNvCxnSpPr/>
          <p:nvPr/>
        </p:nvCxnSpPr>
        <p:spPr>
          <a:xfrm flipV="1">
            <a:off x="2468880" y="5411216"/>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p:cNvCxnSpPr/>
          <p:nvPr/>
        </p:nvCxnSpPr>
        <p:spPr>
          <a:xfrm>
            <a:off x="2468880" y="5630672"/>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8"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838648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7.2 </a:t>
            </a:r>
            <a:r>
              <a:rPr sz="2800" b="1">
                <a:solidFill>
                  <a:srgbClr val="1F3A5F"/>
                </a:solidFill>
                <a:latin typeface="Arial" charset="0"/>
                <a:ea typeface="微软雅黑"/>
                <a:cs typeface="Arial" charset="0"/>
              </a:rPr>
              <a:t>试验方法及结果判断</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7.2.1 </a:t>
            </a:r>
            <a:r>
              <a:rPr sz="2800" b="1">
                <a:solidFill>
                  <a:srgbClr val="1F3A5F"/>
                </a:solidFill>
                <a:latin typeface="Arial" charset="0"/>
                <a:ea typeface="微软雅黑"/>
                <a:cs typeface="Arial" charset="0"/>
              </a:rPr>
              <a:t>参比系统比对方案</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39</a:t>
            </a:r>
            <a:endParaRPr sz="1200" b="0">
              <a:solidFill>
                <a:srgbClr val="6B7280"/>
              </a:solidFill>
              <a:latin typeface="Arial" charset="0"/>
              <a:ea typeface="微软雅黑"/>
              <a:cs typeface="Arial" charset="0"/>
            </a:endParaRPr>
          </a:p>
        </p:txBody>
      </p:sp>
      <p:sp>
        <p:nvSpPr>
          <p:cNvPr id="6"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7.2.1</a:t>
            </a:r>
            <a:endParaRPr sz="1200" b="1">
              <a:solidFill>
                <a:srgbClr val="1F3A5F"/>
              </a:solidFill>
              <a:latin typeface="Arial" charset="0"/>
              <a:ea typeface="微软雅黑"/>
              <a:cs typeface="Arial" charset="0"/>
            </a:endParaRPr>
          </a:p>
        </p:txBody>
      </p:sp>
      <p:grpSp>
        <p:nvGrpSpPr>
          <p:cNvPr id="7" name="FLOW"/>
          <p:cNvGrpSpPr/>
          <p:nvPr/>
        </p:nvGrpSpPr>
        <p:grpSpPr>
          <a:xfrm>
            <a:off x="548640" y="1554480"/>
            <a:ext cx="2499283" cy="2153920"/>
            <a:chOff x="548640" y="1554480"/>
            <a:chExt cx="2499283" cy="2153920"/>
          </a:xfrm>
        </p:grpSpPr>
        <p:sp>
          <p:nvSpPr>
            <p:cNvPr id="8" name="Rounded Rectangle 7"/>
            <p:cNvSpPr/>
            <p:nvPr/>
          </p:nvSpPr>
          <p:spPr>
            <a:xfrm>
              <a:off x="548640"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a)</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使用不同检测系统检测符合 </a:t>
              </a:r>
              <a:r>
                <a:rPr sz="1800" b="0">
                  <a:solidFill>
                    <a:srgbClr val="222222"/>
                  </a:solidFill>
                  <a:latin typeface="Arial" charset="0"/>
                  <a:ea typeface="微软雅黑"/>
                  <a:cs typeface="Arial" charset="0"/>
                </a:rPr>
                <a:t>6.4 </a:t>
              </a:r>
              <a:r>
                <a:rPr sz="1800" b="0">
                  <a:solidFill>
                    <a:srgbClr val="222222"/>
                  </a:solidFill>
                  <a:latin typeface="Arial" charset="0"/>
                  <a:ea typeface="微软雅黑"/>
                  <a:cs typeface="Arial" charset="0"/>
                </a:rPr>
                <a:t>要求的样本，按要求进行校准和室内质控，记录检测结果。</a:t>
              </a:r>
              <a:endParaRPr sz="1800" b="0">
                <a:solidFill>
                  <a:srgbClr val="222222"/>
                </a:solidFill>
                <a:latin typeface="Arial" charset="0"/>
                <a:ea typeface="微软雅黑"/>
                <a:cs typeface="Arial" charset="0"/>
              </a:endParaRPr>
            </a:p>
          </p:txBody>
        </p:sp>
      </p:grpSp>
      <p:cxnSp>
        <p:nvCxnSpPr>
          <p:cNvPr id="10" name="ARROW"/>
          <p:cNvCxnSpPr/>
          <p:nvPr/>
        </p:nvCxnSpPr>
        <p:spPr>
          <a:xfrm>
            <a:off x="3093643"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1" name="FLOW"/>
          <p:cNvGrpSpPr/>
          <p:nvPr/>
        </p:nvGrpSpPr>
        <p:grpSpPr>
          <a:xfrm>
            <a:off x="3413683" y="1554480"/>
            <a:ext cx="2499283" cy="2153920"/>
            <a:chOff x="3413683" y="1554480"/>
            <a:chExt cx="2499283" cy="2153920"/>
          </a:xfrm>
        </p:grpSpPr>
        <p:sp>
          <p:nvSpPr>
            <p:cNvPr id="12" name="Rounded Rectangle 11"/>
            <p:cNvSpPr/>
            <p:nvPr/>
          </p:nvSpPr>
          <p:spPr>
            <a:xfrm>
              <a:off x="3413683"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b)</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分别计算不同检测系统结果与参比系统结果的偏差，并与 </a:t>
              </a:r>
              <a:r>
                <a:rPr sz="1800" b="0">
                  <a:solidFill>
                    <a:srgbClr val="222222"/>
                  </a:solidFill>
                  <a:latin typeface="Arial" charset="0"/>
                  <a:ea typeface="微软雅黑"/>
                  <a:cs typeface="Arial" charset="0"/>
                </a:rPr>
                <a:t>4.3 </a:t>
              </a:r>
              <a:r>
                <a:rPr sz="1800" b="0">
                  <a:solidFill>
                    <a:srgbClr val="222222"/>
                  </a:solidFill>
                  <a:latin typeface="Arial" charset="0"/>
                  <a:ea typeface="微软雅黑"/>
                  <a:cs typeface="Arial" charset="0"/>
                </a:rPr>
                <a:t>实验室的判断标准进行比较。</a:t>
              </a:r>
              <a:endParaRPr sz="1800" b="0">
                <a:solidFill>
                  <a:srgbClr val="222222"/>
                </a:solidFill>
                <a:latin typeface="Arial" charset="0"/>
                <a:ea typeface="微软雅黑"/>
                <a:cs typeface="Arial" charset="0"/>
              </a:endParaRPr>
            </a:p>
          </p:txBody>
        </p:sp>
      </p:grpSp>
      <p:cxnSp>
        <p:nvCxnSpPr>
          <p:cNvPr id="14" name="ARROW"/>
          <p:cNvCxnSpPr/>
          <p:nvPr/>
        </p:nvCxnSpPr>
        <p:spPr>
          <a:xfrm>
            <a:off x="5958687"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5" name="FLOW"/>
          <p:cNvGrpSpPr/>
          <p:nvPr/>
        </p:nvGrpSpPr>
        <p:grpSpPr>
          <a:xfrm>
            <a:off x="6278727" y="1554480"/>
            <a:ext cx="2499283" cy="2153920"/>
            <a:chOff x="6278727" y="1554480"/>
            <a:chExt cx="2499283" cy="2153920"/>
          </a:xfrm>
        </p:grpSpPr>
        <p:sp>
          <p:nvSpPr>
            <p:cNvPr id="16" name="Rounded Rectangle 15"/>
            <p:cNvSpPr/>
            <p:nvPr/>
          </p:nvSpPr>
          <p:spPr>
            <a:xfrm>
              <a:off x="6278727"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0167"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c)</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5 </a:t>
              </a:r>
              <a:r>
                <a:rPr sz="1800" b="0">
                  <a:solidFill>
                    <a:srgbClr val="222222"/>
                  </a:solidFill>
                  <a:latin typeface="Arial" charset="0"/>
                  <a:ea typeface="微软雅黑"/>
                  <a:cs typeface="Arial" charset="0"/>
                </a:rPr>
                <a:t>份样本中有 </a:t>
              </a:r>
              <a:r>
                <a:rPr sz="1800" b="0">
                  <a:solidFill>
                    <a:srgbClr val="222222"/>
                  </a:solidFill>
                  <a:latin typeface="Arial" charset="0"/>
                  <a:ea typeface="微软雅黑"/>
                  <a:cs typeface="Arial" charset="0"/>
                </a:rPr>
                <a:t>4 </a:t>
              </a:r>
              <a:r>
                <a:rPr sz="1800" b="0">
                  <a:solidFill>
                    <a:srgbClr val="222222"/>
                  </a:solidFill>
                  <a:latin typeface="Arial" charset="0"/>
                  <a:ea typeface="微软雅黑"/>
                  <a:cs typeface="Arial" charset="0"/>
                </a:rPr>
                <a:t>份检验结果的偏差符合实验室制定的判断标准，即为可比性验证通过。</a:t>
              </a:r>
              <a:endParaRPr sz="1800" b="0">
                <a:solidFill>
                  <a:srgbClr val="222222"/>
                </a:solidFill>
                <a:latin typeface="Arial" charset="0"/>
                <a:ea typeface="微软雅黑"/>
                <a:cs typeface="Arial" charset="0"/>
              </a:endParaRPr>
            </a:p>
          </p:txBody>
        </p:sp>
      </p:grpSp>
      <p:cxnSp>
        <p:nvCxnSpPr>
          <p:cNvPr id="18" name="ARROW"/>
          <p:cNvCxnSpPr/>
          <p:nvPr/>
        </p:nvCxnSpPr>
        <p:spPr>
          <a:xfrm>
            <a:off x="8823731"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9143771" y="1554480"/>
            <a:ext cx="2499283" cy="2153920"/>
            <a:chOff x="9143771" y="1554480"/>
            <a:chExt cx="2499283" cy="2153920"/>
          </a:xfrm>
        </p:grpSpPr>
        <p:sp>
          <p:nvSpPr>
            <p:cNvPr id="20" name="Rounded Rectangle 19"/>
            <p:cNvSpPr/>
            <p:nvPr/>
          </p:nvSpPr>
          <p:spPr>
            <a:xfrm>
              <a:off x="9143771"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211" y="1636776"/>
              <a:ext cx="2316403" cy="19893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d)</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必要时，可适当增加检测样本量，如果 </a:t>
              </a:r>
              <a:r>
                <a:rPr sz="1800" b="0">
                  <a:solidFill>
                    <a:srgbClr val="222222"/>
                  </a:solidFill>
                  <a:latin typeface="Arial" charset="0"/>
                  <a:ea typeface="微软雅黑"/>
                  <a:cs typeface="Arial" charset="0"/>
                </a:rPr>
                <a:t>90%</a:t>
              </a:r>
              <a:r>
                <a:rPr sz="1800" b="0">
                  <a:solidFill>
                    <a:srgbClr val="222222"/>
                  </a:solidFill>
                  <a:latin typeface="Arial" charset="0"/>
                  <a:ea typeface="微软雅黑"/>
                  <a:cs typeface="Arial" charset="0"/>
                </a:rPr>
                <a:t>以上的样本检测结果偏差符合实验室制定的判断标准，即为可比性验证通过。</a:t>
              </a:r>
              <a:endParaRPr sz="1800" b="0">
                <a:solidFill>
                  <a:srgbClr val="222222"/>
                </a:solidFill>
                <a:latin typeface="Arial" charset="0"/>
                <a:ea typeface="微软雅黑"/>
                <a:cs typeface="Arial" charset="0"/>
              </a:endParaRPr>
            </a:p>
          </p:txBody>
        </p:sp>
      </p:grpSp>
      <p:sp>
        <p:nvSpPr>
          <p:cNvPr id="22" name="DOT"/>
          <p:cNvSpPr/>
          <p:nvPr/>
        </p:nvSpPr>
        <p:spPr>
          <a:xfrm>
            <a:off x="6397599"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T"/>
          <p:cNvSpPr/>
          <p:nvPr/>
        </p:nvSpPr>
        <p:spPr>
          <a:xfrm>
            <a:off x="6726783"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p:cNvSpPr/>
          <p:nvPr/>
        </p:nvSpPr>
        <p:spPr>
          <a:xfrm>
            <a:off x="7055967"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p:cNvSpPr/>
          <p:nvPr/>
        </p:nvSpPr>
        <p:spPr>
          <a:xfrm>
            <a:off x="7385151" y="3827271"/>
            <a:ext cx="219456" cy="21945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p:cNvSpPr/>
          <p:nvPr/>
        </p:nvSpPr>
        <p:spPr>
          <a:xfrm>
            <a:off x="7714335"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7527" y="3818128"/>
            <a:ext cx="100584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2E9E5B"/>
                </a:solidFill>
                <a:latin typeface="Arial" charset="0"/>
                <a:ea typeface="微软雅黑"/>
                <a:cs typeface="Arial" charset="0"/>
              </a:rPr>
              <a:t>4/5 通过</a:t>
            </a:r>
            <a:endParaRPr sz="1400" b="1">
              <a:solidFill>
                <a:srgbClr val="2E9E5B"/>
              </a:solidFill>
              <a:latin typeface="Arial" charset="0"/>
              <a:ea typeface="微软雅黑"/>
              <a:cs typeface="Arial" charset="0"/>
            </a:endParaRPr>
          </a:p>
        </p:txBody>
      </p:sp>
      <p:grpSp>
        <p:nvGrpSpPr>
          <p:cNvPr id="28" name="QBOX"/>
          <p:cNvGrpSpPr/>
          <p:nvPr/>
        </p:nvGrpSpPr>
        <p:grpSpPr>
          <a:xfrm>
            <a:off x="548640" y="4257039"/>
            <a:ext cx="7320076" cy="1097280"/>
            <a:chOff x="548640" y="4257039"/>
            <a:chExt cx="7320076" cy="1097280"/>
          </a:xfrm>
        </p:grpSpPr>
        <p:sp>
          <p:nvSpPr>
            <p:cNvPr id="29" name="Rounded Rectangle 28"/>
            <p:cNvSpPr/>
            <p:nvPr/>
          </p:nvSpPr>
          <p:spPr>
            <a:xfrm>
              <a:off x="548640" y="4257039"/>
              <a:ext cx="7320076" cy="1097280"/>
            </a:xfrm>
            <a:prstGeom prst="roundRect">
              <a:avLst>
                <a:gd name="adj" fmla="val 666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430276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31" name="TextBox 30"/>
            <p:cNvSpPr txBox="1"/>
            <p:nvPr/>
          </p:nvSpPr>
          <p:spPr>
            <a:xfrm>
              <a:off x="960120" y="4394200"/>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若比对样本量达到 </a:t>
              </a:r>
              <a:r>
                <a:rPr sz="1800" b="0">
                  <a:solidFill>
                    <a:srgbClr val="222222"/>
                  </a:solidFill>
                  <a:latin typeface="Arial" charset="0"/>
                  <a:ea typeface="微软雅黑"/>
                  <a:cs typeface="Arial" charset="0"/>
                </a:rPr>
                <a:t>20 </a:t>
              </a:r>
              <a:r>
                <a:rPr sz="1800" b="0">
                  <a:solidFill>
                    <a:srgbClr val="222222"/>
                  </a:solidFill>
                  <a:latin typeface="Arial" charset="0"/>
                  <a:ea typeface="微软雅黑"/>
                  <a:cs typeface="Arial" charset="0"/>
                </a:rPr>
                <a:t>份或以上时，比对结果仍不符合判断标准，实验室应对其它影响结果可比性的因素进行分析并采取相应措施。</a:t>
              </a:r>
              <a:endParaRPr sz="1800" b="0">
                <a:solidFill>
                  <a:srgbClr val="222222"/>
                </a:solidFill>
                <a:latin typeface="Arial" charset="0"/>
                <a:ea typeface="微软雅黑"/>
                <a:cs typeface="Arial" charset="0"/>
              </a:endParaRPr>
            </a:p>
          </p:txBody>
        </p:sp>
        <p:sp>
          <p:nvSpPr>
            <p:cNvPr id="32" name="CITE"/>
            <p:cNvSpPr txBox="1"/>
            <p:nvPr/>
          </p:nvSpPr>
          <p:spPr>
            <a:xfrm>
              <a:off x="5697404" y="4970272"/>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7.2.1</a:t>
              </a:r>
              <a:endParaRPr sz="1200" b="0">
                <a:solidFill>
                  <a:srgbClr val="1F3A5F"/>
                </a:solidFill>
                <a:latin typeface="Arial" charset="0"/>
                <a:ea typeface="微软雅黑"/>
                <a:cs typeface="Arial" charset="0"/>
              </a:endParaRPr>
            </a:p>
          </p:txBody>
        </p:sp>
      </p:grpSp>
      <p:grpSp>
        <p:nvGrpSpPr>
          <p:cNvPr id="33" name="FLOW"/>
          <p:cNvGrpSpPr/>
          <p:nvPr/>
        </p:nvGrpSpPr>
        <p:grpSpPr>
          <a:xfrm>
            <a:off x="548640" y="5582920"/>
            <a:ext cx="721360" cy="384048"/>
            <a:chOff x="548640" y="5582920"/>
            <a:chExt cx="721360" cy="384048"/>
          </a:xfrm>
        </p:grpSpPr>
        <p:sp>
          <p:nvSpPr>
            <p:cNvPr id="34" name="Rounded Rectangle 33"/>
            <p:cNvSpPr/>
            <p:nvPr/>
          </p:nvSpPr>
          <p:spPr>
            <a:xfrm>
              <a:off x="548640" y="5582920"/>
              <a:ext cx="72136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659119"/>
              <a:ext cx="5384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扩样</a:t>
              </a:r>
              <a:endParaRPr sz="1400" b="1">
                <a:solidFill>
                  <a:srgbClr val="222222"/>
                </a:solidFill>
                <a:latin typeface="Arial" charset="0"/>
                <a:ea typeface="微软雅黑"/>
                <a:cs typeface="Arial" charset="0"/>
              </a:endParaRPr>
            </a:p>
          </p:txBody>
        </p:sp>
      </p:grpSp>
      <p:cxnSp>
        <p:nvCxnSpPr>
          <p:cNvPr id="36" name="ARROW"/>
          <p:cNvCxnSpPr/>
          <p:nvPr/>
        </p:nvCxnSpPr>
        <p:spPr>
          <a:xfrm>
            <a:off x="131572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635759" y="5582920"/>
            <a:ext cx="899430" cy="384048"/>
            <a:chOff x="1635759" y="5582920"/>
            <a:chExt cx="899430" cy="384048"/>
          </a:xfrm>
        </p:grpSpPr>
        <p:sp>
          <p:nvSpPr>
            <p:cNvPr id="38" name="Rounded Rectangle 37"/>
            <p:cNvSpPr/>
            <p:nvPr/>
          </p:nvSpPr>
          <p:spPr>
            <a:xfrm>
              <a:off x="1635759" y="5582920"/>
              <a:ext cx="89943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727200" y="5659119"/>
              <a:ext cx="71655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≥90%</a:t>
              </a:r>
              <a:endParaRPr sz="1400" b="1">
                <a:solidFill>
                  <a:srgbClr val="222222"/>
                </a:solidFill>
                <a:latin typeface="Arial" charset="0"/>
                <a:ea typeface="微软雅黑"/>
                <a:cs typeface="Arial" charset="0"/>
              </a:endParaRPr>
            </a:p>
          </p:txBody>
        </p:sp>
      </p:grpSp>
      <p:cxnSp>
        <p:nvCxnSpPr>
          <p:cNvPr id="40" name="ARROW"/>
          <p:cNvCxnSpPr/>
          <p:nvPr/>
        </p:nvCxnSpPr>
        <p:spPr>
          <a:xfrm>
            <a:off x="258091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1" name="FLOW"/>
          <p:cNvGrpSpPr/>
          <p:nvPr/>
        </p:nvGrpSpPr>
        <p:grpSpPr>
          <a:xfrm>
            <a:off x="2900950" y="5582920"/>
            <a:ext cx="1808134" cy="384048"/>
            <a:chOff x="2900950" y="5582920"/>
            <a:chExt cx="1808134" cy="384048"/>
          </a:xfrm>
        </p:grpSpPr>
        <p:sp>
          <p:nvSpPr>
            <p:cNvPr id="42" name="Rounded Rectangle 41"/>
            <p:cNvSpPr/>
            <p:nvPr/>
          </p:nvSpPr>
          <p:spPr>
            <a:xfrm>
              <a:off x="2900950" y="5582920"/>
              <a:ext cx="1808134"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2390" y="5659119"/>
              <a:ext cx="1625254"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达到20份仍不符合</a:t>
              </a:r>
              <a:endParaRPr sz="1400" b="1">
                <a:solidFill>
                  <a:srgbClr val="222222"/>
                </a:solidFill>
                <a:latin typeface="Arial" charset="0"/>
                <a:ea typeface="微软雅黑"/>
                <a:cs typeface="Arial" charset="0"/>
              </a:endParaRPr>
            </a:p>
          </p:txBody>
        </p:sp>
      </p:grpSp>
      <p:cxnSp>
        <p:nvCxnSpPr>
          <p:cNvPr id="44" name="ARROW"/>
          <p:cNvCxnSpPr/>
          <p:nvPr/>
        </p:nvCxnSpPr>
        <p:spPr>
          <a:xfrm>
            <a:off x="4754805"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5" name="FLOW"/>
          <p:cNvGrpSpPr/>
          <p:nvPr/>
        </p:nvGrpSpPr>
        <p:grpSpPr>
          <a:xfrm>
            <a:off x="5074845" y="5582920"/>
            <a:ext cx="1432560" cy="384048"/>
            <a:chOff x="5074845" y="5582920"/>
            <a:chExt cx="1432560" cy="384048"/>
          </a:xfrm>
        </p:grpSpPr>
        <p:sp>
          <p:nvSpPr>
            <p:cNvPr id="46" name="Rounded Rectangle 45"/>
            <p:cNvSpPr/>
            <p:nvPr/>
          </p:nvSpPr>
          <p:spPr>
            <a:xfrm>
              <a:off x="5074845" y="5582920"/>
              <a:ext cx="1432560" cy="384048"/>
            </a:xfrm>
            <a:prstGeom prst="roundRect">
              <a:avLst>
                <a:gd name="adj" fmla="val 19047"/>
              </a:avLst>
            </a:prstGeom>
            <a:solidFill>
              <a:srgbClr val="FFFFFF"/>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285" y="5659119"/>
              <a:ext cx="12496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分析其他因素</a:t>
              </a:r>
              <a:endParaRPr sz="1400" b="1">
                <a:solidFill>
                  <a:srgbClr val="222222"/>
                </a:solidFill>
                <a:latin typeface="Arial" charset="0"/>
                <a:ea typeface="微软雅黑"/>
                <a:cs typeface="Arial" charset="0"/>
              </a:endParaRPr>
            </a:p>
          </p:txBody>
        </p:sp>
      </p:grpSp>
      <p:pic>
        <p:nvPicPr>
          <p:cNvPr id="48" name="NEWIMG" descr="28_1.png"/>
          <p:cNvPicPr>
            <a:picLocks noChangeAspect="1"/>
          </p:cNvPicPr>
          <p:nvPr/>
        </p:nvPicPr>
        <p:blipFill>
          <a:blip r:embed="rId1"/>
          <a:stretch>
            <a:fillRect/>
          </a:stretch>
        </p:blipFill>
        <p:spPr>
          <a:xfrm>
            <a:off x="8097316" y="4257039"/>
            <a:ext cx="728133" cy="1092200"/>
          </a:xfrm>
          <a:prstGeom prst="roundRect">
            <a:avLst>
              <a:gd name="adj" fmla="val 10046"/>
            </a:avLst>
          </a:prstGeom>
        </p:spPr>
      </p:pic>
      <p:sp>
        <p:nvSpPr>
          <p:cNvPr id="49" name="TextBox 48"/>
          <p:cNvSpPr txBox="1"/>
          <p:nvPr/>
        </p:nvSpPr>
        <p:spPr>
          <a:xfrm>
            <a:off x="8097316" y="5404104"/>
            <a:ext cx="3545738"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示例图：5份中4份通过</a:t>
            </a:r>
            <a:endParaRPr sz="1200" b="0">
              <a:solidFill>
                <a:srgbClr val="6B7280"/>
              </a:solidFill>
              <a:latin typeface="Arial" charset="0"/>
              <a:ea typeface="微软雅黑"/>
              <a:cs typeface="Arial" charset="0"/>
            </a:endParaRPr>
          </a:p>
        </p:txBody>
      </p:sp>
      <p:pic>
        <p:nvPicPr>
          <p:cNvPr id="50"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80166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7.2 </a:t>
            </a:r>
            <a:r>
              <a:rPr sz="2800" b="1">
                <a:solidFill>
                  <a:srgbClr val="1F3A5F"/>
                </a:solidFill>
                <a:latin typeface="Arial" charset="0"/>
                <a:ea typeface="微软雅黑"/>
                <a:cs typeface="Arial" charset="0"/>
              </a:rPr>
              <a:t>试验方法及结果判断</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7.2.2 </a:t>
            </a:r>
            <a:r>
              <a:rPr sz="2800" b="1">
                <a:solidFill>
                  <a:srgbClr val="1F3A5F"/>
                </a:solidFill>
                <a:latin typeface="Arial" charset="0"/>
                <a:ea typeface="微软雅黑"/>
                <a:cs typeface="Arial" charset="0"/>
              </a:rPr>
              <a:t>均值法比对方案</a:t>
            </a:r>
            <a:endParaRPr sz="2800" b="1">
              <a:solidFill>
                <a:srgbClr val="1F3A5F"/>
              </a:solidFill>
              <a:latin typeface="Arial" charset="0"/>
              <a:ea typeface="微软雅黑"/>
              <a:cs typeface="Arial" charset="0"/>
            </a:endParaRPr>
          </a:p>
        </p:txBody>
      </p:sp>
      <p:pic>
        <p:nvPicPr>
          <p:cNvPr id="4" name="NEWIMG_CORNER" descr="29_1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40</a:t>
            </a:r>
            <a:endParaRPr sz="1200" b="0">
              <a:solidFill>
                <a:srgbClr val="6B7280"/>
              </a:solidFill>
              <a:latin typeface="Arial" charset="0"/>
              <a:ea typeface="微软雅黑"/>
              <a:cs typeface="Arial" charset="0"/>
            </a:endParaRPr>
          </a:p>
        </p:txBody>
      </p:sp>
      <p:sp>
        <p:nvSpPr>
          <p:cNvPr id="7"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7.2.2</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7320076" cy="4450080"/>
            <a:chOff x="548640" y="1554480"/>
            <a:chExt cx="7320076" cy="4450080"/>
          </a:xfrm>
        </p:grpSpPr>
        <p:sp>
          <p:nvSpPr>
            <p:cNvPr id="9" name="Rounded Rectangle 8"/>
            <p:cNvSpPr/>
            <p:nvPr/>
          </p:nvSpPr>
          <p:spPr>
            <a:xfrm>
              <a:off x="548640" y="1554480"/>
              <a:ext cx="7320076" cy="4450080"/>
            </a:xfrm>
            <a:prstGeom prst="roundRect">
              <a:avLst>
                <a:gd name="adj" fmla="val 164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6771436" cy="418490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a) </a:t>
              </a:r>
              <a:r>
                <a:rPr sz="1500" b="0">
                  <a:solidFill>
                    <a:srgbClr val="222222"/>
                  </a:solidFill>
                  <a:latin typeface="Arial" charset="0"/>
                  <a:ea typeface="微软雅黑"/>
                  <a:cs typeface="Arial" charset="0"/>
                </a:rPr>
                <a:t>使用不同检测系统检测符合 </a:t>
              </a:r>
              <a:r>
                <a:rPr sz="1500" b="0">
                  <a:solidFill>
                    <a:srgbClr val="222222"/>
                  </a:solidFill>
                  <a:latin typeface="Arial" charset="0"/>
                  <a:ea typeface="微软雅黑"/>
                  <a:cs typeface="Arial" charset="0"/>
                </a:rPr>
                <a:t>6.4 </a:t>
              </a:r>
              <a:r>
                <a:rPr sz="1500" b="0">
                  <a:solidFill>
                    <a:srgbClr val="222222"/>
                  </a:solidFill>
                  <a:latin typeface="Arial" charset="0"/>
                  <a:ea typeface="微软雅黑"/>
                  <a:cs typeface="Arial" charset="0"/>
                </a:rPr>
                <a:t>要求的样本，按要求进行校准和室内质控，记录检测结果。</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b) </a:t>
              </a:r>
              <a:r>
                <a:rPr sz="1500" b="0">
                  <a:solidFill>
                    <a:srgbClr val="222222"/>
                  </a:solidFill>
                  <a:latin typeface="Arial" charset="0"/>
                  <a:ea typeface="微软雅黑"/>
                  <a:cs typeface="Arial" charset="0"/>
                </a:rPr>
                <a:t>按下式计算所有检测系统结果的均值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𝑋̅</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a:p>
              <a:pPr algn="ctr">
                <a:lnSpc>
                  <a:spcPts val="2040"/>
                </a:lnSpc>
                <a:spcBef>
                  <a:spcPts val="300"/>
                </a:spcBef>
                <a:spcAft>
                  <a:spcPts val="0"/>
                </a:spcAft>
                <a:buNone/>
              </a:pPr>
              <a:r>
                <a:rPr sz="1700" b="0">
                  <a:solidFill>
                    <a:srgbClr val="222222"/>
                  </a:solidFill>
                  <a:latin typeface="Cambria Math"/>
                  <a:ea typeface="Cambria Math"/>
                  <a:cs typeface="Cambria Math"/>
                </a:rPr>
                <a:t>𝑋̅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1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2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3 + … </a:t>
              </a:r>
              <a:r>
                <a:rPr sz="1700" b="0">
                  <a:solidFill>
                    <a:srgbClr val="222222"/>
                  </a:solidFill>
                  <a:latin typeface="Cambria Math"/>
                  <a:ea typeface="Cambria Math"/>
                  <a:cs typeface="Cambria Math"/>
                </a:rPr>
                <a:t>𝑋𝑛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1</a:t>
              </a:r>
              <a:r>
                <a:rPr sz="1700" b="0">
                  <a:solidFill>
                    <a:srgbClr val="222222"/>
                  </a:solidFill>
                  <a:latin typeface="Cambria Math"/>
                  <a:ea typeface="Cambria Math"/>
                  <a:cs typeface="Cambria Math"/>
                </a:rPr>
                <a:t>）</a:t>
              </a:r>
              <a:endParaRPr sz="1700" b="0">
                <a:solidFill>
                  <a:srgbClr val="222222"/>
                </a:solidFill>
                <a:latin typeface="Cambria Math"/>
                <a:ea typeface="Cambria Math"/>
                <a:cs typeface="Cambria Math"/>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式中：</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X1</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X2</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…XN ——</a:t>
              </a:r>
              <a:r>
                <a:rPr sz="1500" b="0">
                  <a:solidFill>
                    <a:srgbClr val="222222"/>
                  </a:solidFill>
                  <a:latin typeface="Arial" charset="0"/>
                  <a:ea typeface="微软雅黑"/>
                  <a:cs typeface="Arial" charset="0"/>
                </a:rPr>
                <a:t>不同检测系统的结果；</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c) </a:t>
              </a:r>
              <a:r>
                <a:rPr sz="1500" b="0">
                  <a:solidFill>
                    <a:srgbClr val="222222"/>
                  </a:solidFill>
                  <a:latin typeface="Arial" charset="0"/>
                  <a:ea typeface="微软雅黑"/>
                  <a:cs typeface="Arial" charset="0"/>
                </a:rPr>
                <a:t>按下式计算所有检测系统结果的相对极差（</a:t>
              </a:r>
              <a:r>
                <a:rPr sz="1500" b="0">
                  <a:solidFill>
                    <a:srgbClr val="222222"/>
                  </a:solidFill>
                  <a:latin typeface="Arial" charset="0"/>
                  <a:ea typeface="微软雅黑"/>
                  <a:cs typeface="Arial" charset="0"/>
                </a:rPr>
                <a:t>R</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a:p>
              <a:pPr algn="ctr">
                <a:lnSpc>
                  <a:spcPts val="2040"/>
                </a:lnSpc>
                <a:spcBef>
                  <a:spcPts val="300"/>
                </a:spcBef>
                <a:spcAft>
                  <a:spcPts val="0"/>
                </a:spcAft>
                <a:buNone/>
              </a:pPr>
              <a:r>
                <a:rPr sz="1700" b="0">
                  <a:solidFill>
                    <a:srgbClr val="222222"/>
                  </a:solidFill>
                  <a:latin typeface="Cambria Math"/>
                  <a:ea typeface="Cambria Math"/>
                  <a:cs typeface="Cambria Math"/>
                </a:rPr>
                <a:t>𝑅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𝑋𝑚𝑎𝑥 − 𝑋𝑚𝑖𝑛</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 × 100% ……………………  (2)</a:t>
              </a:r>
              <a:endParaRPr sz="1700" b="0">
                <a:solidFill>
                  <a:srgbClr val="222222"/>
                </a:solidFill>
                <a:latin typeface="Cambria Math"/>
                <a:ea typeface="Cambria Math"/>
                <a:cs typeface="Cambria Math"/>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式中：</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𝑋𝑚𝑎𝑥</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检测系统结果中的最大值；</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𝑋𝑚𝑖𝑛</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检测系统结果中的最小值；</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d) </a:t>
              </a:r>
              <a:r>
                <a:rPr sz="1500" b="0">
                  <a:solidFill>
                    <a:srgbClr val="222222"/>
                  </a:solidFill>
                  <a:latin typeface="Arial" charset="0"/>
                  <a:ea typeface="微软雅黑"/>
                  <a:cs typeface="Arial" charset="0"/>
                </a:rPr>
                <a:t>将相对极差（</a:t>
              </a:r>
              <a:r>
                <a:rPr sz="1500" b="0">
                  <a:solidFill>
                    <a:srgbClr val="222222"/>
                  </a:solidFill>
                  <a:latin typeface="Arial" charset="0"/>
                  <a:ea typeface="微软雅黑"/>
                  <a:cs typeface="Arial" charset="0"/>
                </a:rPr>
                <a:t>R</a:t>
              </a:r>
              <a:r>
                <a:rPr sz="1500" b="0">
                  <a:solidFill>
                    <a:srgbClr val="222222"/>
                  </a:solidFill>
                  <a:latin typeface="Arial" charset="0"/>
                  <a:ea typeface="微软雅黑"/>
                  <a:cs typeface="Arial" charset="0"/>
                </a:rPr>
                <a:t>）与 </a:t>
              </a:r>
              <a:r>
                <a:rPr sz="1500" b="0">
                  <a:solidFill>
                    <a:srgbClr val="222222"/>
                  </a:solidFill>
                  <a:latin typeface="Arial" charset="0"/>
                  <a:ea typeface="微软雅黑"/>
                  <a:cs typeface="Arial" charset="0"/>
                </a:rPr>
                <a:t>4.3 </a:t>
              </a:r>
              <a:r>
                <a:rPr sz="1500" b="0">
                  <a:solidFill>
                    <a:srgbClr val="222222"/>
                  </a:solidFill>
                  <a:latin typeface="Arial" charset="0"/>
                  <a:ea typeface="微软雅黑"/>
                  <a:cs typeface="Arial" charset="0"/>
                </a:rPr>
                <a:t>实验室的判断标准进行比较。</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e) </a:t>
              </a:r>
              <a:r>
                <a:rPr sz="1500" b="0">
                  <a:solidFill>
                    <a:srgbClr val="222222"/>
                  </a:solidFill>
                  <a:latin typeface="Arial" charset="0"/>
                  <a:ea typeface="微软雅黑"/>
                  <a:cs typeface="Arial" charset="0"/>
                </a:rPr>
                <a:t>若 </a:t>
              </a:r>
              <a:r>
                <a:rPr sz="1500" b="0">
                  <a:solidFill>
                    <a:srgbClr val="222222"/>
                  </a:solidFill>
                  <a:latin typeface="Arial" charset="0"/>
                  <a:ea typeface="微软雅黑"/>
                  <a:cs typeface="Arial" charset="0"/>
                </a:rPr>
                <a:t>R </a:t>
              </a:r>
              <a:r>
                <a:rPr sz="1500" b="0">
                  <a:solidFill>
                    <a:srgbClr val="222222"/>
                  </a:solidFill>
                  <a:latin typeface="Arial" charset="0"/>
                  <a:ea typeface="微软雅黑"/>
                  <a:cs typeface="Arial" charset="0"/>
                </a:rPr>
                <a:t>值符合实验室制定的判断标准，即为可比性验证通过。</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f) </a:t>
              </a:r>
              <a:r>
                <a:rPr sz="1500" b="0">
                  <a:solidFill>
                    <a:srgbClr val="222222"/>
                  </a:solidFill>
                  <a:latin typeface="Arial" charset="0"/>
                  <a:ea typeface="微软雅黑"/>
                  <a:cs typeface="Arial" charset="0"/>
                </a:rPr>
                <a:t>若 </a:t>
              </a:r>
              <a:r>
                <a:rPr sz="1500" b="0">
                  <a:solidFill>
                    <a:srgbClr val="222222"/>
                  </a:solidFill>
                  <a:latin typeface="Arial" charset="0"/>
                  <a:ea typeface="微软雅黑"/>
                  <a:cs typeface="Arial" charset="0"/>
                </a:rPr>
                <a:t>R </a:t>
              </a:r>
              <a:r>
                <a:rPr sz="1500" b="0">
                  <a:solidFill>
                    <a:srgbClr val="222222"/>
                  </a:solidFill>
                  <a:latin typeface="Arial" charset="0"/>
                  <a:ea typeface="微软雅黑"/>
                  <a:cs typeface="Arial" charset="0"/>
                </a:rPr>
                <a:t>值不符合实验室制定的标准，表明结果差异最大的两个检测系统结果可比性不符合要求，分析并剔除偏差较大的检测系统的结果，按 </a:t>
              </a:r>
              <a:r>
                <a:rPr sz="1500" b="0">
                  <a:solidFill>
                    <a:srgbClr val="222222"/>
                  </a:solidFill>
                  <a:latin typeface="Arial" charset="0"/>
                  <a:ea typeface="微软雅黑"/>
                  <a:cs typeface="Arial" charset="0"/>
                </a:rPr>
                <a:t>7.2.2 </a:t>
              </a:r>
              <a:r>
                <a:rPr sz="1500" b="0">
                  <a:solidFill>
                    <a:srgbClr val="222222"/>
                  </a:solidFill>
                  <a:latin typeface="Arial" charset="0"/>
                  <a:ea typeface="微软雅黑"/>
                  <a:cs typeface="Arial" charset="0"/>
                </a:rPr>
                <a:t>重新计算 </a:t>
              </a:r>
              <a:r>
                <a:rPr sz="1500" b="0">
                  <a:solidFill>
                    <a:srgbClr val="222222"/>
                  </a:solidFill>
                  <a:latin typeface="Arial" charset="0"/>
                  <a:ea typeface="微软雅黑"/>
                  <a:cs typeface="Arial" charset="0"/>
                </a:rPr>
                <a:t>R </a:t>
              </a:r>
              <a:r>
                <a:rPr sz="1500" b="0">
                  <a:solidFill>
                    <a:srgbClr val="222222"/>
                  </a:solidFill>
                  <a:latin typeface="Arial" charset="0"/>
                  <a:ea typeface="微软雅黑"/>
                  <a:cs typeface="Arial" charset="0"/>
                </a:rPr>
                <a:t>值，直到剩余检测系统结果符合可比性要求。</a:t>
              </a:r>
              <a:endParaRPr sz="1500" b="0">
                <a:solidFill>
                  <a:srgbClr val="222222"/>
                </a:solidFill>
                <a:latin typeface="Arial" charset="0"/>
                <a:ea typeface="微软雅黑"/>
                <a:cs typeface="Arial" charset="0"/>
              </a:endParaRPr>
            </a:p>
          </p:txBody>
        </p:sp>
        <p:sp>
          <p:nvSpPr>
            <p:cNvPr id="12" name="CITE"/>
            <p:cNvSpPr txBox="1"/>
            <p:nvPr/>
          </p:nvSpPr>
          <p:spPr>
            <a:xfrm>
              <a:off x="5697404" y="5643371"/>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7.2.2</a:t>
              </a:r>
              <a:endParaRPr sz="1200" b="0">
                <a:solidFill>
                  <a:srgbClr val="1F3A5F"/>
                </a:solidFill>
                <a:latin typeface="Arial" charset="0"/>
                <a:ea typeface="微软雅黑"/>
                <a:cs typeface="Arial" charset="0"/>
              </a:endParaRPr>
            </a:p>
          </p:txBody>
        </p:sp>
      </p:grpSp>
      <p:graphicFrame>
        <p:nvGraphicFramePr>
          <p:cNvPr id="13" name="CHART"/>
          <p:cNvGraphicFramePr>
            <a:graphicFrameLocks noGrp="1"/>
          </p:cNvGraphicFramePr>
          <p:nvPr/>
        </p:nvGraphicFramePr>
        <p:xfrm>
          <a:off x="8097316" y="1554480"/>
          <a:ext cx="3545738" cy="1920240"/>
        </p:xfrm>
        <a:graphic>
          <a:graphicData uri="http://schemas.openxmlformats.org/drawingml/2006/chart">
            <c:chart xmlns:c="http://schemas.openxmlformats.org/drawingml/2006/chart" xmlns:r="http://schemas.openxmlformats.org/officeDocument/2006/relationships" r:id="rId1"/>
          </a:graphicData>
        </a:graphic>
      </p:graphicFrame>
      <p:sp>
        <p:nvSpPr>
          <p:cNvPr id="14" name="TextBox 13"/>
          <p:cNvSpPr txBox="1"/>
          <p:nvPr/>
        </p:nvSpPr>
        <p:spPr>
          <a:xfrm>
            <a:off x="8097316" y="3520439"/>
            <a:ext cx="3545738" cy="102412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charset="0"/>
                <a:ea typeface="微软雅黑"/>
                <a:cs typeface="Arial" charset="0"/>
              </a:rPr>
              <a:t>示意数据</a:t>
            </a:r>
            <a:endParaRPr sz="1400" b="1">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X̄ = 5.13</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Xmax = 5.45；Xmin = 4.85</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R = 0.60 / 5.13 = 11.7%</a:t>
            </a:r>
            <a:endParaRPr sz="1400" b="0">
              <a:solidFill>
                <a:srgbClr val="222222"/>
              </a:solidFill>
              <a:latin typeface="Arial" charset="0"/>
              <a:ea typeface="微软雅黑"/>
              <a:cs typeface="Arial" charset="0"/>
            </a:endParaRPr>
          </a:p>
        </p:txBody>
      </p:sp>
      <p:pic>
        <p:nvPicPr>
          <p:cNvPr id="15" name="LOGO" descr="logo_940.png"/>
          <p:cNvPicPr>
            <a:picLocks noChangeAspect="1"/>
          </p:cNvPicPr>
          <p:nvPr/>
        </p:nvPicPr>
        <p:blipFill>
          <a:blip r:embed="rId4"/>
          <a:stretch>
            <a:fillRect/>
          </a:stretch>
        </p:blipFill>
        <p:spPr>
          <a:xfrm>
            <a:off x="548640" y="6249924"/>
            <a:ext cx="310896" cy="31089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1097525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7.2 </a:t>
            </a:r>
            <a:r>
              <a:rPr sz="2800" b="1">
                <a:solidFill>
                  <a:srgbClr val="1F3A5F"/>
                </a:solidFill>
                <a:latin typeface="Arial" charset="0"/>
                <a:ea typeface="微软雅黑"/>
                <a:cs typeface="Arial" charset="0"/>
              </a:rPr>
              <a:t>试验方法及结果判断</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7.2.3 </a:t>
            </a:r>
            <a:r>
              <a:rPr sz="2800" b="1">
                <a:solidFill>
                  <a:srgbClr val="1F3A5F"/>
                </a:solidFill>
                <a:latin typeface="Arial" charset="0"/>
                <a:ea typeface="微软雅黑"/>
                <a:cs typeface="Arial" charset="0"/>
              </a:rPr>
              <a:t>考虑测量系统不精密度的比对方案</a:t>
            </a:r>
            <a:endParaRPr sz="2800" b="1">
              <a:solidFill>
                <a:srgbClr val="1F3A5F"/>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41</a:t>
            </a:r>
            <a:endParaRPr sz="1200" b="0">
              <a:solidFill>
                <a:srgbClr val="6B7280"/>
              </a:solidFill>
              <a:latin typeface="Arial" charset="0"/>
              <a:ea typeface="微软雅黑"/>
              <a:cs typeface="Arial" charset="0"/>
            </a:endParaRPr>
          </a:p>
        </p:txBody>
      </p:sp>
      <p:sp>
        <p:nvSpPr>
          <p:cNvPr id="6" name="SRCBADGE"/>
          <p:cNvSpPr/>
          <p:nvPr/>
        </p:nvSpPr>
        <p:spPr>
          <a:xfrm>
            <a:off x="8505746" y="5852160"/>
            <a:ext cx="3137308"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来源：GL047 7.2.3；WS/T 407 6.4–6.8</a:t>
            </a:r>
            <a:endParaRPr sz="1200" b="1">
              <a:solidFill>
                <a:srgbClr val="1F3A5F"/>
              </a:solidFill>
              <a:latin typeface="Arial" charset="0"/>
              <a:ea typeface="微软雅黑"/>
              <a:cs typeface="Arial" charset="0"/>
            </a:endParaRPr>
          </a:p>
        </p:txBody>
      </p:sp>
      <p:grpSp>
        <p:nvGrpSpPr>
          <p:cNvPr id="7" name="FLOW"/>
          <p:cNvGrpSpPr/>
          <p:nvPr/>
        </p:nvGrpSpPr>
        <p:grpSpPr>
          <a:xfrm>
            <a:off x="548640" y="1554480"/>
            <a:ext cx="1620469" cy="1463040"/>
            <a:chOff x="548640" y="1554480"/>
            <a:chExt cx="1620469" cy="1463040"/>
          </a:xfrm>
        </p:grpSpPr>
        <p:sp>
          <p:nvSpPr>
            <p:cNvPr id="8" name="Rounded Rectangle 7"/>
            <p:cNvSpPr/>
            <p:nvPr/>
          </p:nvSpPr>
          <p:spPr>
            <a:xfrm>
              <a:off x="548640"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①</a:t>
              </a:r>
              <a:endParaRPr sz="1600" b="1">
                <a:solidFill>
                  <a:srgbClr val="E8833A"/>
                </a:solidFill>
                <a:latin typeface="Arial" charset="0"/>
                <a:ea typeface="微软雅黑"/>
                <a:cs typeface="Arial" charset="0"/>
              </a:endParaRPr>
            </a:p>
          </p:txBody>
        </p:sp>
        <p:sp>
          <p:nvSpPr>
            <p:cNvPr id="10" name="TextBox 9"/>
            <p:cNvSpPr txBox="1"/>
            <p:nvPr/>
          </p:nvSpPr>
          <p:spPr>
            <a:xfrm>
              <a:off x="640080"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长期CV</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≥6个月质控数据</a:t>
              </a:r>
              <a:endParaRPr sz="1400" b="0">
                <a:solidFill>
                  <a:srgbClr val="6B7280"/>
                </a:solidFill>
                <a:latin typeface="Arial" charset="0"/>
                <a:ea typeface="微软雅黑"/>
                <a:cs typeface="Arial" charset="0"/>
              </a:endParaRPr>
            </a:p>
          </p:txBody>
        </p:sp>
        <p:sp>
          <p:nvSpPr>
            <p:cNvPr id="11" name="BADGE"/>
            <p:cNvSpPr/>
            <p:nvPr/>
          </p:nvSpPr>
          <p:spPr>
            <a:xfrm>
              <a:off x="621792"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CV</a:t>
              </a:r>
              <a:endParaRPr sz="1200" b="1">
                <a:solidFill>
                  <a:srgbClr val="FFFFFF"/>
                </a:solidFill>
                <a:latin typeface="Arial" charset="0"/>
                <a:ea typeface="微软雅黑"/>
                <a:cs typeface="Arial" charset="0"/>
              </a:endParaRPr>
            </a:p>
          </p:txBody>
        </p:sp>
      </p:grpSp>
      <p:cxnSp>
        <p:nvCxnSpPr>
          <p:cNvPr id="12" name="ARROW"/>
          <p:cNvCxnSpPr/>
          <p:nvPr/>
        </p:nvCxnSpPr>
        <p:spPr>
          <a:xfrm>
            <a:off x="2196541"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3" name="FLOW"/>
          <p:cNvGrpSpPr/>
          <p:nvPr/>
        </p:nvGrpSpPr>
        <p:grpSpPr>
          <a:xfrm>
            <a:off x="2443429" y="1554480"/>
            <a:ext cx="1620469" cy="1463040"/>
            <a:chOff x="2443429" y="1554480"/>
            <a:chExt cx="1620469" cy="1463040"/>
          </a:xfrm>
        </p:grpSpPr>
        <p:sp>
          <p:nvSpPr>
            <p:cNvPr id="14" name="Rounded Rectangle 13"/>
            <p:cNvSpPr/>
            <p:nvPr/>
          </p:nvSpPr>
          <p:spPr>
            <a:xfrm>
              <a:off x="2443429"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34869"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②</a:t>
              </a:r>
              <a:endParaRPr sz="1600" b="1">
                <a:solidFill>
                  <a:srgbClr val="E8833A"/>
                </a:solidFill>
                <a:latin typeface="Arial" charset="0"/>
                <a:ea typeface="微软雅黑"/>
                <a:cs typeface="Arial" charset="0"/>
              </a:endParaRPr>
            </a:p>
          </p:txBody>
        </p:sp>
        <p:sp>
          <p:nvSpPr>
            <p:cNvPr id="16" name="TextBox 15"/>
            <p:cNvSpPr txBox="1"/>
            <p:nvPr/>
          </p:nvSpPr>
          <p:spPr>
            <a:xfrm>
              <a:off x="2534869"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最大/最小CV&lt;2倍</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否则先确认性能</a:t>
              </a:r>
              <a:endParaRPr sz="1400" b="0">
                <a:solidFill>
                  <a:srgbClr val="6B7280"/>
                </a:solidFill>
                <a:latin typeface="Arial" charset="0"/>
                <a:ea typeface="微软雅黑"/>
                <a:cs typeface="Arial" charset="0"/>
              </a:endParaRPr>
            </a:p>
          </p:txBody>
        </p:sp>
        <p:sp>
          <p:nvSpPr>
            <p:cNvPr id="17" name="BADGE"/>
            <p:cNvSpPr/>
            <p:nvPr/>
          </p:nvSpPr>
          <p:spPr>
            <a:xfrm>
              <a:off x="2516581"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CVmax/CVmin&lt;2</a:t>
              </a:r>
              <a:endParaRPr sz="1200" b="1">
                <a:solidFill>
                  <a:srgbClr val="FFFFFF"/>
                </a:solidFill>
                <a:latin typeface="Arial" charset="0"/>
                <a:ea typeface="微软雅黑"/>
                <a:cs typeface="Arial" charset="0"/>
              </a:endParaRPr>
            </a:p>
          </p:txBody>
        </p:sp>
      </p:grpSp>
      <p:cxnSp>
        <p:nvCxnSpPr>
          <p:cNvPr id="18" name="ARROW"/>
          <p:cNvCxnSpPr/>
          <p:nvPr/>
        </p:nvCxnSpPr>
        <p:spPr>
          <a:xfrm>
            <a:off x="4091330"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4338218" y="1554480"/>
            <a:ext cx="1620469" cy="1463040"/>
            <a:chOff x="4338218" y="1554480"/>
            <a:chExt cx="1620469" cy="1463040"/>
          </a:xfrm>
        </p:grpSpPr>
        <p:sp>
          <p:nvSpPr>
            <p:cNvPr id="20" name="Rounded Rectangle 19"/>
            <p:cNvSpPr/>
            <p:nvPr/>
          </p:nvSpPr>
          <p:spPr>
            <a:xfrm>
              <a:off x="4338218"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9658"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③</a:t>
              </a:r>
              <a:endParaRPr sz="1600" b="1">
                <a:solidFill>
                  <a:srgbClr val="E8833A"/>
                </a:solidFill>
                <a:latin typeface="Arial" charset="0"/>
                <a:ea typeface="微软雅黑"/>
                <a:cs typeface="Arial" charset="0"/>
              </a:endParaRPr>
            </a:p>
          </p:txBody>
        </p:sp>
        <p:sp>
          <p:nvSpPr>
            <p:cNvPr id="22" name="TextBox 21"/>
            <p:cNvSpPr txBox="1"/>
            <p:nvPr/>
          </p:nvSpPr>
          <p:spPr>
            <a:xfrm>
              <a:off x="4429658"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确定浓度</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质控总均值±20%</a:t>
              </a:r>
              <a:endParaRPr sz="1400" b="0">
                <a:solidFill>
                  <a:srgbClr val="6B7280"/>
                </a:solidFill>
                <a:latin typeface="Arial" charset="0"/>
                <a:ea typeface="微软雅黑"/>
                <a:cs typeface="Arial" charset="0"/>
              </a:endParaRPr>
            </a:p>
          </p:txBody>
        </p:sp>
        <p:sp>
          <p:nvSpPr>
            <p:cNvPr id="23" name="BADGE"/>
            <p:cNvSpPr/>
            <p:nvPr/>
          </p:nvSpPr>
          <p:spPr>
            <a:xfrm>
              <a:off x="4411370"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m总×(1±20%)</a:t>
              </a:r>
              <a:endParaRPr sz="1200" b="1">
                <a:solidFill>
                  <a:srgbClr val="FFFFFF"/>
                </a:solidFill>
                <a:latin typeface="Arial" charset="0"/>
                <a:ea typeface="微软雅黑"/>
                <a:cs typeface="Arial" charset="0"/>
              </a:endParaRPr>
            </a:p>
          </p:txBody>
        </p:sp>
      </p:grpSp>
      <p:cxnSp>
        <p:nvCxnSpPr>
          <p:cNvPr id="24" name="ARROW"/>
          <p:cNvCxnSpPr/>
          <p:nvPr/>
        </p:nvCxnSpPr>
        <p:spPr>
          <a:xfrm>
            <a:off x="5986119"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5" name="FLOW"/>
          <p:cNvGrpSpPr/>
          <p:nvPr/>
        </p:nvGrpSpPr>
        <p:grpSpPr>
          <a:xfrm>
            <a:off x="6233007" y="1554480"/>
            <a:ext cx="1620469" cy="1463040"/>
            <a:chOff x="6233007" y="1554480"/>
            <a:chExt cx="1620469" cy="1463040"/>
          </a:xfrm>
        </p:grpSpPr>
        <p:sp>
          <p:nvSpPr>
            <p:cNvPr id="26" name="Rounded Rectangle 25"/>
            <p:cNvSpPr/>
            <p:nvPr/>
          </p:nvSpPr>
          <p:spPr>
            <a:xfrm>
              <a:off x="6233007"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447"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④</a:t>
              </a:r>
              <a:endParaRPr sz="1600" b="1">
                <a:solidFill>
                  <a:srgbClr val="E8833A"/>
                </a:solidFill>
                <a:latin typeface="Arial" charset="0"/>
                <a:ea typeface="微软雅黑"/>
                <a:cs typeface="Arial" charset="0"/>
              </a:endParaRPr>
            </a:p>
          </p:txBody>
        </p:sp>
        <p:sp>
          <p:nvSpPr>
            <p:cNvPr id="28" name="TextBox 27"/>
            <p:cNvSpPr txBox="1"/>
            <p:nvPr/>
          </p:nvSpPr>
          <p:spPr>
            <a:xfrm>
              <a:off x="6324447"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合并CV查表A.1</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定重复次数 n</a:t>
              </a:r>
              <a:endParaRPr sz="1400" b="0">
                <a:solidFill>
                  <a:srgbClr val="6B7280"/>
                </a:solidFill>
                <a:latin typeface="Arial" charset="0"/>
                <a:ea typeface="微软雅黑"/>
                <a:cs typeface="Arial" charset="0"/>
              </a:endParaRPr>
            </a:p>
          </p:txBody>
        </p:sp>
        <p:sp>
          <p:nvSpPr>
            <p:cNvPr id="29" name="BADGE"/>
            <p:cNvSpPr/>
            <p:nvPr/>
          </p:nvSpPr>
          <p:spPr>
            <a:xfrm>
              <a:off x="6306159"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√(ΣCVi²/n)</a:t>
              </a:r>
              <a:endParaRPr sz="1200" b="1">
                <a:solidFill>
                  <a:srgbClr val="FFFFFF"/>
                </a:solidFill>
                <a:latin typeface="Arial" charset="0"/>
                <a:ea typeface="微软雅黑"/>
                <a:cs typeface="Arial" charset="0"/>
              </a:endParaRPr>
            </a:p>
          </p:txBody>
        </p:sp>
      </p:grpSp>
      <p:cxnSp>
        <p:nvCxnSpPr>
          <p:cNvPr id="30" name="ARROW"/>
          <p:cNvCxnSpPr/>
          <p:nvPr/>
        </p:nvCxnSpPr>
        <p:spPr>
          <a:xfrm>
            <a:off x="788090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1" name="FLOW"/>
          <p:cNvGrpSpPr/>
          <p:nvPr/>
        </p:nvGrpSpPr>
        <p:grpSpPr>
          <a:xfrm>
            <a:off x="8127796" y="1554480"/>
            <a:ext cx="1620469" cy="1463040"/>
            <a:chOff x="8127796" y="1554480"/>
            <a:chExt cx="1620469" cy="1463040"/>
          </a:xfrm>
        </p:grpSpPr>
        <p:sp>
          <p:nvSpPr>
            <p:cNvPr id="32" name="Rounded Rectangle 31"/>
            <p:cNvSpPr/>
            <p:nvPr/>
          </p:nvSpPr>
          <p:spPr>
            <a:xfrm>
              <a:off x="8127796"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923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⑤</a:t>
              </a:r>
              <a:endParaRPr sz="1600" b="1">
                <a:solidFill>
                  <a:srgbClr val="E8833A"/>
                </a:solidFill>
                <a:latin typeface="Arial" charset="0"/>
                <a:ea typeface="微软雅黑"/>
                <a:cs typeface="Arial" charset="0"/>
              </a:endParaRPr>
            </a:p>
          </p:txBody>
        </p:sp>
        <p:sp>
          <p:nvSpPr>
            <p:cNvPr id="34" name="TextBox 33"/>
            <p:cNvSpPr txBox="1"/>
            <p:nvPr/>
          </p:nvSpPr>
          <p:spPr>
            <a:xfrm>
              <a:off x="8219236"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计算R</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极差÷总均值</a:t>
              </a:r>
              <a:endParaRPr sz="1400" b="0">
                <a:solidFill>
                  <a:srgbClr val="6B7280"/>
                </a:solidFill>
                <a:latin typeface="Arial" charset="0"/>
                <a:ea typeface="微软雅黑"/>
                <a:cs typeface="Arial" charset="0"/>
              </a:endParaRPr>
            </a:p>
          </p:txBody>
        </p:sp>
        <p:sp>
          <p:nvSpPr>
            <p:cNvPr id="35" name="BADGE"/>
            <p:cNvSpPr/>
            <p:nvPr/>
          </p:nvSpPr>
          <p:spPr>
            <a:xfrm>
              <a:off x="8200948"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(Xmax−Xmin)/X̄</a:t>
              </a:r>
              <a:endParaRPr sz="1200" b="1">
                <a:solidFill>
                  <a:srgbClr val="FFFFFF"/>
                </a:solidFill>
                <a:latin typeface="Arial" charset="0"/>
                <a:ea typeface="微软雅黑"/>
                <a:cs typeface="Arial" charset="0"/>
              </a:endParaRPr>
            </a:p>
          </p:txBody>
        </p:sp>
      </p:grpSp>
      <p:cxnSp>
        <p:nvCxnSpPr>
          <p:cNvPr id="36" name="ARROW"/>
          <p:cNvCxnSpPr/>
          <p:nvPr/>
        </p:nvCxnSpPr>
        <p:spPr>
          <a:xfrm>
            <a:off x="977569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0022586" y="1554480"/>
            <a:ext cx="1620469" cy="1463040"/>
            <a:chOff x="10022586" y="1554480"/>
            <a:chExt cx="1620469" cy="1463040"/>
          </a:xfrm>
        </p:grpSpPr>
        <p:sp>
          <p:nvSpPr>
            <p:cNvPr id="38" name="Rounded Rectangle 37"/>
            <p:cNvSpPr/>
            <p:nvPr/>
          </p:nvSpPr>
          <p:spPr>
            <a:xfrm>
              <a:off x="10022586" y="1554480"/>
              <a:ext cx="1620469" cy="1463040"/>
            </a:xfrm>
            <a:prstGeom prst="roundRect">
              <a:avLst>
                <a:gd name="adj" fmla="val 5000"/>
              </a:avLst>
            </a:prstGeom>
            <a:solidFill>
              <a:srgbClr val="F3F5F7"/>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1402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⑥</a:t>
              </a:r>
              <a:endParaRPr sz="1600" b="1">
                <a:solidFill>
                  <a:srgbClr val="E8833A"/>
                </a:solidFill>
                <a:latin typeface="Arial" charset="0"/>
                <a:ea typeface="微软雅黑"/>
                <a:cs typeface="Arial" charset="0"/>
              </a:endParaRPr>
            </a:p>
          </p:txBody>
        </p:sp>
        <p:sp>
          <p:nvSpPr>
            <p:cNvPr id="40" name="TextBox 39"/>
            <p:cNvSpPr txBox="1"/>
            <p:nvPr/>
          </p:nvSpPr>
          <p:spPr>
            <a:xfrm>
              <a:off x="10114026"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R≤要求则通过</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否则剔除后再比</a:t>
              </a:r>
              <a:endParaRPr sz="1400" b="0">
                <a:solidFill>
                  <a:srgbClr val="6B7280"/>
                </a:solidFill>
                <a:latin typeface="Arial" charset="0"/>
                <a:ea typeface="微软雅黑"/>
                <a:cs typeface="Arial" charset="0"/>
              </a:endParaRPr>
            </a:p>
          </p:txBody>
        </p:sp>
        <p:sp>
          <p:nvSpPr>
            <p:cNvPr id="41" name="BADGE"/>
            <p:cNvSpPr/>
            <p:nvPr/>
          </p:nvSpPr>
          <p:spPr>
            <a:xfrm>
              <a:off x="10095738" y="2688336"/>
              <a:ext cx="1474165" cy="256032"/>
            </a:xfrm>
            <a:prstGeom prst="roundRect">
              <a:avLst>
                <a:gd name="adj" fmla="val 28571"/>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R≤要求</a:t>
              </a:r>
              <a:endParaRPr sz="1200" b="1">
                <a:solidFill>
                  <a:srgbClr val="FFFFFF"/>
                </a:solidFill>
                <a:latin typeface="Arial" charset="0"/>
                <a:ea typeface="微软雅黑"/>
                <a:cs typeface="Arial" charset="0"/>
              </a:endParaRPr>
            </a:p>
          </p:txBody>
        </p:sp>
      </p:grpSp>
      <p:grpSp>
        <p:nvGrpSpPr>
          <p:cNvPr id="42" name="QBOX"/>
          <p:cNvGrpSpPr/>
          <p:nvPr/>
        </p:nvGrpSpPr>
        <p:grpSpPr>
          <a:xfrm>
            <a:off x="548640" y="3383279"/>
            <a:ext cx="7320076" cy="1316736"/>
            <a:chOff x="548640" y="3383279"/>
            <a:chExt cx="7320076" cy="1316736"/>
          </a:xfrm>
        </p:grpSpPr>
        <p:sp>
          <p:nvSpPr>
            <p:cNvPr id="43" name="Rounded Rectangle 42"/>
            <p:cNvSpPr/>
            <p:nvPr/>
          </p:nvSpPr>
          <p:spPr>
            <a:xfrm>
              <a:off x="548640" y="3383279"/>
              <a:ext cx="7320076" cy="1316736"/>
            </a:xfrm>
            <a:prstGeom prst="roundRect">
              <a:avLst>
                <a:gd name="adj" fmla="val 555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 y="34289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45" name="TextBox 44"/>
            <p:cNvSpPr txBox="1"/>
            <p:nvPr/>
          </p:nvSpPr>
          <p:spPr>
            <a:xfrm>
              <a:off x="960120" y="3520439"/>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适用时，可依据实验室所用测量系统的不精密度，确定比对样本的浓度范围和重复检测次数，比对方案的制定可参考 </a:t>
              </a:r>
              <a:r>
                <a:rPr sz="1800" b="0">
                  <a:solidFill>
                    <a:srgbClr val="222222"/>
                  </a:solidFill>
                  <a:latin typeface="Arial" charset="0"/>
                  <a:ea typeface="微软雅黑"/>
                  <a:cs typeface="Arial" charset="0"/>
                </a:rPr>
                <a:t>WS/T 407《</a:t>
              </a:r>
              <a:r>
                <a:rPr sz="1800" b="0">
                  <a:solidFill>
                    <a:srgbClr val="222222"/>
                  </a:solidFill>
                  <a:latin typeface="Arial" charset="0"/>
                  <a:ea typeface="微软雅黑"/>
                  <a:cs typeface="Arial" charset="0"/>
                </a:rPr>
                <a:t>医疗机构内定量检验结果的可比性验证指南</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a:t>
              </a:r>
              <a:endParaRPr sz="1800" b="0">
                <a:solidFill>
                  <a:srgbClr val="222222"/>
                </a:solidFill>
                <a:latin typeface="Arial" charset="0"/>
                <a:ea typeface="微软雅黑"/>
                <a:cs typeface="Arial" charset="0"/>
              </a:endParaRPr>
            </a:p>
          </p:txBody>
        </p:sp>
        <p:sp>
          <p:nvSpPr>
            <p:cNvPr id="46" name="CITE"/>
            <p:cNvSpPr txBox="1"/>
            <p:nvPr/>
          </p:nvSpPr>
          <p:spPr>
            <a:xfrm>
              <a:off x="5697404" y="4361687"/>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7.2.3</a:t>
              </a:r>
              <a:endParaRPr sz="1200" b="0">
                <a:solidFill>
                  <a:srgbClr val="1F3A5F"/>
                </a:solidFill>
                <a:latin typeface="Arial" charset="0"/>
                <a:ea typeface="微软雅黑"/>
                <a:cs typeface="Arial" charset="0"/>
              </a:endParaRPr>
            </a:p>
          </p:txBody>
        </p:sp>
      </p:grpSp>
      <p:pic>
        <p:nvPicPr>
          <p:cNvPr id="47" name="NEWIMG" descr="30_1.png"/>
          <p:cNvPicPr>
            <a:picLocks noChangeAspect="1"/>
          </p:cNvPicPr>
          <p:nvPr/>
        </p:nvPicPr>
        <p:blipFill>
          <a:blip r:embed="rId1"/>
          <a:stretch>
            <a:fillRect/>
          </a:stretch>
        </p:blipFill>
        <p:spPr>
          <a:xfrm>
            <a:off x="8097316" y="3383279"/>
            <a:ext cx="1965960" cy="1965960"/>
          </a:xfrm>
          <a:prstGeom prst="roundRect">
            <a:avLst>
              <a:gd name="adj" fmla="val 3720"/>
            </a:avLst>
          </a:prstGeom>
        </p:spPr>
      </p:pic>
      <p:sp>
        <p:nvSpPr>
          <p:cNvPr id="48" name="TextBox 47"/>
          <p:cNvSpPr txBox="1"/>
          <p:nvPr/>
        </p:nvSpPr>
        <p:spPr>
          <a:xfrm>
            <a:off x="8097316" y="5404104"/>
            <a:ext cx="3545738"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示例图：不精密度小 vs 大</a:t>
            </a:r>
            <a:endParaRPr sz="1200" b="0">
              <a:solidFill>
                <a:srgbClr val="6B7280"/>
              </a:solidFill>
              <a:latin typeface="Arial" charset="0"/>
              <a:ea typeface="微软雅黑"/>
              <a:cs typeface="Arial" charset="0"/>
            </a:endParaRPr>
          </a:p>
        </p:txBody>
      </p:sp>
      <p:pic>
        <p:nvPicPr>
          <p:cNvPr id="49"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8 </a:t>
            </a:r>
            <a:r>
              <a:rPr sz="2800" b="1">
                <a:solidFill>
                  <a:srgbClr val="1F3A5F"/>
                </a:solidFill>
                <a:latin typeface="Arial" charset="0"/>
                <a:ea typeface="微软雅黑"/>
                <a:cs typeface="Arial" charset="0"/>
              </a:rPr>
              <a:t>相关措施</a:t>
            </a:r>
            <a:endParaRPr sz="2800" b="1">
              <a:solidFill>
                <a:srgbClr val="1F3A5F"/>
              </a:solidFill>
              <a:latin typeface="Arial" charset="0"/>
              <a:ea typeface="微软雅黑"/>
              <a:cs typeface="Arial" charset="0"/>
            </a:endParaRPr>
          </a:p>
        </p:txBody>
      </p:sp>
      <p:pic>
        <p:nvPicPr>
          <p:cNvPr id="4" name="NEWIMG_CORNER" descr="31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42</a:t>
            </a:r>
            <a:endParaRPr sz="1200" b="0">
              <a:solidFill>
                <a:srgbClr val="6B7280"/>
              </a:solidFill>
              <a:latin typeface="Arial" charset="0"/>
              <a:ea typeface="微软雅黑"/>
              <a:cs typeface="Arial" charset="0"/>
            </a:endParaRPr>
          </a:p>
        </p:txBody>
      </p:sp>
      <p:sp>
        <p:nvSpPr>
          <p:cNvPr id="7"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8</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5318607" cy="3963416"/>
            <a:chOff x="548640" y="1554480"/>
            <a:chExt cx="5318607" cy="3963416"/>
          </a:xfrm>
        </p:grpSpPr>
        <p:sp>
          <p:nvSpPr>
            <p:cNvPr id="9" name="Rounded Rectangle 8"/>
            <p:cNvSpPr/>
            <p:nvPr/>
          </p:nvSpPr>
          <p:spPr>
            <a:xfrm>
              <a:off x="548640"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4769967" cy="3698240"/>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2E9E5B"/>
                  </a:solidFill>
                  <a:latin typeface="Arial" charset="0"/>
                  <a:ea typeface="微软雅黑"/>
                  <a:cs typeface="Arial" charset="0"/>
                </a:rPr>
                <a:t>具有计量学可比性</a:t>
              </a:r>
              <a:endParaRPr sz="1700" b="1">
                <a:solidFill>
                  <a:srgbClr val="2E9E5B"/>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应根据 </a:t>
              </a:r>
              <a:r>
                <a:rPr sz="1700" b="0">
                  <a:solidFill>
                    <a:srgbClr val="222222"/>
                  </a:solidFill>
                  <a:latin typeface="Arial" charset="0"/>
                  <a:ea typeface="微软雅黑"/>
                  <a:cs typeface="Arial" charset="0"/>
                </a:rPr>
                <a:t>4.3 </a:t>
              </a:r>
              <a:r>
                <a:rPr sz="1700" b="0">
                  <a:solidFill>
                    <a:srgbClr val="222222"/>
                  </a:solidFill>
                  <a:latin typeface="Arial" charset="0"/>
                  <a:ea typeface="微软雅黑"/>
                  <a:cs typeface="Arial" charset="0"/>
                </a:rPr>
                <a:t>的要求、</a:t>
              </a:r>
              <a:r>
                <a:rPr sz="1700" b="0">
                  <a:solidFill>
                    <a:srgbClr val="222222"/>
                  </a:solidFill>
                  <a:latin typeface="Arial" charset="0"/>
                  <a:ea typeface="微软雅黑"/>
                  <a:cs typeface="Arial" charset="0"/>
                </a:rPr>
                <a:t>EQA/PT </a:t>
              </a:r>
              <a:r>
                <a:rPr sz="1700" b="0">
                  <a:solidFill>
                    <a:srgbClr val="222222"/>
                  </a:solidFill>
                  <a:latin typeface="Arial" charset="0"/>
                  <a:ea typeface="微软雅黑"/>
                  <a:cs typeface="Arial" charset="0"/>
                </a:rPr>
                <a:t>结果、正确度验证结果及临床医生反馈的意见等，评估并确定结果偏离较大的检测系统。 对于具有计量学可比性的检测系统结果，实验室可合理应用修正值或修正因子建立检测系统间结果的可比性，并保留相关记录。</a:t>
              </a:r>
              <a:endParaRPr sz="1700" b="0">
                <a:solidFill>
                  <a:srgbClr val="222222"/>
                </a:solidFill>
                <a:latin typeface="Arial" charset="0"/>
                <a:ea typeface="微软雅黑"/>
                <a:cs typeface="Arial" charset="0"/>
              </a:endParaRPr>
            </a:p>
            <a:p>
              <a:pPr algn="l">
                <a:lnSpc>
                  <a:spcPts val="2040"/>
                </a:lnSpc>
                <a:spcBef>
                  <a:spcPts val="400"/>
                </a:spcBef>
                <a:spcAft>
                  <a:spcPts val="0"/>
                </a:spcAft>
                <a:buNone/>
              </a:pPr>
              <a:r>
                <a:rPr sz="1700" b="1">
                  <a:solidFill>
                    <a:srgbClr val="2E9E5B"/>
                  </a:solidFill>
                  <a:latin typeface="Arial" charset="0"/>
                  <a:ea typeface="微软雅黑"/>
                  <a:cs typeface="Arial" charset="0"/>
                </a:rPr>
                <a:t>→ 修正值/修正因子 + 记录</a:t>
              </a:r>
              <a:endParaRPr sz="1700" b="1">
                <a:solidFill>
                  <a:srgbClr val="2E9E5B"/>
                </a:solidFill>
                <a:latin typeface="Arial" charset="0"/>
                <a:ea typeface="微软雅黑"/>
                <a:cs typeface="Arial" charset="0"/>
              </a:endParaRPr>
            </a:p>
          </p:txBody>
        </p:sp>
        <p:sp>
          <p:nvSpPr>
            <p:cNvPr id="12" name="CITE"/>
            <p:cNvSpPr txBox="1"/>
            <p:nvPr/>
          </p:nvSpPr>
          <p:spPr>
            <a:xfrm>
              <a:off x="3965397" y="5141468"/>
              <a:ext cx="17646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8</a:t>
              </a:r>
              <a:endParaRPr sz="1200" b="0">
                <a:solidFill>
                  <a:srgbClr val="1F3A5F"/>
                </a:solidFill>
                <a:latin typeface="Arial" charset="0"/>
                <a:ea typeface="微软雅黑"/>
                <a:cs typeface="Arial" charset="0"/>
              </a:endParaRPr>
            </a:p>
          </p:txBody>
        </p:sp>
      </p:grpSp>
      <p:grpSp>
        <p:nvGrpSpPr>
          <p:cNvPr id="13" name="QBOX"/>
          <p:cNvGrpSpPr/>
          <p:nvPr/>
        </p:nvGrpSpPr>
        <p:grpSpPr>
          <a:xfrm>
            <a:off x="6324447" y="1554480"/>
            <a:ext cx="5318607" cy="3963416"/>
            <a:chOff x="6324447" y="1554480"/>
            <a:chExt cx="5318607" cy="3963416"/>
          </a:xfrm>
        </p:grpSpPr>
        <p:sp>
          <p:nvSpPr>
            <p:cNvPr id="14" name="Rounded Rectangle 13"/>
            <p:cNvSpPr/>
            <p:nvPr/>
          </p:nvSpPr>
          <p:spPr>
            <a:xfrm>
              <a:off x="6324447"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0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6" name="TextBox 15"/>
            <p:cNvSpPr txBox="1"/>
            <p:nvPr/>
          </p:nvSpPr>
          <p:spPr>
            <a:xfrm>
              <a:off x="6735927" y="1691639"/>
              <a:ext cx="4769967" cy="3698240"/>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E8833A"/>
                  </a:solidFill>
                  <a:latin typeface="Arial" charset="0"/>
                  <a:ea typeface="微软雅黑"/>
                  <a:cs typeface="Arial" charset="0"/>
                </a:rPr>
                <a:t>不具有计量学可比性</a:t>
              </a:r>
              <a:endParaRPr sz="1700" b="1">
                <a:solidFill>
                  <a:srgbClr val="E8833A"/>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对于符合 </a:t>
              </a:r>
              <a:r>
                <a:rPr sz="1700" b="0">
                  <a:solidFill>
                    <a:srgbClr val="222222"/>
                  </a:solidFill>
                  <a:latin typeface="Arial" charset="0"/>
                  <a:ea typeface="微软雅黑"/>
                  <a:cs typeface="Arial" charset="0"/>
                </a:rPr>
                <a:t>4.2 </a:t>
              </a:r>
              <a:r>
                <a:rPr sz="1700" b="0">
                  <a:solidFill>
                    <a:srgbClr val="222222"/>
                  </a:solidFill>
                  <a:latin typeface="Arial" charset="0"/>
                  <a:ea typeface="微软雅黑"/>
                  <a:cs typeface="Arial" charset="0"/>
                </a:rPr>
                <a:t>规定的可比性验证条件，但不具有计量学可比性的检测系统 （通常表现为没有可获得的有证标准物质、或检测方法学原理不同，或参考区间不同）、不同样本类型（如血清、血浆、全血）及经过纠正或调整，不同测量系统间的可比性仍不满足判断标准时，实验室应采取有效措施避免向临床发出具有不同临床意义或解释的结果，或与用户讨论不可比结果对临床活动的影响，以及如何正确应用不同测量系统的检测结果（包括结果偏倚情况），并记录</a:t>
              </a:r>
              <a:endParaRPr sz="1700" b="0">
                <a:solidFill>
                  <a:srgbClr val="222222"/>
                </a:solidFill>
                <a:latin typeface="Arial" charset="0"/>
                <a:ea typeface="微软雅黑"/>
                <a:cs typeface="Arial" charset="0"/>
              </a:endParaRPr>
            </a:p>
            <a:p>
              <a:pPr algn="l">
                <a:lnSpc>
                  <a:spcPts val="2040"/>
                </a:lnSpc>
                <a:spcBef>
                  <a:spcPts val="400"/>
                </a:spcBef>
                <a:spcAft>
                  <a:spcPts val="0"/>
                </a:spcAft>
                <a:buNone/>
              </a:pPr>
              <a:r>
                <a:rPr sz="1700" b="1">
                  <a:solidFill>
                    <a:srgbClr val="E8833A"/>
                  </a:solidFill>
                  <a:latin typeface="Arial" charset="0"/>
                  <a:ea typeface="微软雅黑"/>
                  <a:cs typeface="Arial" charset="0"/>
                </a:rPr>
                <a:t>→ 避免发出不同临床意义的结果，或与用户讨论 → 记录</a:t>
              </a:r>
              <a:endParaRPr sz="1700" b="1">
                <a:solidFill>
                  <a:srgbClr val="E8833A"/>
                </a:solidFill>
                <a:latin typeface="Arial" charset="0"/>
                <a:ea typeface="微软雅黑"/>
                <a:cs typeface="Arial" charset="0"/>
              </a:endParaRPr>
            </a:p>
          </p:txBody>
        </p:sp>
        <p:sp>
          <p:nvSpPr>
            <p:cNvPr id="17" name="CITE"/>
            <p:cNvSpPr txBox="1"/>
            <p:nvPr/>
          </p:nvSpPr>
          <p:spPr>
            <a:xfrm>
              <a:off x="9741205" y="5141468"/>
              <a:ext cx="17646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8</a:t>
              </a:r>
              <a:endParaRPr sz="1200" b="0">
                <a:solidFill>
                  <a:srgbClr val="1F3A5F"/>
                </a:solidFill>
                <a:latin typeface="Arial" charset="0"/>
                <a:ea typeface="微软雅黑"/>
                <a:cs typeface="Arial" charset="0"/>
              </a:endParaRPr>
            </a:p>
          </p:txBody>
        </p:sp>
      </p:grpSp>
      <p:sp>
        <p:nvSpPr>
          <p:cNvPr id="18" name="BADGE"/>
          <p:cNvSpPr/>
          <p:nvPr/>
        </p:nvSpPr>
        <p:spPr>
          <a:xfrm>
            <a:off x="5885535" y="33990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pic>
        <p:nvPicPr>
          <p:cNvPr id="19"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txBox="1"/>
          <p:nvPr/>
        </p:nvSpPr>
        <p:spPr>
          <a:xfrm>
            <a:off x="548640" y="676656"/>
            <a:ext cx="614578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我科多系统项目清单与程序文件对照</a:t>
            </a:r>
            <a:endParaRPr sz="2800" b="1">
              <a:solidFill>
                <a:srgbClr val="1F3A5F"/>
              </a:solidFill>
              <a:latin typeface="Arial" charset="0"/>
              <a:ea typeface="微软雅黑"/>
              <a:cs typeface="Arial" charset="0"/>
            </a:endParaRPr>
          </a:p>
        </p:txBody>
      </p:sp>
      <p:pic>
        <p:nvPicPr>
          <p:cNvPr id="4" name="NEWIMG_CORNER" descr="38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43</a:t>
            </a:r>
            <a:endParaRPr sz="1200" b="0">
              <a:solidFill>
                <a:srgbClr val="6B7280"/>
              </a:solidFill>
              <a:latin typeface="Arial" charset="0"/>
              <a:ea typeface="微软雅黑"/>
              <a:cs typeface="Arial" charset="0"/>
            </a:endParaRPr>
          </a:p>
        </p:txBody>
      </p:sp>
      <p:sp>
        <p:nvSpPr>
          <p:cNvPr id="7" name="SRCBADGE"/>
          <p:cNvSpPr/>
          <p:nvPr/>
        </p:nvSpPr>
        <p:spPr>
          <a:xfrm>
            <a:off x="9087525" y="5852160"/>
            <a:ext cx="2555529" cy="256032"/>
          </a:xfrm>
          <a:prstGeom prst="roundRect">
            <a:avLst>
              <a:gd name="adj" fmla="val 28571"/>
            </a:avLst>
          </a:prstGeom>
          <a:solidFill>
            <a:srgbClr val="FFFFFF"/>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E8833A"/>
                </a:solidFill>
                <a:latin typeface="Arial" charset="0"/>
                <a:ea typeface="微软雅黑"/>
                <a:cs typeface="Arial" charset="0"/>
              </a:rPr>
              <a:t>来源：GL047 5；LZJY-2-CX-38</a:t>
            </a:r>
            <a:endParaRPr sz="1200" b="1">
              <a:solidFill>
                <a:srgbClr val="E8833A"/>
              </a:solidFill>
              <a:latin typeface="Arial" charset="0"/>
              <a:ea typeface="微软雅黑"/>
              <a:cs typeface="Arial" charset="0"/>
            </a:endParaRPr>
          </a:p>
        </p:txBody>
      </p:sp>
      <p:sp>
        <p:nvSpPr>
          <p:cNvPr id="8" name="TextBox 7"/>
          <p:cNvSpPr txBox="1"/>
          <p:nvPr/>
        </p:nvSpPr>
        <p:spPr>
          <a:xfrm>
            <a:off x="548640" y="1554480"/>
            <a:ext cx="5852160" cy="274320"/>
          </a:xfrm>
          <a:prstGeom prst="rect">
            <a:avLst/>
          </a:prstGeom>
          <a:noFill/>
        </p:spPr>
        <p:txBody>
          <a:bodyPr wrap="square" lIns="0" tIns="0" rIns="0" bIns="0" anchor="t">
            <a:noAutofit/>
          </a:bodyPr>
          <a:lstStyle/>
          <a:p>
            <a:pPr algn="l">
              <a:lnSpc>
                <a:spcPts val="1840"/>
              </a:lnSpc>
              <a:spcBef>
                <a:spcPts val="0"/>
              </a:spcBef>
              <a:spcAft>
                <a:spcPts val="0"/>
              </a:spcAft>
              <a:buNone/>
            </a:pPr>
            <a:r>
              <a:rPr sz="1600" b="1">
                <a:solidFill>
                  <a:srgbClr val="1F3A5F"/>
                </a:solidFill>
                <a:latin typeface="Arial" charset="0"/>
                <a:ea typeface="微软雅黑"/>
                <a:cs typeface="Arial" charset="0"/>
              </a:rPr>
              <a:t>① 多系统项目清单</a:t>
            </a:r>
            <a:endParaRPr sz="1600" b="1">
              <a:solidFill>
                <a:srgbClr val="1F3A5F"/>
              </a:solidFill>
              <a:latin typeface="Arial" charset="0"/>
              <a:ea typeface="微软雅黑"/>
              <a:cs typeface="Arial" charset="0"/>
            </a:endParaRPr>
          </a:p>
        </p:txBody>
      </p:sp>
      <p:graphicFrame>
        <p:nvGraphicFramePr>
          <p:cNvPr id="9" name="TABLE"/>
          <p:cNvGraphicFramePr>
            <a:graphicFrameLocks noGrp="1"/>
          </p:cNvGraphicFramePr>
          <p:nvPr/>
        </p:nvGraphicFramePr>
        <p:xfrm>
          <a:off x="548640" y="1920240"/>
          <a:ext cx="5852160" cy="3005328"/>
        </p:xfrm>
        <a:graphic>
          <a:graphicData uri="http://schemas.openxmlformats.org/drawingml/2006/table">
            <a:tbl>
              <a:tblPr firstRow="1">
                <a:tableStyleId>{5940675A-B579-460E-94D1-54222C63F5DA}</a:tableStyleId>
              </a:tblPr>
              <a:tblGrid>
                <a:gridCol w="1133856"/>
                <a:gridCol w="786384"/>
                <a:gridCol w="786384"/>
                <a:gridCol w="786384"/>
                <a:gridCol w="786384"/>
                <a:gridCol w="786384"/>
                <a:gridCol w="786384"/>
              </a:tblGrid>
              <a:tr h="500888">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项目</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系统A</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系统B</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系统C</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适用方案</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上次比对日期</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结果</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生化</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血细胞分析</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凝血</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POCT血糖</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血气</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bl>
          </a:graphicData>
        </a:graphic>
      </p:graphicFrame>
      <p:sp>
        <p:nvSpPr>
          <p:cNvPr id="10" name="TextBox 9"/>
          <p:cNvSpPr txBox="1"/>
          <p:nvPr/>
        </p:nvSpPr>
        <p:spPr>
          <a:xfrm>
            <a:off x="548640" y="5062728"/>
            <a:ext cx="5852160"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charset="0"/>
                <a:ea typeface="微软雅黑"/>
                <a:cs typeface="Arial" charset="0"/>
              </a:rPr>
              <a:t>适用方案：参比法（≤4个系统）/ 均值法（&gt;4个）/ WS/T 407（需按CV定重复次数）</a:t>
            </a:r>
            <a:endParaRPr sz="1400" b="0">
              <a:solidFill>
                <a:srgbClr val="6B7280"/>
              </a:solidFill>
              <a:latin typeface="Arial" charset="0"/>
              <a:ea typeface="微软雅黑"/>
              <a:cs typeface="Arial" charset="0"/>
            </a:endParaRPr>
          </a:p>
        </p:txBody>
      </p:sp>
      <p:grpSp>
        <p:nvGrpSpPr>
          <p:cNvPr id="11" name="QBOX"/>
          <p:cNvGrpSpPr/>
          <p:nvPr/>
        </p:nvGrpSpPr>
        <p:grpSpPr>
          <a:xfrm>
            <a:off x="548640" y="5736336"/>
            <a:ext cx="5852160" cy="487680"/>
            <a:chOff x="548640" y="5736336"/>
            <a:chExt cx="5852160" cy="487680"/>
          </a:xfrm>
        </p:grpSpPr>
        <p:sp>
          <p:nvSpPr>
            <p:cNvPr id="12" name="Rounded Rectangle 11"/>
            <p:cNvSpPr/>
            <p:nvPr/>
          </p:nvSpPr>
          <p:spPr>
            <a:xfrm>
              <a:off x="548640" y="5736336"/>
              <a:ext cx="5852160" cy="487680"/>
            </a:xfrm>
            <a:prstGeom prst="roundRect">
              <a:avLst>
                <a:gd name="adj" fmla="val 1500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3496"/>
              <a:ext cx="5577840"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 依据可补充：CNAS-CL02:2023、WS/T 885—2026</a:t>
              </a:r>
              <a:endParaRPr sz="1400" b="0">
                <a:solidFill>
                  <a:srgbClr val="222222"/>
                </a:solidFill>
                <a:latin typeface="Arial" charset="0"/>
                <a:ea typeface="微软雅黑"/>
                <a:cs typeface="Arial" charset="0"/>
              </a:endParaRPr>
            </a:p>
          </p:txBody>
        </p:sp>
      </p:grpSp>
      <p:sp>
        <p:nvSpPr>
          <p:cNvPr id="14" name="TextBox 13"/>
          <p:cNvSpPr txBox="1"/>
          <p:nvPr/>
        </p:nvSpPr>
        <p:spPr>
          <a:xfrm>
            <a:off x="6766560" y="1554480"/>
            <a:ext cx="4876495" cy="274320"/>
          </a:xfrm>
          <a:prstGeom prst="rect">
            <a:avLst/>
          </a:prstGeom>
          <a:noFill/>
        </p:spPr>
        <p:txBody>
          <a:bodyPr wrap="square" lIns="0" tIns="0" rIns="0" bIns="0" anchor="t">
            <a:noAutofit/>
          </a:bodyPr>
          <a:lstStyle/>
          <a:p>
            <a:pPr algn="l">
              <a:lnSpc>
                <a:spcPts val="1840"/>
              </a:lnSpc>
              <a:spcBef>
                <a:spcPts val="0"/>
              </a:spcBef>
              <a:spcAft>
                <a:spcPts val="0"/>
              </a:spcAft>
              <a:buNone/>
            </a:pPr>
            <a:r>
              <a:rPr sz="1600" b="1">
                <a:solidFill>
                  <a:srgbClr val="1F3A5F"/>
                </a:solidFill>
                <a:latin typeface="Arial" charset="0"/>
                <a:ea typeface="微软雅黑"/>
                <a:cs typeface="Arial" charset="0"/>
              </a:rPr>
              <a:t>② GL047第5条要求 ↔ 《比对管理程序》</a:t>
            </a:r>
            <a:endParaRPr sz="1600" b="1">
              <a:solidFill>
                <a:srgbClr val="1F3A5F"/>
              </a:solidFill>
              <a:latin typeface="Arial" charset="0"/>
              <a:ea typeface="微软雅黑"/>
              <a:cs typeface="Arial" charset="0"/>
            </a:endParaRPr>
          </a:p>
        </p:txBody>
      </p:sp>
      <p:graphicFrame>
        <p:nvGraphicFramePr>
          <p:cNvPr id="15" name="TABLE"/>
          <p:cNvGraphicFramePr>
            <a:graphicFrameLocks noGrp="1"/>
          </p:cNvGraphicFramePr>
          <p:nvPr/>
        </p:nvGraphicFramePr>
        <p:xfrm>
          <a:off x="6766560" y="1920240"/>
          <a:ext cx="4876495" cy="3138932"/>
        </p:xfrm>
        <a:graphic>
          <a:graphicData uri="http://schemas.openxmlformats.org/drawingml/2006/table">
            <a:tbl>
              <a:tblPr firstRow="1">
                <a:tableStyleId>{5940675A-B579-460E-94D1-54222C63F5DA}</a:tableStyleId>
              </a:tblPr>
              <a:tblGrid>
                <a:gridCol w="1325880"/>
                <a:gridCol w="365760"/>
                <a:gridCol w="3184855"/>
              </a:tblGrid>
              <a:tr h="500888">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GL047第5条要求</a:t>
                      </a:r>
                      <a:endParaRPr sz="1400" b="1">
                        <a:solidFill>
                          <a:srgbClr val="FFFFFF"/>
                        </a:solidFill>
                        <a:latin typeface="Arial" charset="0"/>
                        <a:ea typeface="微软雅黑"/>
                        <a:cs typeface="Arial" charset="0"/>
                      </a:endParaRPr>
                    </a:p>
                  </a:txBody>
                  <a:tcPr marL="73152" marR="73152" marT="54864" marB="54864" anchor="ctr">
                    <a:solidFill>
                      <a:srgbClr val="1F3A5F"/>
                    </a:solidFill>
                  </a:tcPr>
                </a:tc>
                <a:tc>
                  <a:txBody>
                    <a:bodyPr wrap="square"/>
                    <a:lstStyle/>
                    <a:p>
                      <a:pPr algn="l">
                        <a:lnSpc>
                          <a:spcPts val="1540"/>
                        </a:lnSpc>
                        <a:spcBef>
                          <a:spcPts val="0"/>
                        </a:spcBef>
                        <a:spcAft>
                          <a:spcPts val="0"/>
                        </a:spcAft>
                        <a:buNone/>
                      </a:pP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LZJY-2-CX-38（第5/2版，2022-09-01实施）</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职责</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实施流程</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记录</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相关文件</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样本类型与数量</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判断标准</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数据处理方法</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验证时机</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bl>
          </a:graphicData>
        </a:graphic>
      </p:graphicFrame>
      <p:sp>
        <p:nvSpPr>
          <p:cNvPr id="16" name="TextBox 15"/>
          <p:cNvSpPr txBox="1"/>
          <p:nvPr/>
        </p:nvSpPr>
        <p:spPr>
          <a:xfrm>
            <a:off x="6766560" y="5196332"/>
            <a:ext cx="4876495"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charset="0"/>
                <a:ea typeface="微软雅黑"/>
                <a:cs typeface="Arial" charset="0"/>
              </a:rPr>
              <a:t>“未见”项可能在专业组作业指导书中，请主任确认</a:t>
            </a:r>
            <a:endParaRPr sz="1400" b="0">
              <a:solidFill>
                <a:srgbClr val="6B7280"/>
              </a:solidFill>
              <a:latin typeface="Arial" charset="0"/>
              <a:ea typeface="微软雅黑"/>
              <a:cs typeface="Arial" charset="0"/>
            </a:endParaRPr>
          </a:p>
        </p:txBody>
      </p:sp>
      <p:pic>
        <p:nvPicPr>
          <p:cNvPr id="17" name="LOGO" descr="logo_940.png"/>
          <p:cNvPicPr>
            <a:picLocks noChangeAspect="1"/>
          </p:cNvPicPr>
          <p:nvPr/>
        </p:nvPicPr>
        <p:blipFill>
          <a:blip r:embed="rId3"/>
          <a:stretch>
            <a:fillRect/>
          </a:stretch>
        </p:blipFill>
        <p:spPr>
          <a:xfrm>
            <a:off x="548640" y="6249924"/>
            <a:ext cx="310896" cy="31089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NEWIMG_HERO" descr="40_1r.png"/>
          <p:cNvPicPr>
            <a:picLocks noChangeAspect="1"/>
          </p:cNvPicPr>
          <p:nvPr/>
        </p:nvPicPr>
        <p:blipFill>
          <a:blip r:embed="rId4"/>
          <a:stretch>
            <a:fillRect/>
          </a:stretch>
        </p:blipFill>
        <p:spPr>
          <a:xfrm>
            <a:off x="0" y="0"/>
            <a:ext cx="12191695" cy="6858000"/>
          </a:xfrm>
          <a:prstGeom prst="rect">
            <a:avLst/>
          </a:prstGeom>
        </p:spPr>
      </p:pic>
      <p:sp>
        <p:nvSpPr>
          <p:cNvPr id="1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charset="0"/>
                <a:ea typeface="微软雅黑"/>
                <a:cs typeface="Arial" charset="0"/>
              </a:rPr>
              <a:t>44</a:t>
            </a:r>
            <a:endParaRPr sz="1200" b="0">
              <a:solidFill>
                <a:srgbClr val="C9D3DF"/>
              </a:solidFill>
              <a:latin typeface="Arial" charset="0"/>
              <a:ea typeface="微软雅黑"/>
              <a:cs typeface="Arial" charset="0"/>
            </a:endParaRPr>
          </a:p>
        </p:txBody>
      </p:sp>
      <p:pic>
        <p:nvPicPr>
          <p:cNvPr id="20" name="LOGO" descr="logo_940.png"/>
          <p:cNvPicPr>
            <a:picLocks noChangeAspect="1"/>
          </p:cNvPicPr>
          <p:nvPr/>
        </p:nvPicPr>
        <p:blipFill>
          <a:blip r:embed="rId3"/>
          <a:stretch>
            <a:fillRect/>
          </a:stretch>
        </p:blipFill>
        <p:spPr>
          <a:xfrm>
            <a:off x="548640" y="6249924"/>
            <a:ext cx="310896" cy="310896"/>
          </a:xfrm>
          <a:prstGeom prst="rect">
            <a:avLst/>
          </a:prstGeom>
        </p:spPr>
      </p:pic>
      <p:sp>
        <p:nvSpPr>
          <p:cNvPr id="22" name="TITLE"/>
          <p:cNvSpPr txBox="1"/>
          <p:nvPr/>
        </p:nvSpPr>
        <p:spPr>
          <a:xfrm>
            <a:off x="548640" y="676656"/>
            <a:ext cx="365760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FFFFFF"/>
                </a:solidFill>
                <a:latin typeface="Arial"/>
                <a:ea typeface="微软雅黑"/>
                <a:cs typeface="Arial"/>
              </a:rPr>
              <a:t>小结</a:t>
            </a:r>
          </a:p>
        </p:txBody>
      </p:sp>
      <p:grpSp>
        <p:nvGrpSpPr>
          <p:cNvPr id="2" name="CARD"/>
          <p:cNvGrpSpPr/>
          <p:nvPr/>
        </p:nvGrpSpPr>
        <p:grpSpPr>
          <a:xfrm>
            <a:off x="548640" y="1554480"/>
            <a:ext cx="1828800" cy="4005072"/>
            <a:chOff x="548640" y="1554480"/>
            <a:chExt cx="1828800" cy="4005072"/>
          </a:xfrm>
        </p:grpSpPr>
        <p:sp>
          <p:nvSpPr>
            <p:cNvPr id="23" name="Rounded Rectangle 22"/>
            <p:cNvSpPr/>
            <p:nvPr/>
          </p:nvSpPr>
          <p:spPr>
            <a:xfrm>
              <a:off x="548640" y="1554480"/>
              <a:ext cx="1828800" cy="4005072"/>
            </a:xfrm>
            <a:prstGeom prst="roundRect">
              <a:avLst>
                <a:gd name="adj" fmla="val 4000"/>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1691639"/>
              <a:ext cx="1554480"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什么时候比</a:t>
              </a:r>
            </a:p>
          </p:txBody>
        </p:sp>
        <p:sp>
          <p:nvSpPr>
            <p:cNvPr id="25" name="TextBox 24"/>
            <p:cNvSpPr txBox="1"/>
            <p:nvPr/>
          </p:nvSpPr>
          <p:spPr>
            <a:xfrm>
              <a:off x="685800" y="2103120"/>
              <a:ext cx="1554480"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FFFFFF"/>
                  </a:solidFill>
                  <a:latin typeface="Arial"/>
                  <a:ea typeface="微软雅黑"/>
                  <a:cs typeface="Arial"/>
                </a:rPr>
                <a:t>启用前／定期／要素变更</a:t>
              </a:r>
            </a:p>
          </p:txBody>
        </p:sp>
      </p:grpSp>
      <p:grpSp>
        <p:nvGrpSpPr>
          <p:cNvPr id="3" name="CARD"/>
          <p:cNvGrpSpPr/>
          <p:nvPr/>
        </p:nvGrpSpPr>
        <p:grpSpPr>
          <a:xfrm>
            <a:off x="2606040" y="1554480"/>
            <a:ext cx="5852160" cy="4005072"/>
            <a:chOff x="2606040" y="1554480"/>
            <a:chExt cx="5852160" cy="4005072"/>
          </a:xfrm>
        </p:grpSpPr>
        <p:sp>
          <p:nvSpPr>
            <p:cNvPr id="26" name="Rounded Rectangle 25"/>
            <p:cNvSpPr/>
            <p:nvPr/>
          </p:nvSpPr>
          <p:spPr>
            <a:xfrm>
              <a:off x="2606040" y="1554480"/>
              <a:ext cx="5852160" cy="4005072"/>
            </a:xfrm>
            <a:prstGeom prst="roundRect">
              <a:avLst>
                <a:gd name="adj" fmla="val 1826"/>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0" y="1691639"/>
              <a:ext cx="5577840"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怎么比</a:t>
              </a:r>
            </a:p>
          </p:txBody>
        </p:sp>
        <p:sp>
          <p:nvSpPr>
            <p:cNvPr id="28" name="TextBox 27"/>
            <p:cNvSpPr txBox="1"/>
            <p:nvPr/>
          </p:nvSpPr>
          <p:spPr>
            <a:xfrm>
              <a:off x="2743200" y="2103120"/>
              <a:ext cx="5577840" cy="3310127"/>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F3A266"/>
                  </a:solidFill>
                  <a:latin typeface="Arial"/>
                  <a:ea typeface="微软雅黑"/>
                  <a:cs typeface="Arial"/>
                </a:rPr>
                <a:t>1 选方案：</a:t>
              </a:r>
              <a:r>
                <a:rPr sz="1400" b="0">
                  <a:solidFill>
                    <a:srgbClr val="FFFFFF"/>
                  </a:solidFill>
                  <a:latin typeface="Arial"/>
                  <a:ea typeface="微软雅黑"/>
                  <a:cs typeface="Arial"/>
                </a:rPr>
                <a:t>检测系统≤4个，用参比系统比对法；&gt;4个，用均值法；需按不精密度确定样本浓度和重复检测次数时，参考WS/T 407。</a:t>
              </a:r>
              <a:r>
                <a:rPr sz="1200" b="0">
                  <a:solidFill>
                    <a:srgbClr val="9FB7D3"/>
                  </a:solidFill>
                  <a:latin typeface="Arial"/>
                  <a:ea typeface="微软雅黑"/>
                  <a:cs typeface="Arial"/>
                </a:rPr>
                <a:t>（GL047 7.1、7.2.3）</a:t>
              </a:r>
            </a:p>
            <a:p>
              <a:pPr algn="l">
                <a:lnSpc>
                  <a:spcPts val="1680"/>
                </a:lnSpc>
                <a:spcBef>
                  <a:spcPts val="600"/>
                </a:spcBef>
                <a:spcAft>
                  <a:spcPts val="0"/>
                </a:spcAft>
                <a:buNone/>
              </a:pPr>
              <a:r>
                <a:rPr sz="1400" b="1">
                  <a:solidFill>
                    <a:srgbClr val="F3A266"/>
                  </a:solidFill>
                  <a:latin typeface="Arial"/>
                  <a:ea typeface="微软雅黑"/>
                  <a:cs typeface="Arial"/>
                </a:rPr>
                <a:t>2 做准备：</a:t>
              </a:r>
              <a:r>
                <a:rPr sz="1400" b="0">
                  <a:solidFill>
                    <a:srgbClr val="FFFFFF"/>
                  </a:solidFill>
                  <a:latin typeface="Arial"/>
                  <a:ea typeface="微软雅黑"/>
                  <a:cs typeface="Arial"/>
                </a:rPr>
                <a:t>人员熟悉检测系统；关键性能经验证；试剂和校准品不宜更换批号；同时做好室内质控。样本用患者样本（抗凝剂相同），覆盖临床适宜区间，重点关注医学决定水平，不少于5例。</a:t>
              </a:r>
              <a:r>
                <a:rPr sz="1200" b="0">
                  <a:solidFill>
                    <a:srgbClr val="9FB7D3"/>
                  </a:solidFill>
                  <a:latin typeface="Arial"/>
                  <a:ea typeface="微软雅黑"/>
                  <a:cs typeface="Arial"/>
                </a:rPr>
                <a:t>（GL047 6）</a:t>
              </a:r>
            </a:p>
            <a:p>
              <a:pPr algn="l">
                <a:lnSpc>
                  <a:spcPts val="1680"/>
                </a:lnSpc>
                <a:spcBef>
                  <a:spcPts val="600"/>
                </a:spcBef>
                <a:spcAft>
                  <a:spcPts val="0"/>
                </a:spcAft>
                <a:buNone/>
              </a:pPr>
              <a:r>
                <a:rPr sz="1400" b="1">
                  <a:solidFill>
                    <a:srgbClr val="F3A266"/>
                  </a:solidFill>
                  <a:latin typeface="Arial"/>
                  <a:ea typeface="微软雅黑"/>
                  <a:cs typeface="Arial"/>
                </a:rPr>
                <a:t>3 按WS/T 407定参数：</a:t>
              </a:r>
              <a:r>
                <a:rPr sz="1400" b="0">
                  <a:solidFill>
                    <a:srgbClr val="FFFFFF"/>
                  </a:solidFill>
                  <a:latin typeface="Arial"/>
                  <a:ea typeface="微软雅黑"/>
                  <a:cs typeface="Arial"/>
                </a:rPr>
                <a:t>长期CV尽可能累计6个月；最大CV/最小CV&lt;2倍；至少2个浓度水平，浓度取m总×(1±20%)；合并CV查表A.1定重复次数。</a:t>
              </a:r>
              <a:r>
                <a:rPr sz="1200" b="0">
                  <a:solidFill>
                    <a:srgbClr val="9FB7D3"/>
                  </a:solidFill>
                  <a:latin typeface="Arial"/>
                  <a:ea typeface="微软雅黑"/>
                  <a:cs typeface="Arial"/>
                </a:rPr>
                <a:t>（WS/T 407 6.3–6.6）</a:t>
              </a:r>
            </a:p>
            <a:p>
              <a:pPr algn="l">
                <a:lnSpc>
                  <a:spcPts val="1680"/>
                </a:lnSpc>
                <a:spcBef>
                  <a:spcPts val="600"/>
                </a:spcBef>
                <a:spcAft>
                  <a:spcPts val="0"/>
                </a:spcAft>
                <a:buNone/>
              </a:pPr>
              <a:r>
                <a:rPr sz="1400" b="1">
                  <a:solidFill>
                    <a:srgbClr val="F3A266"/>
                  </a:solidFill>
                  <a:latin typeface="Arial"/>
                  <a:ea typeface="微软雅黑"/>
                  <a:cs typeface="Arial"/>
                </a:rPr>
                <a:t>4 算偏差：</a:t>
              </a:r>
              <a:r>
                <a:rPr sz="1400" b="0">
                  <a:solidFill>
                    <a:srgbClr val="FFFFFF"/>
                  </a:solidFill>
                  <a:latin typeface="Arial"/>
                  <a:ea typeface="微软雅黑"/>
                  <a:cs typeface="Arial"/>
                </a:rPr>
                <a:t>参比法：各系统与参比系统的偏差；均值法/WS/T 407：R=(Xmax−Xmin)/X̄×100%。</a:t>
              </a:r>
              <a:r>
                <a:rPr sz="1200" b="0">
                  <a:solidFill>
                    <a:srgbClr val="9FB7D3"/>
                  </a:solidFill>
                  <a:latin typeface="Arial"/>
                  <a:ea typeface="微软雅黑"/>
                  <a:cs typeface="Arial"/>
                </a:rPr>
                <a:t>（GL047 7.2；WS/T 407 6.8.4）</a:t>
              </a:r>
            </a:p>
            <a:p>
              <a:pPr algn="l">
                <a:lnSpc>
                  <a:spcPts val="1680"/>
                </a:lnSpc>
                <a:spcBef>
                  <a:spcPts val="600"/>
                </a:spcBef>
                <a:spcAft>
                  <a:spcPts val="0"/>
                </a:spcAft>
                <a:buNone/>
              </a:pPr>
              <a:r>
                <a:rPr sz="1400" b="1">
                  <a:solidFill>
                    <a:srgbClr val="F3A266"/>
                  </a:solidFill>
                  <a:latin typeface="Arial"/>
                  <a:ea typeface="微软雅黑"/>
                  <a:cs typeface="Arial"/>
                </a:rPr>
                <a:t>5 判结果：</a:t>
              </a:r>
              <a:r>
                <a:rPr sz="1400" b="0">
                  <a:solidFill>
                    <a:srgbClr val="FFFFFF"/>
                  </a:solidFill>
                  <a:latin typeface="Arial"/>
                  <a:ea typeface="微软雅黑"/>
                  <a:cs typeface="Arial"/>
                </a:rPr>
                <a:t>参比法：5份中4份符合即通过（扩样后90%以上符合）；R≤分析质量要求即通过，要求按WS/T 407 6.7优选顺序确定（如CVI的1/3）。</a:t>
              </a:r>
              <a:r>
                <a:rPr sz="1200" b="0">
                  <a:solidFill>
                    <a:srgbClr val="9FB7D3"/>
                  </a:solidFill>
                  <a:latin typeface="Arial"/>
                  <a:ea typeface="微软雅黑"/>
                  <a:cs typeface="Arial"/>
                </a:rPr>
                <a:t>（GL047 7.2.1；WS/T 407 6.7）</a:t>
              </a:r>
            </a:p>
          </p:txBody>
        </p:sp>
      </p:grpSp>
      <p:grpSp>
        <p:nvGrpSpPr>
          <p:cNvPr id="4" name="CARD"/>
          <p:cNvGrpSpPr/>
          <p:nvPr/>
        </p:nvGrpSpPr>
        <p:grpSpPr>
          <a:xfrm>
            <a:off x="8686800" y="1554480"/>
            <a:ext cx="1600200" cy="4005072"/>
            <a:chOff x="8686800" y="1554480"/>
            <a:chExt cx="1600200" cy="4005072"/>
          </a:xfrm>
        </p:grpSpPr>
        <p:sp>
          <p:nvSpPr>
            <p:cNvPr id="29" name="Rounded Rectangle 28"/>
            <p:cNvSpPr/>
            <p:nvPr/>
          </p:nvSpPr>
          <p:spPr>
            <a:xfrm>
              <a:off x="8686800" y="1554480"/>
              <a:ext cx="1600200" cy="4005072"/>
            </a:xfrm>
            <a:prstGeom prst="roundRect">
              <a:avLst>
                <a:gd name="adj" fmla="val 4571"/>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3960" y="1691639"/>
              <a:ext cx="1325880"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不过怎么办</a:t>
              </a:r>
            </a:p>
          </p:txBody>
        </p:sp>
        <p:sp>
          <p:nvSpPr>
            <p:cNvPr id="31" name="TextBox 30"/>
            <p:cNvSpPr txBox="1"/>
            <p:nvPr/>
          </p:nvSpPr>
          <p:spPr>
            <a:xfrm>
              <a:off x="8823960" y="2103120"/>
              <a:ext cx="1325880" cy="65836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FFFFFF"/>
                  </a:solidFill>
                  <a:latin typeface="Arial"/>
                  <a:ea typeface="微软雅黑"/>
                  <a:cs typeface="Arial"/>
                </a:rPr>
                <a:t>能修正就修正，不能修正就告知临床</a:t>
              </a:r>
            </a:p>
          </p:txBody>
        </p:sp>
      </p:grpSp>
      <p:sp>
        <p:nvSpPr>
          <p:cNvPr id="32" name="TextBox 31"/>
          <p:cNvSpPr txBox="1"/>
          <p:nvPr/>
        </p:nvSpPr>
        <p:spPr>
          <a:xfrm>
            <a:off x="1088136" y="5623560"/>
            <a:ext cx="2743200" cy="548640"/>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FFFFFF"/>
                </a:solidFill>
                <a:latin typeface="Arial"/>
                <a:ea typeface="微软雅黑"/>
                <a:cs typeface="Arial"/>
              </a:rPr>
              <a:t>谢谢</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226</Paragraphs>
  <Slides>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40</vt:i4>
      </vt:variant>
    </vt:vector>
  </HeadingPairs>
  <TitlesOfParts>
    <vt:vector size="47" baseType="lpstr">
      <vt:lpstr>Arial</vt:lpstr>
      <vt:lpstr>宋体</vt:lpstr>
      <vt:lpstr>Wingdings</vt:lpstr>
      <vt:lpstr>微软雅黑</vt:lpstr>
      <vt:lpstr>Cambria Math</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定量检验程序结果可比性验证</dc:title>
  <dc:creator>小琴 哈</dc:creator>
  <cp:lastModifiedBy>iPad</cp:lastModifiedBy>
  <cp:revision>51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4F534BA414CB0BEC23F4CD6A8177200D_32</vt:lpwstr>
  </property>
  <property fmtid="{D5CDD505-2E9C-101B-9397-08002B2CF9AE}" pid="3" name="KSOProductBuildVer">
    <vt:lpwstr>2052-26.9.2</vt:lpwstr>
  </property>
</Properties>
</file>